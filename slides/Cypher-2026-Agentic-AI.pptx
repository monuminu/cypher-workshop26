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8046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rial"/>
              </a:rPr>
              <a:t>Cypher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804672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Agentic AI: Building, Optimizing
&amp; Operationalizing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Arial"/>
              </a:rPr>
              <a:t>Manoranjan Rajguru</a:t>
            </a:r>
          </a:p>
          <a:p>
            <a:r>
              <a:rPr sz="1500" b="0" i="0">
                <a:solidFill>
                  <a:srgbClr val="FFFFFF"/>
                </a:solidFill>
                <a:latin typeface="Arial"/>
              </a:rPr>
              <a:t>Microsoft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The Day — From One LLM Call to a Full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17043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Your First Agent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the agent loop,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191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56362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Tools &amp; Function Calling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give the agent hands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7510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5681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Context Engineering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sessions, memory, compaction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68296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50008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The Agent Harness  ★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create_harness_agent — batteries included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61488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43200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Multi-Agent Orchestration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sequential, concurrent, handoff…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54680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36392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Evaluating &amp; Optimizing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measure quality, gate CI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47872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29584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Operationalizing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tracing, middleware, guardrails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41064"/>
            <a:ext cx="640080" cy="310896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22776"/>
            <a:ext cx="7406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81818"/>
                </a:solidFill>
                <a:latin typeface="Arial"/>
              </a:rPr>
              <a:t>Capstone &amp; Hosting  </a:t>
            </a:r>
            <a:r>
              <a:rPr sz="1200" b="0" i="0">
                <a:solidFill>
                  <a:srgbClr val="444444"/>
                </a:solidFill>
                <a:latin typeface="Arial"/>
              </a:rPr>
              <a:t>— combine it all; A2A, Functions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5254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Labs are hands-on Jupyter notebooks · live at monuminu.github.io/Cypher-workshop26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4B3FC4"/>
                </a:solidFill>
                <a:latin typeface="Arial"/>
              </a:rPr>
              <a:t>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444444"/>
                </a:solidFill>
                <a:latin typeface="Arial"/>
              </a:rPr>
              <a:t>What is an agent, and why 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From an LLM Call to an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LLM alone is text-in, text-out — no memory, no actions.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An agent wraps the model in a loop that adds three powers: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Tools — it can act, not just talk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it remembers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Control flow — it plans and repeats until done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 = model + instructions + tools + a loop.</a:t>
            </a:r>
          </a:p>
        </p:txBody>
      </p:sp>
      <p:pic>
        <p:nvPicPr>
          <p:cNvPr id="4" name="Picture 3" descr="agent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anatomy of an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The Agent Loop (ReAct)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8138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agent.run() executes a reason → act → observe loop: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1 · Send conversation + available tools to the model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2 · If the model calls a tool, run it and feed the result back</a:t>
            </a:r>
          </a:p>
          <a:p>
            <a:pPr lvl="1">
              <a:spcAft>
                <a:spcPts val="6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3 · Repeat until the model returns a final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017520"/>
            <a:ext cx="1691640" cy="640080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1343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3017520"/>
            <a:ext cx="1691640" cy="640080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ACT (tool)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3367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017520"/>
            <a:ext cx="1691640" cy="640080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127248"/>
            <a:ext cx="274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444444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017520"/>
            <a:ext cx="1691640" cy="640080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With no tools the loop is a single hop; add tools (M2) and it iterates.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Why the Microsoft Agent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2976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Open-source SDK — the successor to Semantic Kernel + AutoGen.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Two core capabilities: Agents and Workflows.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Code-first and fully programmable.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Provider-agnostic — one interface, many backends.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Python and C#.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81818"/>
                </a:solidFill>
                <a:latin typeface="Arial"/>
              </a:rPr>
              <a:t>Swap with one env var: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92040" y="132588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AI Foundry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32588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OpenAI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82880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Azure OpenAI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828800"/>
            <a:ext cx="1920240" cy="38404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331720"/>
            <a:ext cx="1920240" cy="38404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Ollama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2331720"/>
            <a:ext cx="1920240" cy="38404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AWS Bedrock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92040" y="2834640"/>
            <a:ext cx="1920240" cy="38404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Google Gemini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3832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MODEL_PROVIDER=…  → notebook code never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4B3FC4"/>
                </a:solidFill>
                <a:latin typeface="Arial"/>
              </a:rPr>
              <a:t>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444444"/>
                </a:solidFill>
                <a:latin typeface="Arial"/>
              </a:rPr>
              <a:t>Deciding what the model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Context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only sees what fits in its context window.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Engineering that window is where real quality comes from.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Sessions — carry history across turns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Context providers — inject facts before each run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Memory — persist what matters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Compaction — summarize so you never overflow</a:t>
            </a:r>
          </a:p>
        </p:txBody>
      </p:sp>
      <p:pic>
        <p:nvPicPr>
          <p:cNvPr id="4" name="Picture 3" descr="context-engin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What goes into the window each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4B3FC4"/>
                </a:solidFill>
                <a:latin typeface="Arial"/>
              </a:rPr>
              <a:t>The Agent Harness  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444444"/>
                </a:solidFill>
                <a:latin typeface="Arial"/>
              </a:rPr>
              <a:t>Everything, assembled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What is Agent Harness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Re-assembling the same machinery every time? The harness packages it.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One factory call wires up: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Tool loop · history + persistence · compaction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Todos (planning) · plan/execute modes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Durable memory · skills · OpenTelemetry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Every battery can be disabled or replaced.</a:t>
            </a:r>
          </a:p>
        </p:txBody>
      </p:sp>
      <p:pic>
        <p:nvPicPr>
          <p:cNvPr id="4" name="Picture 3" descr="agent-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8 batteries of the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Tools &amp; Function Calling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81381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tool is a typed Python function + a docstring + the @tool decorator.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The model decides when to call it; the framework runs it and loops.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Approval gates put a human in the loop for risky actions: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approval_mode="always_require" pauses for confirmation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approval_mode="never_require" runs automatically (demos)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703320"/>
            <a:ext cx="1691640" cy="566928"/>
          </a:xfrm>
          <a:prstGeom prst="roundRect">
            <a:avLst/>
          </a:prstGeom>
          <a:solidFill>
            <a:srgbClr val="4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@tool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703320"/>
            <a:ext cx="1691640" cy="566928"/>
          </a:xfrm>
          <a:prstGeom prst="roundRect">
            <a:avLst/>
          </a:prstGeom>
          <a:solidFill>
            <a:srgbClr val="D62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model calls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703320"/>
            <a:ext cx="1691640" cy="566928"/>
          </a:xfrm>
          <a:prstGeom prst="roundRect">
            <a:avLst/>
          </a:prstGeom>
          <a:solidFill>
            <a:srgbClr val="109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run + feed 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03320"/>
            <a:ext cx="1691640" cy="566928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approve?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  <a:latin typeface="Arial"/>
              </a:rPr>
              <a:t>Tools are the agent's hands — small, well-described, single-purpose.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4B3FC4"/>
                </a:solidFill>
                <a:latin typeface="Arial"/>
              </a:rPr>
              <a:t>Multi-Agent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444444"/>
                </a:solidFill>
                <a:latin typeface="Arial"/>
              </a:rPr>
              <a:t>When one agent isn't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Five Orchestration Patterns</a:t>
            </a:r>
          </a:p>
        </p:txBody>
      </p:sp>
      <p:pic>
        <p:nvPicPr>
          <p:cNvPr id="3" name="Picture 2" descr="orchestration-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39" y="1051560"/>
            <a:ext cx="438912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03120" y="3977639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Specialized agents collaborating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200" b="0" i="0">
                <a:solidFill>
                  <a:srgbClr val="181818"/>
                </a:solidFill>
                <a:latin typeface="Arial"/>
              </a:rPr>
              <a:t>Sequential · Concurrent · Handoff · Group Chat · Magentic — start with the simplest that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4B3FC4"/>
                </a:solidFill>
                <a:latin typeface="Arial"/>
              </a:rPr>
              <a:t>Optimize &amp; Operate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444444"/>
                </a:solidFill>
                <a:latin typeface="Arial"/>
              </a:rPr>
              <a:t>From demo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Evaluating &amp; Optimizing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 demo that works once isn't a product.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Measure quality so you can improve it on purpose: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Define checks (keyword, custom, model-graded)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Run them over a query set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Inspect failures → improve → re-run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raise_for_status() makes a regression break CI.</a:t>
            </a:r>
          </a:p>
        </p:txBody>
      </p:sp>
      <p:pic>
        <p:nvPicPr>
          <p:cNvPr id="4" name="Picture 3" descr="evaluatio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The evaluation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Operationalizing — See Inside the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41605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Agents are non-deterministic and call external tools.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Middleware = a control point around every model call: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Usage tracking (tokens / cost)</a:t>
            </a:r>
          </a:p>
          <a:p>
            <a:pPr lvl="1"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–  </a:t>
            </a:r>
            <a:r>
              <a:rPr sz="1300" b="0" i="0">
                <a:solidFill>
                  <a:srgbClr val="444444"/>
                </a:solidFill>
                <a:latin typeface="Arial"/>
              </a:rPr>
              <a:t>Guardrails (redaction, injection checks)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400" b="0" i="0">
                <a:solidFill>
                  <a:srgbClr val="181818"/>
                </a:solidFill>
                <a:latin typeface="Arial"/>
              </a:rPr>
              <a:t>OpenTelemetry gives end-to-end traces to any backend.</a:t>
            </a:r>
          </a:p>
        </p:txBody>
      </p:sp>
      <p:pic>
        <p:nvPicPr>
          <p:cNvPr id="4" name="Picture 3" descr="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86840"/>
            <a:ext cx="4069080" cy="2712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00600" y="4389120"/>
            <a:ext cx="4069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  <a:latin typeface="Arial"/>
              </a:rPr>
              <a:t>Tracing, usage &amp;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8138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 i="0">
                <a:solidFill>
                  <a:srgbClr val="4B3FC4"/>
                </a:solidFill>
                <a:latin typeface="Arial"/>
              </a:rPr>
              <a:t>Hands-On — Build It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81381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8 self-contained lab notebooks — M1 through M8.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Provider-agnostic: pick a backend, the code stays the same.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4B3FC4"/>
                </a:solidFill>
                <a:latin typeface="Arial"/>
              </a:rPr>
              <a:t>•  </a:t>
            </a:r>
            <a:r>
              <a:rPr sz="1500" b="0" i="0">
                <a:solidFill>
                  <a:srgbClr val="181818"/>
                </a:solidFill>
                <a:latin typeface="Arial"/>
              </a:rPr>
              <a:t>Runnable without an instructor — revisit anytime.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971800"/>
            <a:ext cx="7863840" cy="91440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127248"/>
            <a:ext cx="7406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181818"/>
                </a:solidFill>
                <a:latin typeface="Arial"/>
              </a:rPr>
              <a:t>Live workshop site:  </a:t>
            </a:r>
            <a:r>
              <a:rPr sz="1500" b="1" i="0">
                <a:solidFill>
                  <a:srgbClr val="4B3FC4"/>
                </a:solidFill>
                <a:latin typeface="Arial"/>
              </a:rPr>
              <a:t>monuminu.github.io/Cypher-workshop26</a:t>
            </a:r>
          </a:p>
          <a:p>
            <a:r>
              <a:rPr sz="1200" b="0" i="0">
                <a:solidFill>
                  <a:srgbClr val="444444"/>
                </a:solidFill>
                <a:latin typeface="Arial"/>
              </a:rPr>
              <a:t>github.com/microsoft/agent-framework  ·  learn.microsoft.com/agent-framework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444444"/>
                </a:solidFill>
                <a:latin typeface="Arial"/>
              </a:rPr>
              <a:t>Cypher 2026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3F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880360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Arial"/>
              </a:rPr>
              <a:t>Cypher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Cypher 2026 — Agentic AI</dc:title>
  <dc:subject>Microsoft Agent Framework workshop</dc:subject>
  <dc:creator>Manoranjan Rajguru</dc:creator>
  <cp:keywords>Cypher 2026, Agentic AI, Microsoft Agent Framework</cp:keywords>
  <dc:description/>
  <cp:lastModifiedBy>Manoranjan Rajguru</cp:lastModifiedBy>
  <cp:revision>1</cp:revision>
  <dcterms:created xsi:type="dcterms:W3CDTF">2013-01-27T09:14:16Z</dcterms:created>
  <dcterms:modified xsi:type="dcterms:W3CDTF">2013-01-27T09:15:58Z</dcterms:modified>
  <cp:category/>
</cp:coreProperties>
</file>