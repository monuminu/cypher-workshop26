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Cypher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Agent Harness for Enterprise:
Engineering the Runtime for Reliable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Manoranjan Rajguru</a:t>
            </a:r>
          </a:p>
          <a:p>
            <a:r>
              <a:rPr sz="1500" b="0" i="0">
                <a:solidFill>
                  <a:srgbClr val="FFFFFF"/>
                </a:solidFill>
                <a:latin typeface="Arial"/>
              </a:rPr>
              <a:t>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The Day — From One LLM Call to a Full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70432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Your First Agent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the agent loop,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81912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63624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Tools &amp; Function Calling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give the agent hands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75104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56816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Context Engineering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sessions, memory, compaction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68296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50008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The Agent Harness  ★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create_harness_agent — batteries included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8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43200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Multi-Agent Orchestration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sequential, concurrent, handoff…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54680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36392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Evaluating &amp; Optimizing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measure quality, gate 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47872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29584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Operationalizing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tracing, middleware, guardrails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41064"/>
            <a:ext cx="64008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22776"/>
            <a:ext cx="7406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81818"/>
                </a:solidFill>
                <a:latin typeface="Arial"/>
              </a:rPr>
              <a:t>Capstone &amp; Hosting  </a:t>
            </a:r>
            <a:r>
              <a:rPr sz="1200" b="0" i="0">
                <a:solidFill>
                  <a:srgbClr val="444444"/>
                </a:solidFill>
                <a:latin typeface="Arial"/>
              </a:rPr>
              <a:t>— combine it all; A2A,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5254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Arial"/>
              </a:rPr>
              <a:t>Labs are hands-on Jupyter notebooks · live at monuminu.github.io/Cypher-workshop26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B3FC4"/>
                </a:solidFill>
                <a:latin typeface="Arial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444444"/>
                </a:solidFill>
                <a:latin typeface="Arial"/>
              </a:rPr>
              <a:t>What is an agent, and 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From an LLM Call to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1605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An LLM alone is text-in, text-out — no memory, no actions.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An agent wraps the model in a loop that adds three powers: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Tools — it can act, not just talk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Memory — it remembers across turns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Control flow — it plans and repeats until done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Agent = model + instructions + tools + a loop.</a:t>
            </a:r>
          </a:p>
        </p:txBody>
      </p:sp>
      <p:pic>
        <p:nvPicPr>
          <p:cNvPr id="4" name="Picture 3" descr="agent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43891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Arial"/>
              </a:rPr>
              <a:t>The anatomy of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The Agent Loop (ReAct)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Every agent.run() executes a reason → act → observe loop:</a:t>
            </a:r>
          </a:p>
          <a:p>
            <a:pPr lvl="1">
              <a:spcAft>
                <a:spcPts val="6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1 · Send conversation + available tools to the model</a:t>
            </a:r>
          </a:p>
          <a:p>
            <a:pPr lvl="1">
              <a:spcAft>
                <a:spcPts val="6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2 · If the model calls a tool, run it and feed the result back</a:t>
            </a:r>
          </a:p>
          <a:p>
            <a:pPr lvl="1">
              <a:spcAft>
                <a:spcPts val="6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3 · Repeat until the model returns a final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017520"/>
            <a:ext cx="1691640" cy="640080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432" y="312724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444444"/>
                </a:solidFill>
                <a:latin typeface="Arial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017520"/>
            <a:ext cx="1691640" cy="640080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ACT (tool)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3672" y="312724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444444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017520"/>
            <a:ext cx="1691640" cy="640080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3127248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444444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1691640" cy="640080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Arial"/>
              </a:rPr>
              <a:t>With no tools the loop is a single hop; add tools (M2) and it iterates.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Why the Microsoft Agent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2976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Open-source SDK — the successor to Semantic Kernel + AutoGen.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Two core capabilities: Agents and Workflows.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Code-first and fully programmable.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Provider-agnostic — one interface, many backends.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Python and C#.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9601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81818"/>
                </a:solidFill>
                <a:latin typeface="Arial"/>
              </a:rPr>
              <a:t>Swap with one env var: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325880"/>
            <a:ext cx="1920240" cy="384048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Azure AI Foundry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325880"/>
            <a:ext cx="1920240" cy="384048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OpenAI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828800"/>
            <a:ext cx="1920240" cy="384048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Azure OpenAI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828800"/>
            <a:ext cx="1920240" cy="384048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Anthropic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331720"/>
            <a:ext cx="1920240" cy="384048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Ollama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331720"/>
            <a:ext cx="1920240" cy="384048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AWS Bedrock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834640"/>
            <a:ext cx="1920240" cy="384048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Google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3832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Arial"/>
              </a:rPr>
              <a:t>MODEL_PROVIDER=…  → notebook code never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B3FC4"/>
                </a:solidFill>
                <a:latin typeface="Arial"/>
              </a:rP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444444"/>
                </a:solidFill>
                <a:latin typeface="Arial"/>
              </a:rPr>
              <a:t>Deciding what the model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1605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The model only sees what fits in its context window.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Engineering that window is where real quality comes from.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Sessions — carry history across turns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Context providers — inject facts before each run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Memory — persist what matters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Compaction — summarize so you never overflow</a:t>
            </a:r>
          </a:p>
        </p:txBody>
      </p:sp>
      <p:pic>
        <p:nvPicPr>
          <p:cNvPr id="4" name="Picture 3" descr="context-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43891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Arial"/>
              </a:rPr>
              <a:t>What goes into the window each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B3FC4"/>
                </a:solidFill>
                <a:latin typeface="Arial"/>
              </a:rPr>
              <a:t>The Agent Harness 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444444"/>
                </a:solidFill>
                <a:latin typeface="Arial"/>
              </a:rPr>
              <a:t>Everything, assembled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What is Agent Harness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1605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Re-assembling the same machinery every time? The harness packages it.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One factory call wires up: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Tool loop · history + persistence · compaction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Todos (planning) · plan/execute modes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Durable memory · skills · OpenTelemetry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Every battery can be disabled or replaced.</a:t>
            </a:r>
          </a:p>
        </p:txBody>
      </p:sp>
      <p:pic>
        <p:nvPicPr>
          <p:cNvPr id="4" name="Picture 3" descr="agent-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43891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Arial"/>
              </a:rPr>
              <a:t>The 8 batteries of the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Tools &amp; Function Calling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A tool is a typed Python function + a docstring + the @tool decorator.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The model decides when to call it; the framework runs it and loops.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Approval gates put a human in the loop for risky actions: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approval_mode="always_require" pauses for confirmation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approval_mode="never_require" runs automatically (demos)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703320"/>
            <a:ext cx="1691640" cy="566928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@tool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3703320"/>
            <a:ext cx="1691640" cy="566928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model calls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703320"/>
            <a:ext cx="1691640" cy="566928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run + feed 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03320"/>
            <a:ext cx="1691640" cy="566928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approve?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Arial"/>
              </a:rPr>
              <a:t>Tools are the agent's hands — small, well-described, single-purpose.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B3FC4"/>
                </a:solidFill>
                <a:latin typeface="Arial"/>
              </a:rPr>
              <a:t>Multi-Agent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444444"/>
                </a:solidFill>
                <a:latin typeface="Arial"/>
              </a:rPr>
              <a:t>When one agent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Five Orchestration Patterns</a:t>
            </a:r>
          </a:p>
        </p:txBody>
      </p:sp>
      <p:pic>
        <p:nvPicPr>
          <p:cNvPr id="3" name="Picture 2" descr="orchestration-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9" y="1051560"/>
            <a:ext cx="438912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3977639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Arial"/>
              </a:rPr>
              <a:t>Specialized agents collaborating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00" b="0" i="0">
                <a:solidFill>
                  <a:srgbClr val="181818"/>
                </a:solidFill>
                <a:latin typeface="Arial"/>
              </a:rPr>
              <a:t>Sequential · Concurrent · Handoff · Group Chat · Magentic — start with the simplest that fits.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4B3FC4"/>
                </a:solidFill>
                <a:latin typeface="Arial"/>
              </a:rPr>
              <a:t>Optimize &amp; Operate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444444"/>
                </a:solidFill>
                <a:latin typeface="Arial"/>
              </a:rPr>
              <a:t>From demo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Evaluating &amp; Optimizing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1605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A demo that works once isn't a product.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Measure quality so you can improve it on purpose: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Define checks (keyword, custom, model-graded)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Run them over a query set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Inspect failures → improve → re-run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raise_for_status() makes a regression break CI.</a:t>
            </a:r>
          </a:p>
        </p:txBody>
      </p:sp>
      <p:pic>
        <p:nvPicPr>
          <p:cNvPr id="4" name="Picture 3" descr="evaluatio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43891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Arial"/>
              </a:rPr>
              <a:t>The evaluation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Operationalizing — See Inside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1605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Agents are non-deterministic and call external tools.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Middleware = a control point around every model call: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Usage tracking (tokens / cost)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–  </a:t>
            </a:r>
            <a:r>
              <a:rPr sz="1300" b="0" i="0">
                <a:solidFill>
                  <a:srgbClr val="444444"/>
                </a:solidFill>
                <a:latin typeface="Arial"/>
              </a:rPr>
              <a:t>Guardrails (redaction, injection checks)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400" b="0" i="0">
                <a:solidFill>
                  <a:srgbClr val="181818"/>
                </a:solidFill>
                <a:latin typeface="Arial"/>
              </a:rPr>
              <a:t>OpenTelemetry gives end-to-end traces to any backend.</a:t>
            </a:r>
          </a:p>
        </p:txBody>
      </p:sp>
      <p:pic>
        <p:nvPicPr>
          <p:cNvPr id="4" name="Picture 3" descr="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43891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  <a:latin typeface="Arial"/>
              </a:rPr>
              <a:t>Tracing, usage &amp;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>
                <a:solidFill>
                  <a:srgbClr val="4B3FC4"/>
                </a:solidFill>
                <a:latin typeface="Arial"/>
              </a:rPr>
              <a:t>Hands-On — Build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138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500" b="0" i="0">
                <a:solidFill>
                  <a:srgbClr val="181818"/>
                </a:solidFill>
                <a:latin typeface="Arial"/>
              </a:rPr>
              <a:t>8 self-contained lab notebooks — M1 through M8.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500" b="0" i="0">
                <a:solidFill>
                  <a:srgbClr val="181818"/>
                </a:solidFill>
                <a:latin typeface="Arial"/>
              </a:rPr>
              <a:t>Provider-agnostic: pick a backend, the code stays the same.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500" b="0" i="0">
                <a:solidFill>
                  <a:srgbClr val="181818"/>
                </a:solidFill>
                <a:latin typeface="Arial"/>
              </a:rPr>
              <a:t>Runnable without an instructor — revisit anytime.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71800"/>
            <a:ext cx="7863840" cy="91440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27248"/>
            <a:ext cx="7406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181818"/>
                </a:solidFill>
                <a:latin typeface="Arial"/>
              </a:rPr>
              <a:t>Live workshop site:  </a:t>
            </a:r>
            <a:r>
              <a:rPr sz="1500" b="1" i="0">
                <a:solidFill>
                  <a:srgbClr val="4B3FC4"/>
                </a:solidFill>
                <a:latin typeface="Arial"/>
              </a:rPr>
              <a:t>monuminu.github.io/Cypher-workshop26</a:t>
            </a:r>
          </a:p>
          <a:p>
            <a:r>
              <a:rPr sz="1200" b="0" i="0">
                <a:solidFill>
                  <a:srgbClr val="444444"/>
                </a:solidFill>
                <a:latin typeface="Arial"/>
              </a:rPr>
              <a:t>github.com/microsoft/agent-framework  ·  learn.microsoft.com/agent-framework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444444"/>
                </a:solidFill>
                <a:latin typeface="Arial"/>
              </a:rPr>
              <a:t>Cypher 2026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F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Arial"/>
              </a:rPr>
              <a:t>Cypher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Harness for Enterprise: Engineering the Runtime for Reliable AI Agents</dc:title>
  <dc:subject>Microsoft Agent Framework workshop</dc:subject>
  <dc:creator>Manoranjan Rajguru</dc:creator>
  <cp:keywords>Cypher 2026, Agentic AI, Microsoft Agent Framework</cp:keywords>
  <dc:description/>
  <cp:lastModifiedBy>Manoranjan Rajguru</cp:lastModifiedBy>
  <cp:revision>1</cp:revision>
  <dcterms:created xsi:type="dcterms:W3CDTF">2013-01-27T09:14:16Z</dcterms:created>
  <dcterms:modified xsi:type="dcterms:W3CDTF">2013-01-27T09:15:58Z</dcterms:modified>
  <cp:category/>
</cp:coreProperties>
</file>