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68" r:id="rId2"/>
    <p:sldId id="269" r:id="rId3"/>
    <p:sldId id="2147480195" r:id="rId4"/>
    <p:sldId id="270" r:id="rId5"/>
    <p:sldId id="271" r:id="rId6"/>
    <p:sldId id="272" r:id="rId7"/>
    <p:sldId id="273" r:id="rId8"/>
    <p:sldId id="2147480196" r:id="rId9"/>
    <p:sldId id="2147480197" r:id="rId10"/>
    <p:sldId id="274" r:id="rId11"/>
    <p:sldId id="2147480198" r:id="rId12"/>
    <p:sldId id="2147480199" r:id="rId13"/>
    <p:sldId id="275" r:id="rId14"/>
    <p:sldId id="2147480200" r:id="rId15"/>
    <p:sldId id="2147480201" r:id="rId16"/>
    <p:sldId id="2147480202" r:id="rId17"/>
    <p:sldId id="2147480203" r:id="rId18"/>
    <p:sldId id="2147480204" r:id="rId19"/>
    <p:sldId id="2147480205" r:id="rId20"/>
    <p:sldId id="2147480206" r:id="rId21"/>
    <p:sldId id="2147480207" r:id="rId22"/>
    <p:sldId id="2147480208" r:id="rId23"/>
    <p:sldId id="285" r:id="rId24"/>
    <p:sldId id="286" r:id="rId25"/>
    <p:sldId id="287" r:id="rId26"/>
    <p:sldId id="288" r:id="rId27"/>
    <p:sldId id="280" r:id="rId28"/>
    <p:sldId id="290" r:id="rId29"/>
    <p:sldId id="291" r:id="rId30"/>
    <p:sldId id="292" r:id="rId31"/>
    <p:sldId id="293" r:id="rId32"/>
    <p:sldId id="294" r:id="rId33"/>
    <p:sldId id="2147480209" r:id="rId34"/>
    <p:sldId id="2147480210" r:id="rId35"/>
    <p:sldId id="283" r:id="rId36"/>
    <p:sldId id="284" r:id="rId37"/>
    <p:sldId id="2147480178" r:id="rId38"/>
    <p:sldId id="2147480180" r:id="rId39"/>
    <p:sldId id="2147480190" r:id="rId40"/>
    <p:sldId id="296" r:id="rId41"/>
    <p:sldId id="297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5ABB19-0FAD-4CF9-9057-0E338AE6394E}" v="7" dt="2026-07-18T08:38:15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6"/>
    <p:restoredTop sz="94616"/>
  </p:normalViewPr>
  <p:slideViewPr>
    <p:cSldViewPr snapToGrid="0">
      <p:cViewPr>
        <p:scale>
          <a:sx n="123" d="100"/>
          <a:sy n="123" d="100"/>
        </p:scale>
        <p:origin x="2280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8CC80-46D1-4B6F-9086-510E80774687}" type="datetimeFigureOut">
              <a:t>7/31/26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F48A4-F1E9-490D-8E72-314064DE6C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17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1453C-96A8-5FBD-A7E9-06FE25EE3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A75388-DF9D-FDCE-C163-7C22870DF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p/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01E7C-69CC-CF35-10FA-5547BD392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 typeface="Arial"/>
              <a:buChar char="•"/>
            </a:pP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Secure and fast ephemeral </a:t>
            </a:r>
            <a:r>
              <a:rPr lang="en-US" dirty="0" err="1"/>
              <a:t>microVMs</a:t>
            </a:r>
            <a:r>
              <a:rPr lang="en-US" dirty="0"/>
              <a:t> per user session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Session state persistence across ephemeral </a:t>
            </a:r>
            <a:r>
              <a:rPr lang="en-US" dirty="0" err="1"/>
              <a:t>microVM</a:t>
            </a:r>
            <a:r>
              <a:rPr lang="en-US" dirty="0"/>
              <a:t> runs (across idle time shutdowns) that is very friendly to code-agents that require full file-systems (differentiation from competitors today that don't give durable file systems)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Uses Entra Agent Identity vs managed-identity to enable separation from traditional processes and directory memberships for digital-employee scenarios.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Full auditability and control on egress policies (including forward-looking business logic-y policies that are for enforcement and for reactive alerts/outliers)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Auto-conversion to multiple API protocols in Responses path - easy path to publish to Teams/M365 w/ Activity protocol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005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2CD4F-C779-0D69-E343-494873BA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52B49-961C-FBED-D82C-442298E47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p/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4027F-C16B-542B-D596-F953B2994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SPEAKER NOTES — Slide 6: The Agent Build Landscape
Owner: Vivek </a:t>
            </a:r>
            <a:r>
              <a:rPr lang="en-US" dirty="0" err="1"/>
              <a:t>Bhadauria</a:t>
            </a:r>
            <a:r>
              <a:rPr lang="en-US" dirty="0"/>
              <a:t> / Atul Aggarwal | Time: 22:00 – 26:00
Four ways developers build agents today. Agent Service doesn't pick a winner — the platform treats them all the same.</a:t>
            </a:r>
          </a:p>
        </p:txBody>
      </p:sp>
    </p:spTree>
    <p:extLst>
      <p:ext uri="{BB962C8B-B14F-4D97-AF65-F5344CB8AC3E}">
        <p14:creationId xmlns:p14="http://schemas.microsoft.com/office/powerpoint/2010/main" val="1986530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8017B-4F7C-B248-2DA3-C49684BAA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A0ABA-80FF-756D-83CD-90D8B522D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p/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02625-3545-702F-97EE-1AC80A5DE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SPEAKER NOTES — Slide 11: Foundry Toolbox
Three pillars: Curate (browse, bundle, configure, reuse), Search (dynamic tool discovery, context-aware), Govern (private catalog, org permissions, DLP/RAI, audit).
Auth: API Key, OAuth, User Impersonation (OBO), Agent Identity.
Value prop: "One place to manage all your tools across all your agents."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9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6 points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8725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Relationship Id="rId18" Type="http://schemas.openxmlformats.org/officeDocument/2006/relationships/image" Target="../media/image28.png"/><Relationship Id="rId19" Type="http://schemas.openxmlformats.org/officeDocument/2006/relationships/image" Target="../media/image29.png"/><Relationship Id="rId20" Type="http://schemas.openxmlformats.org/officeDocument/2006/relationships/image" Target="../media/image30.png"/><Relationship Id="rId21" Type="http://schemas.openxmlformats.org/officeDocument/2006/relationships/image" Target="../media/image31.png"/><Relationship Id="rId22" Type="http://schemas.openxmlformats.org/officeDocument/2006/relationships/image" Target="../media/image32.png"/><Relationship Id="rId23" Type="http://schemas.openxmlformats.org/officeDocument/2006/relationships/image" Target="../media/image33.png"/><Relationship Id="rId24" Type="http://schemas.openxmlformats.org/officeDocument/2006/relationships/image" Target="../media/image34.png"/><Relationship Id="rId25" Type="http://schemas.openxmlformats.org/officeDocument/2006/relationships/image" Target="../media/image35.png"/><Relationship Id="rId26" Type="http://schemas.openxmlformats.org/officeDocument/2006/relationships/image" Target="../media/image36.png"/><Relationship Id="rId27" Type="http://schemas.openxmlformats.org/officeDocument/2006/relationships/image" Target="../media/image37.png"/><Relationship Id="rId28" Type="http://schemas.openxmlformats.org/officeDocument/2006/relationships/image" Target="../media/image38.png"/><Relationship Id="rId29" Type="http://schemas.openxmlformats.org/officeDocument/2006/relationships/image" Target="../media/image39.png"/><Relationship Id="rId30" Type="http://schemas.openxmlformats.org/officeDocument/2006/relationships/image" Target="../media/image40.png"/><Relationship Id="rId31" Type="http://schemas.openxmlformats.org/officeDocument/2006/relationships/image" Target="../media/image41.png"/><Relationship Id="rId32" Type="http://schemas.openxmlformats.org/officeDocument/2006/relationships/image" Target="../media/image42.png"/><Relationship Id="rId33" Type="http://schemas.openxmlformats.org/officeDocument/2006/relationships/image" Target="../media/image43.png"/><Relationship Id="rId34" Type="http://schemas.openxmlformats.org/officeDocument/2006/relationships/image" Target="../media/image4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9.svg"/><Relationship Id="rId4" Type="http://schemas.openxmlformats.org/officeDocument/2006/relationships/image" Target="../media/image5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502920" y="1874520"/>
            <a:ext cx="1965960" cy="420624"/>
          </a:xfrm>
          <a:prstGeom prst="roundRect">
            <a:avLst>
              <a:gd name="adj" fmla="val 50000"/>
            </a:avLst>
          </a:prstGeom>
          <a:solidFill>
            <a:srgbClr val="1A1330"/>
          </a:solidFill>
          <a:ln w="15875">
            <a:solidFill>
              <a:srgbClr val="E86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502920" y="18745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 2026</a:t>
            </a:r>
            <a:endParaRPr lang="en-US" sz="1150"/>
          </a:p>
        </p:txBody>
      </p:sp>
      <p:sp>
        <p:nvSpPr>
          <p:cNvPr id="6" name="Text 2"/>
          <p:cNvSpPr/>
          <p:nvPr/>
        </p:nvSpPr>
        <p:spPr>
          <a:xfrm>
            <a:off x="502920" y="2606040"/>
            <a:ext cx="11183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200" b="1" kern="0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Harness for Enterprise: Engineering the Runtime for Reliable AI Agents</a:t>
            </a:r>
            <a:endParaRPr lang="en-US" sz="4600"/>
          </a:p>
        </p:txBody>
      </p:sp>
      <p:sp>
        <p:nvSpPr>
          <p:cNvPr id="7" name="Text 3"/>
          <p:cNvSpPr/>
          <p:nvPr/>
        </p:nvSpPr>
        <p:spPr>
          <a:xfrm>
            <a:off x="512064" y="45262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that turns a language model into a reliable, governed, production agent.</a:t>
            </a:r>
            <a:endParaRPr lang="en-US" sz="1600"/>
          </a:p>
        </p:txBody>
      </p:sp>
      <p:sp>
        <p:nvSpPr>
          <p:cNvPr id="8" name="Text 4"/>
          <p:cNvSpPr/>
          <p:nvPr/>
        </p:nvSpPr>
        <p:spPr>
          <a:xfrm>
            <a:off x="512064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200"/>
          </a:p>
        </p:txBody>
      </p:sp>
      <p:sp>
        <p:nvSpPr>
          <p:cNvPr id="10" name="Text 6"/>
          <p:cNvSpPr/>
          <p:nvPr/>
        </p:nvSpPr>
        <p:spPr>
          <a:xfrm>
            <a:off x="502920" y="5623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Manoranjan Rajguru</a:t>
            </a:r>
            <a:endParaRPr lang="en-US" sz="2300"/>
          </a:p>
        </p:txBody>
      </p:sp>
      <p:sp>
        <p:nvSpPr>
          <p:cNvPr id="11" name="Text 7"/>
          <p:cNvSpPr/>
          <p:nvPr/>
        </p:nvSpPr>
        <p:spPr>
          <a:xfrm>
            <a:off x="512064" y="5687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>
              <a:solidFill>
                <a:srgbClr val="AEB6CF"/>
              </a:solidFill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400"/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</a:t>
            </a:r>
            <a:endParaRPr lang="en-US" sz="130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 Agent Harness Is — and Why It Exists</a:t>
            </a:r>
            <a:endParaRPr lang="en-US" sz="4200"/>
          </a:p>
        </p:txBody>
      </p:sp>
      <p:sp>
        <p:nvSpPr>
          <p:cNvPr id="6" name="Text 3"/>
          <p:cNvSpPr/>
          <p:nvPr/>
        </p:nvSpPr>
        <p:spPr>
          <a:xfrm>
            <a:off x="512064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wraps a model with the loop, tools, memory and guardrails to act reliably.</a:t>
            </a:r>
            <a:endParaRPr lang="en-US" sz="1600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4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Prompt Engineering to Harness Engineering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5270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 single model call — instructions, examples, output format.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02920" y="2410691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2291819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information state that flows across steps and turns.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02920" y="3103844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2984972"/>
            <a:ext cx="474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
</a:t>
            </a:r>
            <a:r>
              <a:rPr lang="en-US" sz="130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prompts + context with execution, tools, state, lifecycle, observability, verification and governance.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4105112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392" y="3986240"/>
            <a:ext cx="52662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Engineering
</a:t>
            </a:r>
            <a:r>
              <a:rPr lang="en-US" sz="130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model → observe → run tools → feed back → repeat. The rule most builders miss: Do not loop on confidence. Loop on evidence.</a:t>
            </a:r>
            <a:endParaRPr lang="en-US" sz="16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BC11A74B-91C5-BA01-DD2F-3FC15CA2ECE9}"/>
              </a:ext>
            </a:extLst>
          </p:cNvPr>
          <p:cNvSpPr/>
          <p:nvPr/>
        </p:nvSpPr>
        <p:spPr>
          <a:xfrm>
            <a:off x="502920" y="5056088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8DAEE6E7-E90E-CF28-DA40-AEDF8E91F7EE}"/>
              </a:ext>
            </a:extLst>
          </p:cNvPr>
          <p:cNvSpPr/>
          <p:nvPr/>
        </p:nvSpPr>
        <p:spPr>
          <a:xfrm>
            <a:off x="850391" y="4937216"/>
            <a:ext cx="544490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600" b="1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Engineering 
</a:t>
            </a:r>
            <a:r>
              <a:rPr lang="en-US" sz="130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edges, branches, joins. It answers a different question not what the agent does, but what's allowed to run next. Worth it for real branches and approvals. Overkill for "give one agent three tools and go."</a:t>
            </a: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271C94A-DAAF-D6B4-B5AA-B8A3F1B03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459" y="1901903"/>
            <a:ext cx="5003262" cy="34696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4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  ·  What Is an Agent Harness?</a:t>
            </a:r>
            <a:endParaRPr lang="en-US" sz="2900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reasons. The harness runs the show.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harness is the execution engine that wraps a model with the loop, tools, memory and guardrails it needs to act reliably.</a:t>
            </a:r>
            <a:endParaRPr lang="en-US" sz="1400"/>
          </a:p>
        </p:txBody>
      </p:sp>
      <p:pic>
        <p:nvPicPr>
          <p:cNvPr id="10" name="Image 1" descr="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single prompt into a durable, multi-step task</a:t>
            </a:r>
            <a:endParaRPr lang="en-US" sz="1350"/>
          </a:p>
        </p:txBody>
      </p:sp>
      <p:pic>
        <p:nvPicPr>
          <p:cNvPr id="12" name="Image 2" descr="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orchestration, state and control flow</a:t>
            </a:r>
            <a:endParaRPr lang="en-US" sz="1350"/>
          </a:p>
        </p:txBody>
      </p:sp>
      <p:pic>
        <p:nvPicPr>
          <p:cNvPr id="14" name="Image 3" descr="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safety: sandboxing, verification, HITL</a:t>
            </a:r>
            <a:endParaRPr lang="en-US" sz="1350"/>
          </a:p>
        </p:txBody>
      </p:sp>
      <p:pic>
        <p:nvPicPr>
          <p:cNvPr id="16" name="Image 4" descr="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agents observable, testable, enterprise-ready</a:t>
            </a:r>
            <a:endParaRPr lang="en-US" sz="1350"/>
          </a:p>
        </p:txBody>
      </p:sp>
      <p:pic>
        <p:nvPicPr>
          <p:cNvPr id="21" name="Picture 20" descr="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00200"/>
            <a:ext cx="5532120" cy="4160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04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/>
          </a:p>
        </p:txBody>
      </p:sp>
      <p:sp>
        <p:nvSpPr>
          <p:cNvPr id="4" name="Text 1"/>
          <p:cNvSpPr/>
          <p:nvPr/>
        </p:nvSpPr>
        <p:spPr>
          <a:xfrm>
            <a:off x="868680" y="2286000"/>
            <a:ext cx="7040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was never the product. The harness — the operating layer around it — is what ships reliability.</a:t>
            </a:r>
            <a:endParaRPr lang="en-US" sz="3400"/>
          </a:p>
        </p:txBody>
      </p:sp>
      <p:sp>
        <p:nvSpPr>
          <p:cNvPr id="6" name="Text 3"/>
          <p:cNvSpPr/>
          <p:nvPr/>
        </p:nvSpPr>
        <p:spPr>
          <a:xfrm>
            <a:off x="914400" y="4937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not raw capability, is what enterprises actually deploy.</a:t>
            </a:r>
            <a:endParaRPr lang="en-US" sz="1500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400" dirty="0"/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</a:t>
            </a:r>
            <a:endParaRPr lang="en-US" sz="130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Anatomy of an Agent Harness</a:t>
            </a:r>
            <a:endParaRPr lang="en-US" sz="4200"/>
          </a:p>
        </p:txBody>
      </p:sp>
      <p:sp>
        <p:nvSpPr>
          <p:cNvPr id="6" name="Text 3"/>
          <p:cNvSpPr/>
          <p:nvPr/>
        </p:nvSpPr>
        <p:spPr>
          <a:xfrm>
            <a:off x="512064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components that turn a raw model into a dependable, governed agent.</a:t>
            </a:r>
            <a:endParaRPr lang="en-US" sz="1600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4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 ·  The Eight Building Blocks</a:t>
            </a:r>
            <a:endParaRPr lang="en-US" sz="2900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components turn a model into a dependable agent.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below is a distinct responsibility — together they form the harness around the model core.</a:t>
            </a:r>
            <a:endParaRPr lang="en-US" sz="1400"/>
          </a:p>
        </p:txBody>
      </p:sp>
      <p:pic>
        <p:nvPicPr>
          <p:cNvPr id="10" name="Image 1" descr="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Orchestrator/Planner</a:t>
            </a:r>
            <a:endParaRPr lang="en-US" sz="1350"/>
          </a:p>
        </p:txBody>
      </p:sp>
      <p:pic>
        <p:nvPicPr>
          <p:cNvPr id="12" name="Image 2" descr="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· Memory &amp; Context</a:t>
            </a:r>
            <a:endParaRPr lang="en-US" sz="1350"/>
          </a:p>
        </p:txBody>
      </p:sp>
      <p:pic>
        <p:nvPicPr>
          <p:cNvPr id="14" name="Image 3" descr="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· Dynamic Sub-Agents</a:t>
            </a:r>
            <a:endParaRPr lang="en-US" sz="1350"/>
          </a:p>
        </p:txBody>
      </p:sp>
      <p:pic>
        <p:nvPicPr>
          <p:cNvPr id="16" name="Image 4" descr="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· Observability &amp; Evals</a:t>
            </a:r>
            <a:endParaRPr lang="en-US" sz="1350"/>
          </a:p>
        </p:txBody>
      </p:sp>
      <p:pic>
        <p:nvPicPr>
          <p:cNvPr id="21" name="Picture 20" descr="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00200"/>
            <a:ext cx="5532120" cy="4160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4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ANATOMY OF AN AGENT HARNESS</a:t>
            </a:r>
            <a:endParaRPr lang="en-US" sz="2900"/>
          </a:p>
        </p:txBody>
      </p:sp>
      <p:sp>
        <p:nvSpPr>
          <p:cNvPr id="13" name="TextBox 12"/>
          <p:cNvSpPr txBox="1"/>
          <p:nvPr/>
        </p:nvSpPr>
        <p:spPr>
          <a:xfrm>
            <a:off x="973479" y="1675113"/>
            <a:ext cx="7233047" cy="17287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sz="1008" b="1" spc="33">
                <a:solidFill>
                  <a:srgbClr val="40247B"/>
                </a:solidFill>
                <a:latin typeface="Segoe UI"/>
              </a:rPr>
              <a:t>THE HARNESS REFERENCE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479" y="1851739"/>
            <a:ext cx="7233047" cy="12100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sz="705" b="0">
                <a:solidFill>
                  <a:srgbClr val="666666"/>
                </a:solidFill>
                <a:latin typeface="Segoe UI"/>
              </a:rPr>
              <a:t>Seven layers wrap a stateless model into a governed, long-running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4195" y="2113306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sz="800" b="1" spc="33" dirty="0">
                <a:solidFill>
                  <a:srgbClr val="40247B"/>
                </a:solidFill>
                <a:latin typeface="Segoe UI"/>
              </a:rPr>
              <a:t>CONTROL PLANE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268766" y="3590254"/>
            <a:ext cx="7233047" cy="3226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sz="1882" b="1">
                <a:solidFill>
                  <a:srgbClr val="FFFFFF"/>
                </a:solidFill>
                <a:latin typeface="Consolas"/>
              </a:rPr>
              <a:t>LLM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21216C2-FCB5-D797-54D2-7EE8A6F8224A}"/>
              </a:ext>
            </a:extLst>
          </p:cNvPr>
          <p:cNvGrpSpPr/>
          <p:nvPr/>
        </p:nvGrpSpPr>
        <p:grpSpPr>
          <a:xfrm>
            <a:off x="-2082463" y="2167656"/>
            <a:ext cx="14468922" cy="2227283"/>
            <a:chOff x="-1349432" y="2113306"/>
            <a:chExt cx="13736659" cy="1818078"/>
          </a:xfrm>
        </p:grpSpPr>
        <p:sp>
          <p:nvSpPr>
            <p:cNvPr id="52" name="Rounded Rectangle 51"/>
            <p:cNvSpPr/>
            <p:nvPr/>
          </p:nvSpPr>
          <p:spPr>
            <a:xfrm>
              <a:off x="8134195" y="3122200"/>
              <a:ext cx="3110210" cy="375618"/>
            </a:xfrm>
            <a:prstGeom prst="roundRect">
              <a:avLst>
                <a:gd name="adj" fmla="val 13636"/>
              </a:avLst>
            </a:prstGeom>
            <a:solidFill>
              <a:srgbClr val="F0E8FF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8134195" y="2684521"/>
              <a:ext cx="3110210" cy="375618"/>
            </a:xfrm>
            <a:prstGeom prst="roundRect">
              <a:avLst>
                <a:gd name="adj" fmla="val 13636"/>
              </a:avLst>
            </a:prstGeom>
            <a:solidFill>
              <a:srgbClr val="F0E8FF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8134195" y="2249856"/>
              <a:ext cx="3110210" cy="375618"/>
            </a:xfrm>
            <a:prstGeom prst="roundRect">
              <a:avLst>
                <a:gd name="adj" fmla="val 13636"/>
              </a:avLst>
            </a:prstGeom>
            <a:solidFill>
              <a:srgbClr val="F0E8FF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727431" y="2369665"/>
              <a:ext cx="2263944" cy="18146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algn="ctr"/>
              <a:r>
                <a:rPr sz="1400" b="1" dirty="0">
                  <a:solidFill>
                    <a:srgbClr val="FFFFFF"/>
                  </a:solidFill>
                  <a:latin typeface="Consolas"/>
                </a:rPr>
                <a:t>O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254466" y="2552472"/>
              <a:ext cx="2025253" cy="768310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40247B"/>
                </a:gs>
                <a:gs pos="100000">
                  <a:srgbClr val="6B3FA0"/>
                </a:gs>
              </a:gsLst>
              <a:lin ang="1890000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590002" y="2113306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algn="l"/>
              <a:r>
                <a:rPr sz="800" b="1" spc="33">
                  <a:solidFill>
                    <a:srgbClr val="003B6F"/>
                  </a:solidFill>
                  <a:latin typeface="Segoe UI"/>
                </a:rPr>
                <a:t>STRUCTURAL CORE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590002" y="2249638"/>
              <a:ext cx="3110210" cy="375618"/>
            </a:xfrm>
            <a:prstGeom prst="roundRect">
              <a:avLst>
                <a:gd name="adj" fmla="val 13636"/>
              </a:avLst>
            </a:prstGeom>
            <a:solidFill>
              <a:srgbClr val="EAF3FB"/>
            </a:solidFill>
            <a:ln w="8536">
              <a:solidFill>
                <a:srgbClr val="0078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4590002" y="2249638"/>
              <a:ext cx="419517" cy="375618"/>
            </a:xfrm>
            <a:prstGeom prst="roundRect">
              <a:avLst>
                <a:gd name="adj" fmla="val 20689"/>
              </a:avLst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83237" y="2369665"/>
              <a:ext cx="7233047" cy="19591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algn="ctr"/>
              <a:r>
                <a:rPr sz="1400" b="1" dirty="0">
                  <a:solidFill>
                    <a:srgbClr val="FFFFFF"/>
                  </a:solidFill>
                  <a:latin typeface="Consolas"/>
                </a:rPr>
                <a:t>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154180" y="2323568"/>
              <a:ext cx="2263945" cy="121991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algn="l"/>
              <a:r>
                <a:rPr sz="1000" b="1">
                  <a:solidFill>
                    <a:srgbClr val="003B6F"/>
                  </a:solidFill>
                  <a:latin typeface="Segoe UI"/>
                </a:rPr>
                <a:t>Execution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154180" y="2471851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algn="l"/>
              <a:r>
                <a:rPr sz="800" b="0">
                  <a:solidFill>
                    <a:srgbClr val="666666"/>
                  </a:solidFill>
                  <a:latin typeface="Segoe UI"/>
                </a:rPr>
                <a:t>Sandboxes · microVMs · OS/browser perms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590002" y="2685014"/>
              <a:ext cx="3110210" cy="375618"/>
            </a:xfrm>
            <a:prstGeom prst="roundRect">
              <a:avLst>
                <a:gd name="adj" fmla="val 13636"/>
              </a:avLst>
            </a:prstGeom>
            <a:solidFill>
              <a:srgbClr val="EAF3FB"/>
            </a:solidFill>
            <a:ln w="8536">
              <a:solidFill>
                <a:srgbClr val="0078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590002" y="2685014"/>
              <a:ext cx="419517" cy="375618"/>
            </a:xfrm>
            <a:prstGeom prst="roundRect">
              <a:avLst>
                <a:gd name="adj" fmla="val 20689"/>
              </a:avLst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154180" y="2758944"/>
              <a:ext cx="2271175" cy="6576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algn="l"/>
              <a:r>
                <a:rPr sz="1000" b="1">
                  <a:solidFill>
                    <a:srgbClr val="003B6F"/>
                  </a:solidFill>
                  <a:latin typeface="Segoe UI"/>
                </a:rPr>
                <a:t>Tooling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154180" y="2907227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algn="l"/>
              <a:r>
                <a:rPr sz="800" b="0">
                  <a:solidFill>
                    <a:srgbClr val="666666"/>
                  </a:solidFill>
                  <a:latin typeface="Segoe UI"/>
                </a:rPr>
                <a:t>MCP / A2A · discovery · invocation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590002" y="3120390"/>
              <a:ext cx="3110210" cy="375618"/>
            </a:xfrm>
            <a:prstGeom prst="roundRect">
              <a:avLst>
                <a:gd name="adj" fmla="val 13636"/>
              </a:avLst>
            </a:prstGeom>
            <a:solidFill>
              <a:srgbClr val="EAF3FB"/>
            </a:solidFill>
            <a:ln w="8536">
              <a:solidFill>
                <a:srgbClr val="0078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590002" y="3120390"/>
              <a:ext cx="419517" cy="375618"/>
            </a:xfrm>
            <a:prstGeom prst="roundRect">
              <a:avLst>
                <a:gd name="adj" fmla="val 20689"/>
              </a:avLst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83237" y="3240417"/>
              <a:ext cx="7233047" cy="19591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Consolas"/>
                </a:rPr>
                <a:t>C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154180" y="3194319"/>
              <a:ext cx="7233047" cy="138296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algn="l"/>
              <a:r>
                <a:rPr sz="1000" b="1">
                  <a:solidFill>
                    <a:srgbClr val="003B6F"/>
                  </a:solidFill>
                  <a:latin typeface="Segoe UI"/>
                </a:rPr>
                <a:t>Context / Memory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154180" y="3342602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algn="l"/>
              <a:r>
                <a:rPr sz="800" b="0">
                  <a:solidFill>
                    <a:srgbClr val="666666"/>
                  </a:solidFill>
                  <a:latin typeface="Segoe UI"/>
                </a:rPr>
                <a:t>short-term · session · persistent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4590002" y="3555766"/>
              <a:ext cx="3110210" cy="375618"/>
            </a:xfrm>
            <a:prstGeom prst="roundRect">
              <a:avLst>
                <a:gd name="adj" fmla="val 13636"/>
              </a:avLst>
            </a:prstGeom>
            <a:solidFill>
              <a:srgbClr val="EAF3FB"/>
            </a:solidFill>
            <a:ln w="8536">
              <a:solidFill>
                <a:srgbClr val="0078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4590002" y="3555766"/>
              <a:ext cx="419517" cy="375618"/>
            </a:xfrm>
            <a:prstGeom prst="roundRect">
              <a:avLst>
                <a:gd name="adj" fmla="val 20689"/>
              </a:avLst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54180" y="3629694"/>
              <a:ext cx="7233047" cy="138296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algn="l"/>
              <a:r>
                <a:rPr lang="en-US" sz="1000" b="1" dirty="0">
                  <a:solidFill>
                    <a:srgbClr val="003B6F"/>
                  </a:solidFill>
                  <a:latin typeface="Segoe UI"/>
                </a:rPr>
                <a:t>Life Cycle</a:t>
              </a:r>
              <a:endParaRPr sz="1000" b="1" dirty="0">
                <a:solidFill>
                  <a:srgbClr val="003B6F"/>
                </a:solidFill>
                <a:latin typeface="Segoe UI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154180" y="3777978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algn="l"/>
              <a:r>
                <a:rPr sz="800" b="0" dirty="0">
                  <a:solidFill>
                    <a:srgbClr val="666666"/>
                  </a:solidFill>
                  <a:latin typeface="Segoe UI"/>
                </a:rPr>
                <a:t>inner loop 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134195" y="2249638"/>
              <a:ext cx="419517" cy="375618"/>
            </a:xfrm>
            <a:prstGeom prst="roundRect">
              <a:avLst>
                <a:gd name="adj" fmla="val 20689"/>
              </a:avLst>
            </a:prstGeom>
            <a:solidFill>
              <a:srgbClr val="6B3F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8134195" y="2685014"/>
              <a:ext cx="419517" cy="375618"/>
            </a:xfrm>
            <a:prstGeom prst="roundRect">
              <a:avLst>
                <a:gd name="adj" fmla="val 20689"/>
              </a:avLst>
            </a:prstGeom>
            <a:solidFill>
              <a:srgbClr val="6B3F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8134195" y="3120390"/>
              <a:ext cx="419517" cy="375618"/>
            </a:xfrm>
            <a:prstGeom prst="roundRect">
              <a:avLst>
                <a:gd name="adj" fmla="val 20689"/>
              </a:avLst>
            </a:prstGeom>
            <a:solidFill>
              <a:srgbClr val="6B3F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727430" y="3240417"/>
              <a:ext cx="7233047" cy="19591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Consolas"/>
                </a:rPr>
                <a:t>G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8032933" y="2224028"/>
              <a:ext cx="3312735" cy="1297591"/>
            </a:xfrm>
            <a:prstGeom prst="roundRect">
              <a:avLst>
                <a:gd name="adj" fmla="val 5263"/>
              </a:avLst>
            </a:prstGeom>
            <a:noFill/>
            <a:ln w="10670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cxnSp>
          <p:nvCxnSpPr>
            <p:cNvPr id="58" name="Connector 57"/>
            <p:cNvCxnSpPr>
              <a:cxnSpLocks/>
              <a:endCxn id="15" idx="3"/>
            </p:cNvCxnSpPr>
            <p:nvPr/>
          </p:nvCxnSpPr>
          <p:spPr>
            <a:xfrm flipH="1">
              <a:off x="3279720" y="2936627"/>
              <a:ext cx="1226552" cy="1"/>
            </a:xfrm>
            <a:prstGeom prst="line">
              <a:avLst/>
            </a:prstGeom>
            <a:ln w="13658">
              <a:solidFill>
                <a:srgbClr val="0078D4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-1349432" y="2721901"/>
              <a:ext cx="7233047" cy="19591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onsolas"/>
                </a:rPr>
                <a:t>Model Internal 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onsolas"/>
                </a:rPr>
                <a:t>Capability</a:t>
              </a:r>
              <a:endParaRPr sz="1400" b="1" dirty="0">
                <a:solidFill>
                  <a:schemeClr val="bg1"/>
                </a:solidFill>
                <a:latin typeface="Consolas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8698372" y="2396191"/>
            <a:ext cx="7233047" cy="1382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sz="1000" b="1" dirty="0">
                <a:solidFill>
                  <a:srgbClr val="40247B"/>
                </a:solidFill>
                <a:latin typeface="Segoe UI"/>
              </a:rPr>
              <a:t>Observability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98371" y="2598653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sz="800" b="0" dirty="0">
                <a:solidFill>
                  <a:srgbClr val="666666"/>
                </a:solidFill>
                <a:latin typeface="Segoe UI"/>
              </a:rPr>
              <a:t>traces · cost · latency · failures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98371" y="2934847"/>
            <a:ext cx="7233047" cy="1382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sz="1000" b="1" dirty="0">
                <a:solidFill>
                  <a:srgbClr val="40247B"/>
                </a:solidFill>
                <a:latin typeface="Segoe UI"/>
              </a:rPr>
              <a:t>Verification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98371" y="3123686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sz="800" b="0" dirty="0">
                <a:solidFill>
                  <a:srgbClr val="666666"/>
                </a:solidFill>
                <a:latin typeface="Segoe UI"/>
              </a:rPr>
              <a:t>evals · benchmarks · attribution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70893" y="3495411"/>
            <a:ext cx="7233047" cy="1382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sz="1000" b="1" dirty="0">
                <a:solidFill>
                  <a:srgbClr val="40247B"/>
                </a:solidFill>
                <a:latin typeface="Segoe UI"/>
              </a:rPr>
              <a:t>Governance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70894" y="3674986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sz="800" b="0" dirty="0">
                <a:solidFill>
                  <a:srgbClr val="666666"/>
                </a:solidFill>
                <a:latin typeface="Segoe UI"/>
              </a:rPr>
              <a:t>identity · RBAC · audit ·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1804710" y="4273319"/>
            <a:ext cx="7233047" cy="10372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sz="900" b="1" spc="33" dirty="0">
                <a:solidFill>
                  <a:schemeClr val="bg1"/>
                </a:solidFill>
                <a:latin typeface="Segoe UI"/>
              </a:rPr>
              <a:t>MODEL-INTERNAL CAPABILITY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64063-8607-E59D-8DF6-E2FABF0BB6D7}"/>
              </a:ext>
            </a:extLst>
          </p:cNvPr>
          <p:cNvSpPr txBox="1"/>
          <p:nvPr/>
        </p:nvSpPr>
        <p:spPr>
          <a:xfrm>
            <a:off x="585215" y="2950862"/>
            <a:ext cx="7618621" cy="24001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onsolas"/>
              </a:rPr>
              <a:t>T</a:t>
            </a:r>
            <a:endParaRPr sz="1400" b="1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015AF-CB32-6378-2A8A-6F90B97E6DD8}"/>
              </a:ext>
            </a:extLst>
          </p:cNvPr>
          <p:cNvSpPr txBox="1"/>
          <p:nvPr/>
        </p:nvSpPr>
        <p:spPr>
          <a:xfrm>
            <a:off x="3833446" y="4041033"/>
            <a:ext cx="1134208" cy="21045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onsolas"/>
              </a:rPr>
              <a:t>L</a:t>
            </a:r>
            <a:endParaRPr sz="1400" b="1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B5C949-BA5B-BE3A-7893-64E6150BD16E}"/>
              </a:ext>
            </a:extLst>
          </p:cNvPr>
          <p:cNvSpPr/>
          <p:nvPr/>
        </p:nvSpPr>
        <p:spPr>
          <a:xfrm>
            <a:off x="4173587" y="4483086"/>
            <a:ext cx="3276007" cy="460160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8536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D507CC-EB3A-562D-BC17-5CC71C63F92C}"/>
              </a:ext>
            </a:extLst>
          </p:cNvPr>
          <p:cNvSpPr txBox="1"/>
          <p:nvPr/>
        </p:nvSpPr>
        <p:spPr>
          <a:xfrm>
            <a:off x="4767837" y="4568723"/>
            <a:ext cx="7618621" cy="16942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sz="1000" b="1" dirty="0">
                <a:solidFill>
                  <a:srgbClr val="003B6F"/>
                </a:solidFill>
                <a:latin typeface="Segoe UI"/>
              </a:rPr>
              <a:t>Orchestration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606B66-6D90-3EC8-E6F9-DA7276F35627}"/>
              </a:ext>
            </a:extLst>
          </p:cNvPr>
          <p:cNvSpPr/>
          <p:nvPr/>
        </p:nvSpPr>
        <p:spPr>
          <a:xfrm>
            <a:off x="4173586" y="4483086"/>
            <a:ext cx="441880" cy="460160"/>
          </a:xfrm>
          <a:prstGeom prst="roundRect">
            <a:avLst>
              <a:gd name="adj" fmla="val 20689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02FF95-FFFF-C74B-21F3-D441A10F8240}"/>
              </a:ext>
            </a:extLst>
          </p:cNvPr>
          <p:cNvSpPr txBox="1"/>
          <p:nvPr/>
        </p:nvSpPr>
        <p:spPr>
          <a:xfrm>
            <a:off x="3827421" y="4591536"/>
            <a:ext cx="1134208" cy="21045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onsolas"/>
              </a:rPr>
              <a:t>O</a:t>
            </a:r>
            <a:endParaRPr sz="1400" b="1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D695BD-1933-9BFB-E1B8-EC23AE48D8E7}"/>
              </a:ext>
            </a:extLst>
          </p:cNvPr>
          <p:cNvSpPr txBox="1"/>
          <p:nvPr/>
        </p:nvSpPr>
        <p:spPr>
          <a:xfrm>
            <a:off x="4767836" y="4754352"/>
            <a:ext cx="7618621" cy="12000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sz="800" b="0" dirty="0">
                <a:solidFill>
                  <a:srgbClr val="666666"/>
                </a:solidFill>
                <a:latin typeface="Segoe UI"/>
              </a:rPr>
              <a:t>multi-agent control flow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kumimoji="0" lang="en-US" sz="10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CONTROL LOOP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Loop Is the Beating Heart of Agency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12064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harness runs an event loop with interception points the model never sees.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4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Beating Heart  ·  The Agent Loop</a:t>
            </a:r>
            <a:endParaRPr lang="en-US" sz="290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ul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" y="279806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context, retrieve knowledge, read current state.</a:t>
            </a:r>
            <a:endParaRPr lang="en-US" sz="1200"/>
          </a:p>
        </p:txBody>
      </p:sp>
      <p:pic>
        <p:nvPicPr>
          <p:cNvPr id="11" name="Image 1" descr="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396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3075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44211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netwo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279806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3730752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goal into ordered, tool-bound steps.</a:t>
            </a:r>
            <a:endParaRPr lang="en-US" sz="1200"/>
          </a:p>
        </p:txBody>
      </p:sp>
      <p:pic>
        <p:nvPicPr>
          <p:cNvPr id="18" name="Image 3" descr="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6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0138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729984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7420356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cog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092" y="27980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38544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800"/>
          </a:p>
        </p:txBody>
      </p:sp>
      <p:sp>
        <p:nvSpPr>
          <p:cNvPr id="24" name="Text 17"/>
          <p:cNvSpPr/>
          <p:nvPr/>
        </p:nvSpPr>
        <p:spPr>
          <a:xfrm>
            <a:off x="672998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tools and APIs to execute each step safely.</a:t>
            </a:r>
            <a:endParaRPr lang="en-US" sz="1200"/>
          </a:p>
        </p:txBody>
      </p:sp>
      <p:pic>
        <p:nvPicPr>
          <p:cNvPr id="25" name="Image 5" descr="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0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006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97292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/>
          </a:p>
        </p:txBody>
      </p:sp>
      <p:sp>
        <p:nvSpPr>
          <p:cNvPr id="28" name="Shape 20"/>
          <p:cNvSpPr/>
          <p:nvPr/>
        </p:nvSpPr>
        <p:spPr>
          <a:xfrm>
            <a:off x="10419588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shie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3324" y="2798064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3777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&amp; Reflect</a:t>
            </a:r>
            <a:endParaRPr lang="en-US" sz="1800"/>
          </a:p>
        </p:txBody>
      </p:sp>
      <p:sp>
        <p:nvSpPr>
          <p:cNvPr id="31" name="Text 22"/>
          <p:cNvSpPr/>
          <p:nvPr/>
        </p:nvSpPr>
        <p:spPr>
          <a:xfrm>
            <a:off x="972921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results, apply guardrails, retry or escalate.</a:t>
            </a:r>
            <a:endParaRPr lang="en-US" sz="1200"/>
          </a:p>
        </p:txBody>
      </p:sp>
      <p:sp>
        <p:nvSpPr>
          <p:cNvPr id="32" name="Text 23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the goal is met or a stop condition fires — retries, tool calls and human intervention all live here.</a:t>
            </a:r>
            <a:endParaRPr lang="en-US" sz="1350"/>
          </a:p>
        </p:txBody>
      </p:sp>
      <p:sp>
        <p:nvSpPr>
          <p:cNvPr id="33" name="TextBox 32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4B3F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AGENT LOOP AS AN EVENT PIPELINE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3479" y="1658039"/>
            <a:ext cx="7233047" cy="17287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33" normalizeH="0" baseline="0" noProof="0">
                <a:ln>
                  <a:noFill/>
                </a:ln>
                <a:solidFill>
                  <a:srgbClr val="40247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AGENT LOOP AS AN EVENT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479" y="1834665"/>
            <a:ext cx="7233047" cy="12100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Eight lifecycle hooks — each an interception point with a validated 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295858" y="2233589"/>
            <a:ext cx="7233047" cy="10372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2295858" y="2592134"/>
            <a:ext cx="7233047" cy="10372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2295858" y="2950679"/>
            <a:ext cx="7233047" cy="10372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-2295858" y="3309224"/>
            <a:ext cx="7233047" cy="10372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2295858" y="3667768"/>
            <a:ext cx="7233047" cy="10372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-2295858" y="4026313"/>
            <a:ext cx="7233047" cy="10372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-2295858" y="4384858"/>
            <a:ext cx="7233047" cy="10372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-2295858" y="4743403"/>
            <a:ext cx="7233047" cy="10372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8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EFD281-6057-8B0C-9638-740B8CA8E3DD}"/>
              </a:ext>
            </a:extLst>
          </p:cNvPr>
          <p:cNvGrpSpPr/>
          <p:nvPr/>
        </p:nvGrpSpPr>
        <p:grpSpPr>
          <a:xfrm>
            <a:off x="731520" y="2114597"/>
            <a:ext cx="13181704" cy="4019238"/>
            <a:chOff x="1233868" y="2121587"/>
            <a:chExt cx="10415588" cy="2800064"/>
          </a:xfrm>
        </p:grpSpPr>
        <p:sp>
          <p:nvSpPr>
            <p:cNvPr id="59" name="Rounded Rectangle 58"/>
            <p:cNvSpPr/>
            <p:nvPr/>
          </p:nvSpPr>
          <p:spPr>
            <a:xfrm>
              <a:off x="1566589" y="4631400"/>
              <a:ext cx="2603897" cy="290251"/>
            </a:xfrm>
            <a:prstGeom prst="roundRect">
              <a:avLst>
                <a:gd name="adj" fmla="val 17647"/>
              </a:avLst>
            </a:prstGeom>
            <a:solidFill>
              <a:srgbClr val="F2F2F2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1566589" y="4272855"/>
              <a:ext cx="2603897" cy="290251"/>
            </a:xfrm>
            <a:prstGeom prst="roundRect">
              <a:avLst>
                <a:gd name="adj" fmla="val 17647"/>
              </a:avLst>
            </a:prstGeom>
            <a:solidFill>
              <a:srgbClr val="F2F2F2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566589" y="3914311"/>
              <a:ext cx="2603897" cy="290251"/>
            </a:xfrm>
            <a:prstGeom prst="roundRect">
              <a:avLst>
                <a:gd name="adj" fmla="val 17647"/>
              </a:avLst>
            </a:prstGeom>
            <a:solidFill>
              <a:srgbClr val="F2F2F2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1566589" y="3555766"/>
              <a:ext cx="2603897" cy="290251"/>
            </a:xfrm>
            <a:prstGeom prst="roundRect">
              <a:avLst>
                <a:gd name="adj" fmla="val 17647"/>
              </a:avLst>
            </a:prstGeom>
            <a:solidFill>
              <a:srgbClr val="F2F2F2"/>
            </a:solidFill>
            <a:ln w="8536">
              <a:solidFill>
                <a:srgbClr val="0078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566589" y="3197221"/>
              <a:ext cx="2603897" cy="290251"/>
            </a:xfrm>
            <a:prstGeom prst="roundRect">
              <a:avLst>
                <a:gd name="adj" fmla="val 17647"/>
              </a:avLst>
            </a:prstGeom>
            <a:solidFill>
              <a:srgbClr val="F2F2F2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566589" y="2838676"/>
              <a:ext cx="2603897" cy="290251"/>
            </a:xfrm>
            <a:prstGeom prst="roundRect">
              <a:avLst>
                <a:gd name="adj" fmla="val 17647"/>
              </a:avLst>
            </a:prstGeom>
            <a:solidFill>
              <a:srgbClr val="F2F2F2"/>
            </a:solidFill>
            <a:ln w="8536">
              <a:solidFill>
                <a:srgbClr val="0078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566589" y="2480131"/>
              <a:ext cx="2603897" cy="290251"/>
            </a:xfrm>
            <a:prstGeom prst="roundRect">
              <a:avLst>
                <a:gd name="adj" fmla="val 17647"/>
              </a:avLst>
            </a:prstGeom>
            <a:solidFill>
              <a:srgbClr val="F2F2F2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566589" y="2121587"/>
              <a:ext cx="2603897" cy="290251"/>
            </a:xfrm>
            <a:prstGeom prst="roundRect">
              <a:avLst>
                <a:gd name="adj" fmla="val 17647"/>
              </a:avLst>
            </a:prstGeom>
            <a:solidFill>
              <a:srgbClr val="F2F2F2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11250" y="2162136"/>
              <a:ext cx="7233047" cy="144058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task_start</a:t>
              </a:r>
              <a:endPara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6B3FA0"/>
                </a:solidFill>
                <a:effectLst/>
                <a:uLnTx/>
                <a:uFillTx/>
                <a:latin typeface="Consolas"/>
                <a:ea typeface="+mn-ea"/>
                <a:cs typeface="+mn-cs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711250" y="2296847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permits: system prompt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711250" y="2520681"/>
              <a:ext cx="7233047" cy="144058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step_start</a:t>
              </a:r>
              <a:endPara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6B3FA0"/>
                </a:solidFill>
                <a:effectLst/>
                <a:uLnTx/>
                <a:uFillTx/>
                <a:latin typeface="Consolas"/>
                <a:ea typeface="+mn-ea"/>
                <a:cs typeface="+mn-cs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711250" y="2655392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permits: history edits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711250" y="2879226"/>
              <a:ext cx="7233047" cy="144058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before_model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711250" y="3013936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permits: context assembly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711250" y="3237771"/>
              <a:ext cx="7233047" cy="144058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after_model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711250" y="3372481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permits: response · tool calls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711250" y="3596316"/>
              <a:ext cx="7233047" cy="144058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before_tool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711250" y="3731026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permits: input · approval gate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711250" y="3954860"/>
              <a:ext cx="7233047" cy="144058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after_tool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711250" y="4089571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permits: tool result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711250" y="4313405"/>
              <a:ext cx="7233047" cy="144058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step_end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711250" y="4448116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permits: read-only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711250" y="4671950"/>
              <a:ext cx="7233047" cy="144058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task_end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711250" y="4806660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permits: read-only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233868" y="2206954"/>
              <a:ext cx="119515" cy="119515"/>
            </a:xfrm>
            <a:prstGeom prst="ellipse">
              <a:avLst/>
            </a:prstGeom>
            <a:solidFill>
              <a:srgbClr val="6B3F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1335131" y="2335006"/>
              <a:ext cx="0" cy="221956"/>
            </a:xfrm>
            <a:prstGeom prst="line">
              <a:avLst/>
            </a:prstGeom>
            <a:ln w="12805">
              <a:solidFill>
                <a:srgbClr val="C9BEE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1233868" y="2565499"/>
              <a:ext cx="119515" cy="119515"/>
            </a:xfrm>
            <a:prstGeom prst="ellipse">
              <a:avLst/>
            </a:prstGeom>
            <a:solidFill>
              <a:srgbClr val="6B3F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1335131" y="2693551"/>
              <a:ext cx="0" cy="221956"/>
            </a:xfrm>
            <a:prstGeom prst="line">
              <a:avLst/>
            </a:prstGeom>
            <a:ln w="12805">
              <a:solidFill>
                <a:srgbClr val="C9BEE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1233868" y="2924044"/>
              <a:ext cx="119515" cy="119515"/>
            </a:xfrm>
            <a:prstGeom prst="ellipse">
              <a:avLst/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1335131" y="3052096"/>
              <a:ext cx="0" cy="221956"/>
            </a:xfrm>
            <a:prstGeom prst="line">
              <a:avLst/>
            </a:prstGeom>
            <a:ln w="12805">
              <a:solidFill>
                <a:srgbClr val="C9BEE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1233868" y="3282589"/>
              <a:ext cx="119515" cy="119515"/>
            </a:xfrm>
            <a:prstGeom prst="ellipse">
              <a:avLst/>
            </a:prstGeom>
            <a:solidFill>
              <a:srgbClr val="6B3F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5" name="Connector 34"/>
            <p:cNvCxnSpPr/>
            <p:nvPr/>
          </p:nvCxnSpPr>
          <p:spPr>
            <a:xfrm>
              <a:off x="1335131" y="3410641"/>
              <a:ext cx="0" cy="221956"/>
            </a:xfrm>
            <a:prstGeom prst="line">
              <a:avLst/>
            </a:prstGeom>
            <a:ln w="12805">
              <a:solidFill>
                <a:srgbClr val="C9BEE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/>
            <p:cNvSpPr/>
            <p:nvPr/>
          </p:nvSpPr>
          <p:spPr>
            <a:xfrm>
              <a:off x="1233868" y="3641134"/>
              <a:ext cx="119515" cy="119515"/>
            </a:xfrm>
            <a:prstGeom prst="ellipse">
              <a:avLst/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1335131" y="3769185"/>
              <a:ext cx="0" cy="221957"/>
            </a:xfrm>
            <a:prstGeom prst="line">
              <a:avLst/>
            </a:prstGeom>
            <a:ln w="12805">
              <a:solidFill>
                <a:srgbClr val="C9BEE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>
            <a:xfrm>
              <a:off x="1233868" y="3999678"/>
              <a:ext cx="119515" cy="119515"/>
            </a:xfrm>
            <a:prstGeom prst="ellipse">
              <a:avLst/>
            </a:prstGeom>
            <a:solidFill>
              <a:srgbClr val="6B3F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7" name="Connector 46"/>
            <p:cNvCxnSpPr/>
            <p:nvPr/>
          </p:nvCxnSpPr>
          <p:spPr>
            <a:xfrm>
              <a:off x="1335131" y="4127730"/>
              <a:ext cx="0" cy="221957"/>
            </a:xfrm>
            <a:prstGeom prst="line">
              <a:avLst/>
            </a:prstGeom>
            <a:ln w="12805">
              <a:solidFill>
                <a:srgbClr val="C9BEE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1233868" y="4358223"/>
              <a:ext cx="119515" cy="119515"/>
            </a:xfrm>
            <a:prstGeom prst="ellipse">
              <a:avLst/>
            </a:prstGeom>
            <a:solidFill>
              <a:srgbClr val="6B3F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3" name="Connector 52"/>
            <p:cNvCxnSpPr/>
            <p:nvPr/>
          </p:nvCxnSpPr>
          <p:spPr>
            <a:xfrm>
              <a:off x="1335131" y="4486275"/>
              <a:ext cx="0" cy="221956"/>
            </a:xfrm>
            <a:prstGeom prst="line">
              <a:avLst/>
            </a:prstGeom>
            <a:ln w="12805">
              <a:solidFill>
                <a:srgbClr val="C9BEE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/>
            <p:cNvSpPr/>
            <p:nvPr/>
          </p:nvSpPr>
          <p:spPr>
            <a:xfrm>
              <a:off x="1233868" y="4716768"/>
              <a:ext cx="119515" cy="119515"/>
            </a:xfrm>
            <a:prstGeom prst="ellipse">
              <a:avLst/>
            </a:prstGeom>
            <a:solidFill>
              <a:srgbClr val="6B3F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1508724" y="2795992"/>
              <a:ext cx="2734092" cy="1454797"/>
            </a:xfrm>
            <a:prstGeom prst="roundRect">
              <a:avLst>
                <a:gd name="adj" fmla="val 4907"/>
              </a:avLst>
            </a:prstGeom>
            <a:noFill/>
            <a:ln w="10670">
              <a:solidFill>
                <a:srgbClr val="0078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416409" y="3421738"/>
              <a:ext cx="7233047" cy="11524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inner step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416409" y="3555254"/>
              <a:ext cx="7233047" cy="9219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6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repeats until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416409" y="3649158"/>
              <a:ext cx="7233047" cy="9219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6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stop condition</a:t>
              </a:r>
            </a:p>
          </p:txBody>
        </p:sp>
      </p:grpSp>
      <p:pic>
        <p:nvPicPr>
          <p:cNvPr id="9" name="Picture 8" descr="img1.png">
            <a:extLst>
              <a:ext uri="{FF2B5EF4-FFF2-40B4-BE49-F238E27FC236}">
                <a16:creationId xmlns:a16="http://schemas.microsoft.com/office/drawing/2014/main" id="{B4AE812D-4C39-8F8A-13AF-B6D51AC16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635" y="1946053"/>
            <a:ext cx="5532120" cy="416052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4B3F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Why the Loop Is Hard  ·  Deterministic Control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>
                <a:ln>
                  <a:noFill/>
                </a:ln>
                <a:solidFill>
                  <a:srgbClr val="8A93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proposes; the harness disposes. Control belongs to code, not the policy.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F224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Stop conditions
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A48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Detect done, budget exhaustion, or the need to escalate — deterministically.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F224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Budgets &amp; runaway
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A48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 steps, tokens, wall-clock and tool calls; kill loops that don't converge.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F224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Drift &amp; repair
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A48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Errors become control-flow signals that trigger targeted repair, not restart.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F224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interrupt
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A48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person can pause, inspect and override at any hook boundary.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2D7FF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kumimoji="0" lang="en-US" sz="5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3A48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lifecycle hooks per step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1FB6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kumimoji="0" lang="en-US" sz="5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3A48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processor outcomes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kumimoji="0" lang="en-US" sz="10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Orchestrator &amp; Planner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12064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Decompose intent into an executable, checkable plan — then adapt when steps fail.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4B3F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PLANNER  ·  DECOMPOSITION, ROUTING, RE-PLANNING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B9BF87-F770-E92E-7441-8136DA72F3F4}"/>
              </a:ext>
            </a:extLst>
          </p:cNvPr>
          <p:cNvGrpSpPr/>
          <p:nvPr/>
        </p:nvGrpSpPr>
        <p:grpSpPr>
          <a:xfrm>
            <a:off x="-2441726" y="0"/>
            <a:ext cx="18972282" cy="6753216"/>
            <a:chOff x="-2397121" y="367621"/>
            <a:chExt cx="18972282" cy="5428540"/>
          </a:xfrm>
        </p:grpSpPr>
        <p:sp>
          <p:nvSpPr>
            <p:cNvPr id="13" name="TextBox 12"/>
            <p:cNvSpPr txBox="1"/>
            <p:nvPr/>
          </p:nvSpPr>
          <p:spPr>
            <a:xfrm>
              <a:off x="973479" y="1658039"/>
              <a:ext cx="7233047" cy="17287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1" i="0" u="none" strike="noStrike" kern="1200" cap="none" spc="33" normalizeH="0" baseline="0" noProof="0" dirty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THE ORCHESTRATOR / PLANNER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73479" y="1834665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Decompose intent into an executable, checkable plan — then adapt when reality disagrees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73479" y="2078903"/>
              <a:ext cx="2495401" cy="640259"/>
            </a:xfrm>
            <a:prstGeom prst="roundRect">
              <a:avLst>
                <a:gd name="adj" fmla="val 9333"/>
              </a:avLst>
            </a:prstGeom>
            <a:solidFill>
              <a:srgbClr val="F0E8FF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1103674" y="2172807"/>
              <a:ext cx="136588" cy="136588"/>
            </a:xfrm>
            <a:prstGeom prst="ellipse">
              <a:avLst/>
            </a:prstGeom>
            <a:solidFill>
              <a:srgbClr val="4024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-2397121" y="2200979"/>
              <a:ext cx="7233047" cy="11524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21928" y="2197479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Goal decomposition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32606" y="2369409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break intent into ordered,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32606" y="2471851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checkable sub-tasks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613541" y="2078903"/>
              <a:ext cx="2495401" cy="640259"/>
            </a:xfrm>
            <a:prstGeom prst="roundRect">
              <a:avLst>
                <a:gd name="adj" fmla="val 9333"/>
              </a:avLst>
            </a:prstGeom>
            <a:solidFill>
              <a:srgbClr val="F0E8FF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743736" y="2172807"/>
              <a:ext cx="136588" cy="136588"/>
            </a:xfrm>
            <a:prstGeom prst="ellipse">
              <a:avLst/>
            </a:prstGeom>
            <a:solidFill>
              <a:srgbClr val="4024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42941" y="2200979"/>
              <a:ext cx="7233047" cy="11524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061990" y="2197479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Routing &amp; control flow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772668" y="2369409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choose next action · branch ·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772668" y="2471851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delegate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253603" y="2078903"/>
              <a:ext cx="2495401" cy="640259"/>
            </a:xfrm>
            <a:prstGeom prst="roundRect">
              <a:avLst>
                <a:gd name="adj" fmla="val 9333"/>
              </a:avLst>
            </a:prstGeom>
            <a:solidFill>
              <a:srgbClr val="F0E8FF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6383798" y="2172807"/>
              <a:ext cx="136588" cy="136588"/>
            </a:xfrm>
            <a:prstGeom prst="ellipse">
              <a:avLst/>
            </a:prstGeom>
            <a:solidFill>
              <a:srgbClr val="4024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883003" y="2200979"/>
              <a:ext cx="7233047" cy="11524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702052" y="2197479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Re-planning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412730" y="2369409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repair the plan when a step fails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412730" y="2471851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or new info arrives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893665" y="2078903"/>
              <a:ext cx="2495401" cy="640259"/>
            </a:xfrm>
            <a:prstGeom prst="roundRect">
              <a:avLst>
                <a:gd name="adj" fmla="val 9333"/>
              </a:avLst>
            </a:prstGeom>
            <a:solidFill>
              <a:srgbClr val="F0E8FF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9023860" y="2172807"/>
              <a:ext cx="136588" cy="136588"/>
            </a:xfrm>
            <a:prstGeom prst="ellipse">
              <a:avLst/>
            </a:prstGeom>
            <a:solidFill>
              <a:srgbClr val="4024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23065" y="2200979"/>
              <a:ext cx="7233047" cy="11524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342114" y="2197479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Stop conditions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052792" y="2369409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detect done · budget exhausted ·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052792" y="2471851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must escalate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73479" y="2994992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33" normalizeH="0" baseline="0" noProof="0">
                  <a:ln>
                    <a:noFill/>
                  </a:ln>
                  <a:solidFill>
                    <a:srgbClr val="003B6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FOUR PLANNING STRATEGIES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973479" y="3181009"/>
              <a:ext cx="2495401" cy="64025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0670">
              <a:solidFill>
                <a:srgbClr val="0078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973479" y="3181009"/>
              <a:ext cx="2495401" cy="179272"/>
            </a:xfrm>
            <a:prstGeom prst="roundRect">
              <a:avLst>
                <a:gd name="adj" fmla="val 33333"/>
              </a:avLst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103674" y="3227022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Linear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03674" y="3440868"/>
              <a:ext cx="7233047" cy="9219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sequential decomposition into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103674" y="3534773"/>
              <a:ext cx="7233047" cy="9219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subtasks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103674" y="3705508"/>
              <a:ext cx="7233047" cy="9219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S1 → S2 → S3 → S4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3613541" y="3181009"/>
              <a:ext cx="2495401" cy="64025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0670">
              <a:solidFill>
                <a:srgbClr val="00B29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3613541" y="3181009"/>
              <a:ext cx="2495401" cy="179272"/>
            </a:xfrm>
            <a:prstGeom prst="roundRect">
              <a:avLst>
                <a:gd name="adj" fmla="val 33333"/>
              </a:avLst>
            </a:prstGeom>
            <a:solidFill>
              <a:srgbClr val="00B2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743736" y="3227022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Structure-grounded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743736" y="3440868"/>
              <a:ext cx="7233047" cy="9219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planning anchored to a dependency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743736" y="3534773"/>
              <a:ext cx="7233047" cy="9219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graph (CodePlan)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43736" y="3705508"/>
              <a:ext cx="7233047" cy="9219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00B294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DAG of code deps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6253603" y="3181009"/>
              <a:ext cx="2495401" cy="64025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0670">
              <a:solidFill>
                <a:srgbClr val="E65C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6253603" y="3181009"/>
              <a:ext cx="2495401" cy="179272"/>
            </a:xfrm>
            <a:prstGeom prst="roundRect">
              <a:avLst>
                <a:gd name="adj" fmla="val 33333"/>
              </a:avLst>
            </a:prstGeom>
            <a:solidFill>
              <a:srgbClr val="E65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383798" y="3183477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Search-based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383798" y="3397323"/>
              <a:ext cx="7233047" cy="9219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explore trajectory space under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383798" y="3491228"/>
              <a:ext cx="7233047" cy="9219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execution feedback (CodeTree)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383798" y="3661963"/>
              <a:ext cx="7233047" cy="9219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E65C00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tree + backtrack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8893665" y="3181009"/>
              <a:ext cx="2495401" cy="64025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0670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8893665" y="3181009"/>
              <a:ext cx="2495401" cy="179272"/>
            </a:xfrm>
            <a:prstGeom prst="roundRect">
              <a:avLst>
                <a:gd name="adj" fmla="val 33333"/>
              </a:avLst>
            </a:prstGeom>
            <a:solidFill>
              <a:srgbClr val="6B3F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9023860" y="3183477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Orchestration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023860" y="3397323"/>
              <a:ext cx="7233047" cy="9219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workflow DAG / multi-phase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9023860" y="3491228"/>
              <a:ext cx="7233047" cy="9219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coordination (MapCoder)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9023860" y="3661963"/>
              <a:ext cx="7233047" cy="9219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fan-out phases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973479" y="4115502"/>
              <a:ext cx="10241994" cy="768310"/>
            </a:xfrm>
            <a:prstGeom prst="roundRect">
              <a:avLst>
                <a:gd name="adj" fmla="val 8888"/>
              </a:avLst>
            </a:prstGeom>
            <a:solidFill>
              <a:srgbClr val="EAF3FB"/>
            </a:solidFill>
            <a:ln w="10670">
              <a:solidFill>
                <a:srgbClr val="0078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90470" y="4222809"/>
              <a:ext cx="7233047" cy="13253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003B6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PLANNING AS CONTRACT FORMATION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190470" y="4390471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 plan is not prose — it is an executable specification. Each step declares pre-conditions and post-conditions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90470" y="4509986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the harness checks at runtime. Failure signals (compiler errors, failed tests, exceptions) become control-flow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90470" y="4629501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inputs that trigger targeted repair or re-planning — not a full restart. The contract makes progress verifiable.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8206526" y="4200869"/>
              <a:ext cx="2893219" cy="597575"/>
            </a:xfrm>
            <a:prstGeom prst="roundRect">
              <a:avLst>
                <a:gd name="adj" fmla="val 8571"/>
              </a:avLst>
            </a:prstGeom>
            <a:solidFill>
              <a:srgbClr val="4024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365653" y="4257383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E8DAEF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step: apply_patch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8365653" y="4376898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B7E3C0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pre:  tests_exist()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8365653" y="4496413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B7E3C0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post: all_tests_pass()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8365653" y="4615928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F6C9A8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on_fail: replan(step)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973479" y="5073414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Contracts convert a stochastic planner into a system with checkable intermediate state — the basis for reliability.</a:t>
              </a: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kumimoji="0" lang="en-US" sz="10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CAPABILITY SURFACE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Tools, Skills &amp; Protocols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12064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the harness grounds reasoning in real actions — and connects to a wider ecosystem.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4B3F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SKILLS  ·  PERSISTENT EXECUTABLE MEMORY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9463B6-5063-A0A0-795F-AE366FB221CF}"/>
              </a:ext>
            </a:extLst>
          </p:cNvPr>
          <p:cNvGrpSpPr/>
          <p:nvPr/>
        </p:nvGrpSpPr>
        <p:grpSpPr>
          <a:xfrm>
            <a:off x="-2436019" y="1548311"/>
            <a:ext cx="19896071" cy="4761049"/>
            <a:chOff x="-2353723" y="1658039"/>
            <a:chExt cx="19268837" cy="4326132"/>
          </a:xfrm>
        </p:grpSpPr>
        <p:sp>
          <p:nvSpPr>
            <p:cNvPr id="13" name="TextBox 12"/>
            <p:cNvSpPr txBox="1"/>
            <p:nvPr/>
          </p:nvSpPr>
          <p:spPr>
            <a:xfrm>
              <a:off x="973479" y="1658039"/>
              <a:ext cx="7233047" cy="17287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33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SKILLS  ·  PERSISTENT EXECUTABLE MEMORY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73479" y="1834665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 skill is not a tool. Tools are supplied; skills are learned, stored and reused — competence that compounds.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73479" y="2121587"/>
              <a:ext cx="4773811" cy="768310"/>
            </a:xfrm>
            <a:prstGeom prst="roundRect">
              <a:avLst>
                <a:gd name="adj" fmla="val 7777"/>
              </a:avLst>
            </a:prstGeom>
            <a:solidFill>
              <a:srgbClr val="F2F2F2"/>
            </a:solidFill>
            <a:ln w="8536">
              <a:solidFill>
                <a:srgbClr val="6666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190470" y="2223857"/>
              <a:ext cx="7233047" cy="126771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TOOL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90470" y="2391520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 fixed capability the harness exposes.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90470" y="2511035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Stateless. Same on every run.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90470" y="2698844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003B6F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e.g.  http_get()   ·   run_sql()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036612" y="2121587"/>
              <a:ext cx="5178862" cy="768310"/>
            </a:xfrm>
            <a:prstGeom prst="roundRect">
              <a:avLst>
                <a:gd name="adj" fmla="val 7777"/>
              </a:avLst>
            </a:prstGeom>
            <a:solidFill>
              <a:srgbClr val="F0E8FF"/>
            </a:solidFill>
            <a:ln w="10670">
              <a:solidFill>
                <a:srgbClr val="4024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253603" y="2223857"/>
              <a:ext cx="7233047" cy="126771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SKILL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253603" y="2391520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 reusable behavior the agent authored, verified and persisted.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53603" y="2511035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Composed from tools + control flow. Grows over time.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253603" y="2698844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e.g.  resolve_flaky_test()  ·  migrate_schema()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73479" y="3297040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33" normalizeH="0" baseline="0" noProof="0">
                  <a:ln>
                    <a:noFill/>
                  </a:ln>
                  <a:solidFill>
                    <a:srgbClr val="003B6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THE SKILL LIBRARY LIFECYCLE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045809" y="3483056"/>
              <a:ext cx="1808262" cy="64025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0670">
              <a:solidFill>
                <a:srgbClr val="0078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1154305" y="3581229"/>
              <a:ext cx="128052" cy="128052"/>
            </a:xfrm>
            <a:prstGeom prst="ellipse">
              <a:avLst/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-2353723" y="3403128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450860" y="3605132"/>
              <a:ext cx="7233047" cy="11524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Encounter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76004" y="3782100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novel task with no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76004" y="3880272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matching skill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2897469" y="3803185"/>
              <a:ext cx="231458" cy="0"/>
            </a:xfrm>
            <a:prstGeom prst="line">
              <a:avLst/>
            </a:prstGeom>
            <a:ln w="12805">
              <a:solidFill>
                <a:srgbClr val="6B3FA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ounded Rectangle 32"/>
            <p:cNvSpPr/>
            <p:nvPr/>
          </p:nvSpPr>
          <p:spPr>
            <a:xfrm>
              <a:off x="3172325" y="3483056"/>
              <a:ext cx="1808262" cy="64025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0670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3280821" y="3581229"/>
              <a:ext cx="128052" cy="128052"/>
            </a:xfrm>
            <a:prstGeom prst="ellipse">
              <a:avLst/>
            </a:prstGeom>
            <a:solidFill>
              <a:srgbClr val="6B3F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-227207" y="3612132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577376" y="3605132"/>
              <a:ext cx="7233047" cy="11524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Synthesize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302520" y="3782100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compose a candidate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302520" y="3880272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skill from tools + code</a:t>
              </a:r>
            </a:p>
          </p:txBody>
        </p:sp>
        <p:cxnSp>
          <p:nvCxnSpPr>
            <p:cNvPr id="39" name="Connector 38"/>
            <p:cNvCxnSpPr/>
            <p:nvPr/>
          </p:nvCxnSpPr>
          <p:spPr>
            <a:xfrm>
              <a:off x="5023985" y="3803185"/>
              <a:ext cx="231458" cy="0"/>
            </a:xfrm>
            <a:prstGeom prst="line">
              <a:avLst/>
            </a:prstGeom>
            <a:ln w="12805">
              <a:solidFill>
                <a:srgbClr val="6B3FA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ounded Rectangle 39"/>
            <p:cNvSpPr/>
            <p:nvPr/>
          </p:nvSpPr>
          <p:spPr>
            <a:xfrm>
              <a:off x="5298841" y="3483056"/>
              <a:ext cx="1808262" cy="64025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0670">
              <a:solidFill>
                <a:srgbClr val="E65C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407337" y="3581229"/>
              <a:ext cx="128052" cy="128052"/>
            </a:xfrm>
            <a:prstGeom prst="ellipse">
              <a:avLst/>
            </a:prstGeom>
            <a:solidFill>
              <a:srgbClr val="E65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899309" y="3612132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703891" y="3605133"/>
              <a:ext cx="5037249" cy="110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E65C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Verify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429036" y="3782100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execute against tests /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429036" y="3880272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environment feedback</a:t>
              </a:r>
            </a:p>
          </p:txBody>
        </p:sp>
        <p:cxnSp>
          <p:nvCxnSpPr>
            <p:cNvPr id="46" name="Connector 45"/>
            <p:cNvCxnSpPr/>
            <p:nvPr/>
          </p:nvCxnSpPr>
          <p:spPr>
            <a:xfrm>
              <a:off x="7150501" y="3803185"/>
              <a:ext cx="231457" cy="0"/>
            </a:xfrm>
            <a:prstGeom prst="line">
              <a:avLst/>
            </a:prstGeom>
            <a:ln w="12805">
              <a:solidFill>
                <a:srgbClr val="6B3FA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ounded Rectangle 46"/>
            <p:cNvSpPr/>
            <p:nvPr/>
          </p:nvSpPr>
          <p:spPr>
            <a:xfrm>
              <a:off x="7425357" y="3483056"/>
              <a:ext cx="1808262" cy="64025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0670">
              <a:solidFill>
                <a:srgbClr val="00B29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7533852" y="3581229"/>
              <a:ext cx="128052" cy="128052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025825" y="3612132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830407" y="3605133"/>
              <a:ext cx="3596967" cy="110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00B294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Persist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555551" y="3782100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store to the library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555551" y="3880272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with an index key</a:t>
              </a:r>
            </a:p>
          </p:txBody>
        </p:sp>
        <p:cxnSp>
          <p:nvCxnSpPr>
            <p:cNvPr id="53" name="Connector 52"/>
            <p:cNvCxnSpPr/>
            <p:nvPr/>
          </p:nvCxnSpPr>
          <p:spPr>
            <a:xfrm>
              <a:off x="9277017" y="3803185"/>
              <a:ext cx="231457" cy="0"/>
            </a:xfrm>
            <a:prstGeom prst="line">
              <a:avLst/>
            </a:prstGeom>
            <a:ln w="12805">
              <a:solidFill>
                <a:srgbClr val="6B3FA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ounded Rectangle 53"/>
            <p:cNvSpPr/>
            <p:nvPr/>
          </p:nvSpPr>
          <p:spPr>
            <a:xfrm>
              <a:off x="9551872" y="3483056"/>
              <a:ext cx="1808262" cy="64025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0670">
              <a:solidFill>
                <a:srgbClr val="107C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9660368" y="3581229"/>
              <a:ext cx="128052" cy="128052"/>
            </a:xfrm>
            <a:prstGeom prst="ellipse">
              <a:avLst/>
            </a:prstGeom>
            <a:solidFill>
              <a:srgbClr val="107C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152340" y="3612132"/>
              <a:ext cx="2531567" cy="7122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877358" y="3571295"/>
              <a:ext cx="415333" cy="93838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107C1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Retrieve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682067" y="3782100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recall &amp; adapt on the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682067" y="3880272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next similar task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973479" y="4679538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CURRICULUM  ·  the library IS long-term memory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973479" y="4916775"/>
              <a:ext cx="10241994" cy="187809"/>
            </a:xfrm>
            <a:prstGeom prst="roundRect">
              <a:avLst>
                <a:gd name="adj" fmla="val 22727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147072" y="4978325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Voyager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564749" y="4981825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automatic curriculum + continually expanding skill library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973479" y="5138731"/>
              <a:ext cx="10241994" cy="187809"/>
            </a:xfrm>
            <a:prstGeom prst="roundRect">
              <a:avLst>
                <a:gd name="adj" fmla="val 22727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47072" y="5200281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LYRA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564749" y="5203781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converts human corrections into reusable executable skills + RAG memory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973479" y="5360687"/>
              <a:ext cx="10241994" cy="187809"/>
            </a:xfrm>
            <a:prstGeom prst="roundRect">
              <a:avLst>
                <a:gd name="adj" fmla="val 22727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47072" y="5422238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ViReSkill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564749" y="5425738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vision-grounded replanning with skill-memory caching for stability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973479" y="5582644"/>
              <a:ext cx="10241994" cy="187809"/>
            </a:xfrm>
            <a:prstGeom prst="roundRect">
              <a:avLst>
                <a:gd name="adj" fmla="val 22727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147072" y="5644194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BOSS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564749" y="5647694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synthesizes new skill chains via language-guided practice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73479" y="5874687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Without a skill library every session re-derives behavior from scratch. With one, the agent gets better as it works.</a:t>
              </a: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4B3F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MCP  ·  THE MODEL CONTEXT PROTOCOL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3479" y="1788986"/>
            <a:ext cx="7233047" cy="17287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8" b="1" i="0" u="none" strike="noStrike" kern="1200" cap="none" spc="33" normalizeH="0" baseline="0" noProof="0" dirty="0">
                <a:ln>
                  <a:noFill/>
                </a:ln>
                <a:solidFill>
                  <a:srgbClr val="40247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MCP  ·  MODEL CONTEXT PROTOCOL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90470" y="2420374"/>
            <a:ext cx="2603897" cy="1621988"/>
          </a:xfrm>
          <a:prstGeom prst="roundRect">
            <a:avLst>
              <a:gd name="adj" fmla="val 4444"/>
            </a:avLst>
          </a:prstGeom>
          <a:gradFill rotWithShape="1">
            <a:gsLst>
              <a:gs pos="0">
                <a:srgbClr val="40247B"/>
              </a:gs>
              <a:gs pos="100000">
                <a:srgbClr val="6B3FA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-1124105" y="2549792"/>
            <a:ext cx="7233047" cy="1382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 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124105" y="2707381"/>
            <a:ext cx="7233047" cy="10372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E8DAE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harness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79792" y="2932581"/>
            <a:ext cx="2025253" cy="256103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-1124105" y="2992802"/>
            <a:ext cx="7233047" cy="11524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40247B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MCP Client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79792" y="3274052"/>
            <a:ext cx="2025253" cy="256103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-1124105" y="3334273"/>
            <a:ext cx="7233047" cy="11524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40247B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MCP Client 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79792" y="3615523"/>
            <a:ext cx="2025253" cy="256103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-1124105" y="3675744"/>
            <a:ext cx="7233047" cy="11524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40247B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MCP Client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7882" y="2348836"/>
            <a:ext cx="4125455" cy="688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3B6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MCP SERVERS  ·  independently deployed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27882" y="2505742"/>
            <a:ext cx="3399532" cy="30732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670">
            <a:solidFill>
              <a:srgbClr val="00B2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627882" y="2505742"/>
            <a:ext cx="72330" cy="307324"/>
          </a:xfrm>
          <a:prstGeom prst="roundRect">
            <a:avLst>
              <a:gd name="adj" fmla="val 50000"/>
            </a:avLst>
          </a:prstGeom>
          <a:solidFill>
            <a:srgbClr val="00B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44874" y="2568829"/>
            <a:ext cx="2963232" cy="13855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Filesystem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4873" y="2693806"/>
            <a:ext cx="4125455" cy="14941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resources: files, dirs</a:t>
            </a:r>
          </a:p>
        </p:txBody>
      </p:sp>
      <p:cxnSp>
        <p:nvCxnSpPr>
          <p:cNvPr id="29" name="Connector 28"/>
          <p:cNvCxnSpPr>
            <a:cxnSpLocks/>
          </p:cNvCxnSpPr>
          <p:nvPr/>
        </p:nvCxnSpPr>
        <p:spPr>
          <a:xfrm flipV="1">
            <a:off x="3794366" y="2659404"/>
            <a:ext cx="3775652" cy="420388"/>
          </a:xfrm>
          <a:prstGeom prst="line">
            <a:avLst/>
          </a:prstGeom>
          <a:ln w="12805">
            <a:solidFill>
              <a:srgbClr val="6B3F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627882" y="2898434"/>
            <a:ext cx="3399532" cy="30732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67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627882" y="2898434"/>
            <a:ext cx="72330" cy="307324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844873" y="2961521"/>
            <a:ext cx="3841159" cy="13028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GitHub 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4873" y="3086499"/>
            <a:ext cx="4125455" cy="12850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tools: PRs, issues, search</a:t>
            </a:r>
          </a:p>
        </p:txBody>
      </p:sp>
      <p:cxnSp>
        <p:nvCxnSpPr>
          <p:cNvPr id="34" name="Connector 33"/>
          <p:cNvCxnSpPr>
            <a:cxnSpLocks/>
          </p:cNvCxnSpPr>
          <p:nvPr/>
        </p:nvCxnSpPr>
        <p:spPr>
          <a:xfrm flipV="1">
            <a:off x="3794367" y="3052096"/>
            <a:ext cx="3775651" cy="307623"/>
          </a:xfrm>
          <a:prstGeom prst="line">
            <a:avLst/>
          </a:prstGeom>
          <a:ln w="12805">
            <a:solidFill>
              <a:srgbClr val="6B3F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27882" y="3291126"/>
            <a:ext cx="3399532" cy="30732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670">
            <a:solidFill>
              <a:srgbClr val="E6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627882" y="3291126"/>
            <a:ext cx="72330" cy="307324"/>
          </a:xfrm>
          <a:prstGeom prst="roundRect">
            <a:avLst>
              <a:gd name="adj" fmla="val 50000"/>
            </a:avLst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44874" y="3354212"/>
            <a:ext cx="3913018" cy="11669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E65C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Database Server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4873" y="3479190"/>
            <a:ext cx="3841159" cy="16578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tools: query · resources: schema</a:t>
            </a:r>
          </a:p>
        </p:txBody>
      </p:sp>
      <p:cxnSp>
        <p:nvCxnSpPr>
          <p:cNvPr id="39" name="Connector 38"/>
          <p:cNvCxnSpPr>
            <a:cxnSpLocks/>
          </p:cNvCxnSpPr>
          <p:nvPr/>
        </p:nvCxnSpPr>
        <p:spPr>
          <a:xfrm flipV="1">
            <a:off x="3794367" y="3444788"/>
            <a:ext cx="3775651" cy="278864"/>
          </a:xfrm>
          <a:prstGeom prst="line">
            <a:avLst/>
          </a:prstGeom>
          <a:ln w="12805">
            <a:solidFill>
              <a:srgbClr val="6B3F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27882" y="3683818"/>
            <a:ext cx="3399532" cy="30732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67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627882" y="3683818"/>
            <a:ext cx="72330" cy="307324"/>
          </a:xfrm>
          <a:prstGeom prst="roundRect">
            <a:avLst>
              <a:gd name="adj" fmla="val 5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844873" y="3746904"/>
            <a:ext cx="4125455" cy="22293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6B3FA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Vector Store Server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4873" y="3871883"/>
            <a:ext cx="3913019" cy="9415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tools: semantic_search</a:t>
            </a:r>
          </a:p>
        </p:txBody>
      </p:sp>
      <p:cxnSp>
        <p:nvCxnSpPr>
          <p:cNvPr id="44" name="Connector 43"/>
          <p:cNvCxnSpPr>
            <a:cxnSpLocks/>
          </p:cNvCxnSpPr>
          <p:nvPr/>
        </p:nvCxnSpPr>
        <p:spPr>
          <a:xfrm>
            <a:off x="3794367" y="3095746"/>
            <a:ext cx="3775651" cy="741734"/>
          </a:xfrm>
          <a:prstGeom prst="line">
            <a:avLst/>
          </a:prstGeom>
          <a:ln w="12805">
            <a:solidFill>
              <a:srgbClr val="6B3F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73479" y="4342404"/>
            <a:ext cx="10241994" cy="679576"/>
          </a:xfrm>
          <a:prstGeom prst="roundRect">
            <a:avLst>
              <a:gd name="adj" fmla="val 12727"/>
            </a:avLst>
          </a:prstGeom>
          <a:solidFill>
            <a:srgbClr val="F0E8FF"/>
          </a:solidFill>
          <a:ln w="8536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70397" y="4374549"/>
            <a:ext cx="7233047" cy="12100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40247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THREE SERVER PRIMITIVES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90470" y="4596800"/>
            <a:ext cx="7233047" cy="11524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3B6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Tools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90470" y="4718278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model-invoked functions with typed schemas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90002" y="4596800"/>
            <a:ext cx="7233047" cy="11524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003B6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Resources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0002" y="4718278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71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readable context the client can load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89534" y="4578512"/>
            <a:ext cx="7233047" cy="11524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003B6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Prompts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9534" y="4709226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reusable templated interactions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3478" y="2057348"/>
            <a:ext cx="7233047" cy="1094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Transport: </a:t>
            </a:r>
            <a:r>
              <a:rPr kumimoji="0" sz="638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stdio</a:t>
            </a:r>
            <a:r>
              <a:rPr kumimoji="0" sz="638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(local) · </a:t>
            </a:r>
            <a:r>
              <a:rPr kumimoji="0" sz="638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Streamable</a:t>
            </a:r>
            <a:r>
              <a:rPr kumimoji="0" sz="638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HTTP (remote).   Discovery is dynamic — a client lists a server's</a:t>
            </a:r>
            <a:r>
              <a:rPr kumimoji="0" lang="en-US" sz="638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r>
              <a:rPr kumimoji="0" lang="en-IN" sz="638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capabilities at connect time, so tools can be added without changing agent code.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38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73479" y="5373588"/>
            <a:ext cx="10241994" cy="362558"/>
          </a:xfrm>
          <a:prstGeom prst="roundRect">
            <a:avLst>
              <a:gd name="adj" fmla="val 18750"/>
            </a:avLst>
          </a:prstGeom>
          <a:solidFill>
            <a:srgbClr val="FDECEA"/>
          </a:solidFill>
          <a:ln w="8536">
            <a:solidFill>
              <a:srgbClr val="D13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90470" y="5481322"/>
            <a:ext cx="7233047" cy="10372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D13438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Harness responsibility:  authenticate servers · allow-list tools · scope least-privilege · bound the blast radius of every MCP call.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4B3F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A2A  ·  THE AGENT-TO-AGENT PROTOCOL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5976F6-C049-0AEF-A669-29A8840D518A}"/>
              </a:ext>
            </a:extLst>
          </p:cNvPr>
          <p:cNvGrpSpPr/>
          <p:nvPr/>
        </p:nvGrpSpPr>
        <p:grpSpPr>
          <a:xfrm>
            <a:off x="-1684509" y="1455947"/>
            <a:ext cx="16496085" cy="4289678"/>
            <a:chOff x="-1304931" y="2246394"/>
            <a:chExt cx="15066437" cy="2820382"/>
          </a:xfrm>
        </p:grpSpPr>
        <p:sp>
          <p:nvSpPr>
            <p:cNvPr id="15" name="Rounded Rectangle 14"/>
            <p:cNvSpPr/>
            <p:nvPr/>
          </p:nvSpPr>
          <p:spPr>
            <a:xfrm>
              <a:off x="1118140" y="2335006"/>
              <a:ext cx="2386905" cy="1280517"/>
            </a:xfrm>
            <a:prstGeom prst="roundRect">
              <a:avLst>
                <a:gd name="adj" fmla="val 5333"/>
              </a:avLst>
            </a:prstGeom>
            <a:gradFill rotWithShape="1">
              <a:gsLst>
                <a:gs pos="0">
                  <a:srgbClr val="40247B"/>
                </a:gs>
                <a:gs pos="100000">
                  <a:srgbClr val="6B3FA0"/>
                </a:gs>
              </a:gsLst>
              <a:lin ang="1890000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-1304931" y="2454350"/>
              <a:ext cx="7233047" cy="126771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CLIENT AGENT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-1304931" y="2599902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E8DAE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delegates a task it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-1304931" y="2693807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E8DAE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cannot do alone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335131" y="2889897"/>
              <a:ext cx="1952923" cy="256103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-1304931" y="2984826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discovers peer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335131" y="3210026"/>
              <a:ext cx="1952923" cy="256103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-1304931" y="3304955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sends Task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423517" y="2335006"/>
              <a:ext cx="2386905" cy="1280517"/>
            </a:xfrm>
            <a:prstGeom prst="roundRect">
              <a:avLst>
                <a:gd name="adj" fmla="val 5333"/>
              </a:avLst>
            </a:prstGeom>
            <a:gradFill rotWithShape="1">
              <a:gsLst>
                <a:gs pos="0">
                  <a:srgbClr val="0078D4"/>
                </a:gs>
                <a:gs pos="100000">
                  <a:srgbClr val="003B6F"/>
                </a:gs>
              </a:gsLst>
              <a:lin ang="1890000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000446" y="2454350"/>
              <a:ext cx="7233047" cy="126771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REMOTE AGENT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000446" y="2599902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CDE4F7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opaque · different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000446" y="2693807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CDE4F7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vendor / framework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8640508" y="2889897"/>
              <a:ext cx="1952923" cy="256103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000446" y="2988326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publishes Agent Card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640508" y="3210026"/>
              <a:ext cx="1952923" cy="256103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000446" y="3304955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streams results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420088" y="2246394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33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TASK LIFECYCLE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590002" y="2420374"/>
              <a:ext cx="2893219" cy="213420"/>
            </a:xfrm>
            <a:prstGeom prst="roundRect">
              <a:avLst>
                <a:gd name="adj" fmla="val 50000"/>
              </a:avLst>
            </a:prstGeom>
            <a:solidFill>
              <a:srgbClr val="F0E8FF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420088" y="2486961"/>
              <a:ext cx="7233047" cy="11524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submitted</a:t>
              </a:r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6036612" y="2642330"/>
              <a:ext cx="0" cy="68295"/>
            </a:xfrm>
            <a:prstGeom prst="line">
              <a:avLst/>
            </a:prstGeom>
            <a:ln w="12805">
              <a:solidFill>
                <a:srgbClr val="6B3FA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ounded Rectangle 34"/>
            <p:cNvSpPr/>
            <p:nvPr/>
          </p:nvSpPr>
          <p:spPr>
            <a:xfrm>
              <a:off x="4590002" y="2719161"/>
              <a:ext cx="2893219" cy="213420"/>
            </a:xfrm>
            <a:prstGeom prst="roundRect">
              <a:avLst>
                <a:gd name="adj" fmla="val 50000"/>
              </a:avLst>
            </a:prstGeom>
            <a:solidFill>
              <a:srgbClr val="F0E8FF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420088" y="2785748"/>
              <a:ext cx="7233047" cy="11524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working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6036612" y="2941118"/>
              <a:ext cx="0" cy="68294"/>
            </a:xfrm>
            <a:prstGeom prst="line">
              <a:avLst/>
            </a:prstGeom>
            <a:ln w="12805">
              <a:solidFill>
                <a:srgbClr val="6B3FA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4590002" y="3017949"/>
              <a:ext cx="2893219" cy="213420"/>
            </a:xfrm>
            <a:prstGeom prst="roundRect">
              <a:avLst>
                <a:gd name="adj" fmla="val 50000"/>
              </a:avLst>
            </a:prstGeom>
            <a:solidFill>
              <a:srgbClr val="F0E8FF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420088" y="3084536"/>
              <a:ext cx="7233047" cy="11524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input-required</a:t>
              </a:r>
            </a:p>
          </p:txBody>
        </p:sp>
        <p:cxnSp>
          <p:nvCxnSpPr>
            <p:cNvPr id="40" name="Connector 39"/>
            <p:cNvCxnSpPr/>
            <p:nvPr/>
          </p:nvCxnSpPr>
          <p:spPr>
            <a:xfrm>
              <a:off x="6036612" y="3239905"/>
              <a:ext cx="0" cy="68294"/>
            </a:xfrm>
            <a:prstGeom prst="line">
              <a:avLst/>
            </a:prstGeom>
            <a:ln w="12805">
              <a:solidFill>
                <a:srgbClr val="6B3FA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ounded Rectangle 40"/>
            <p:cNvSpPr/>
            <p:nvPr/>
          </p:nvSpPr>
          <p:spPr>
            <a:xfrm>
              <a:off x="4590002" y="3316736"/>
              <a:ext cx="2893219" cy="213420"/>
            </a:xfrm>
            <a:prstGeom prst="roundRect">
              <a:avLst>
                <a:gd name="adj" fmla="val 50000"/>
              </a:avLst>
            </a:prstGeom>
            <a:solidFill>
              <a:srgbClr val="F0E8FF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420088" y="3383323"/>
              <a:ext cx="7233047" cy="11524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completed</a:t>
              </a:r>
            </a:p>
          </p:txBody>
        </p:sp>
        <p:cxnSp>
          <p:nvCxnSpPr>
            <p:cNvPr id="43" name="Connector 42"/>
            <p:cNvCxnSpPr/>
            <p:nvPr/>
          </p:nvCxnSpPr>
          <p:spPr>
            <a:xfrm>
              <a:off x="3562910" y="3338078"/>
              <a:ext cx="998160" cy="64026"/>
            </a:xfrm>
            <a:prstGeom prst="line">
              <a:avLst/>
            </a:prstGeom>
            <a:ln w="12805">
              <a:solidFill>
                <a:srgbClr val="6B3FA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 flipV="1">
              <a:off x="7512153" y="3338078"/>
              <a:ext cx="853500" cy="64026"/>
            </a:xfrm>
            <a:prstGeom prst="line">
              <a:avLst/>
            </a:prstGeom>
            <a:ln w="12805">
              <a:solidFill>
                <a:srgbClr val="0078D4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44"/>
            <p:cNvSpPr/>
            <p:nvPr/>
          </p:nvSpPr>
          <p:spPr>
            <a:xfrm>
              <a:off x="973479" y="3786259"/>
              <a:ext cx="4990802" cy="1280517"/>
            </a:xfrm>
            <a:prstGeom prst="roundRect">
              <a:avLst>
                <a:gd name="adj" fmla="val 5333"/>
              </a:avLst>
            </a:prstGeom>
            <a:solidFill>
              <a:srgbClr val="EAF3FB"/>
            </a:solidFill>
            <a:ln w="10670">
              <a:solidFill>
                <a:srgbClr val="0078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190470" y="3897066"/>
              <a:ext cx="7233047" cy="126771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003B6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THE AGENT CARD  ·  capability advertisement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90470" y="4047655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 public JSON descriptor a remote agent serves so others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190470" y="4158633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can discover and invoke it — no shared code required.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335131" y="4367016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003B6F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{  "name": "invoice-reconciler",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335131" y="4495068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003B6F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   "skills": ["match", "flag-exceptions"],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335131" y="4623120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003B6F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   "endpoint": "https://…/a2a",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335131" y="4751171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003B6F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   "auth": "oauth2",  "streaming": true }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90470" y="4921907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Modalities negotiated per task: text · forms · files · streams.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6181273" y="3786259"/>
              <a:ext cx="5034201" cy="1280517"/>
            </a:xfrm>
            <a:prstGeom prst="roundRect">
              <a:avLst>
                <a:gd name="adj" fmla="val 5333"/>
              </a:avLst>
            </a:prstGeom>
            <a:solidFill>
              <a:srgbClr val="F0E8FF"/>
            </a:solidFill>
            <a:ln w="10670">
              <a:solidFill>
                <a:srgbClr val="4024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398264" y="3897066"/>
              <a:ext cx="7233047" cy="126771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A2A + MCP  ·  they compose, not compete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398264" y="4081802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A2A  — horizontal: agent ⇄ agent delegation &amp; negotiation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398264" y="4201317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across trust and vendor boundaries.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398264" y="4363516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MCP  — vertical: agent → tools &amp; resources it calls directly.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398264" y="4508641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 single agent is an A2A server to its callers and an MCP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398264" y="4619620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client to its tools — simultaneously.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6398264" y="4810673"/>
              <a:ext cx="4600218" cy="187809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528459" y="4867186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peer ⇄ [A2A] ⇄ AGENT → [MCP] → tools</a:t>
              </a: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968486" y="6147130"/>
            <a:ext cx="7233047" cy="1094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8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A2A turns isolated agents into a collaborating workforce — task delegation with identity, negotiation and streaming built in.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kumimoji="0" lang="en-US" sz="10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 &amp; Memory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12064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the agent coherent across steps and sessions — without blowing the budget.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4B3F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MEMORY  ·  A LAYERED STATE HIERARCHY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81716" y="6096673"/>
            <a:ext cx="7233047" cy="1094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Compaction is a first-class harness policy: what to keep, what to summarize, what to offload — decided by the harness, logged for audit.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EACE6A8-FCFE-6EFE-9E89-D32F631AA101}"/>
              </a:ext>
            </a:extLst>
          </p:cNvPr>
          <p:cNvGrpSpPr/>
          <p:nvPr/>
        </p:nvGrpSpPr>
        <p:grpSpPr>
          <a:xfrm>
            <a:off x="-3281523" y="1469511"/>
            <a:ext cx="14967555" cy="4195302"/>
            <a:chOff x="-2411587" y="1834665"/>
            <a:chExt cx="13142265" cy="2983015"/>
          </a:xfrm>
        </p:grpSpPr>
        <p:sp>
          <p:nvSpPr>
            <p:cNvPr id="14" name="TextBox 13"/>
            <p:cNvSpPr txBox="1"/>
            <p:nvPr/>
          </p:nvSpPr>
          <p:spPr>
            <a:xfrm>
              <a:off x="973479" y="1834665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Context management is the tax of implicit shared state — six memory types, each with provenance and staleness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73479" y="2121587"/>
              <a:ext cx="6365081" cy="38415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0670">
              <a:solidFill>
                <a:srgbClr val="0078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73479" y="2121587"/>
              <a:ext cx="462915" cy="384155"/>
            </a:xfrm>
            <a:prstGeom prst="roundRect">
              <a:avLst>
                <a:gd name="adj" fmla="val 18750"/>
              </a:avLst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-2411587" y="2238540"/>
              <a:ext cx="7233047" cy="17287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81055" y="2203284"/>
              <a:ext cx="7233047" cy="13253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Working memory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81055" y="2352336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5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the live context window — current task state inside the loop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-39148" y="2231284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volatile · per-step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73479" y="2565499"/>
              <a:ext cx="6365081" cy="38415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0670">
              <a:solidFill>
                <a:srgbClr val="00B29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73479" y="2565499"/>
              <a:ext cx="462915" cy="384155"/>
            </a:xfrm>
            <a:prstGeom prst="roundRect">
              <a:avLst>
                <a:gd name="adj" fmla="val 18750"/>
              </a:avLst>
            </a:prstGeom>
            <a:solidFill>
              <a:srgbClr val="00B2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-2411587" y="2682453"/>
              <a:ext cx="7233047" cy="17287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81055" y="2647196"/>
              <a:ext cx="7233047" cy="13253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00B294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Semantic memory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81055" y="2796248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5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repository / knowledge retrieval — RAG, BM25, embeddings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-39148" y="2675197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AutoCodeRover · RepoCoder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73479" y="3009412"/>
              <a:ext cx="6365081" cy="38415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0670">
              <a:solidFill>
                <a:srgbClr val="E65C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73479" y="3009412"/>
              <a:ext cx="462915" cy="384155"/>
            </a:xfrm>
            <a:prstGeom prst="roundRect">
              <a:avLst>
                <a:gd name="adj" fmla="val 18750"/>
              </a:avLst>
            </a:prstGeom>
            <a:solidFill>
              <a:srgbClr val="E65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-2411587" y="3126366"/>
              <a:ext cx="7233047" cy="17287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581055" y="3091109"/>
              <a:ext cx="7233047" cy="13253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E65C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Experiential memory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581055" y="3240161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5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past task trajectories &amp; outcomes, replayed for reuse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-39148" y="3119109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trace store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73479" y="3453324"/>
              <a:ext cx="6365081" cy="38415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0670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973479" y="3453324"/>
              <a:ext cx="462915" cy="384155"/>
            </a:xfrm>
            <a:prstGeom prst="roundRect">
              <a:avLst>
                <a:gd name="adj" fmla="val 18750"/>
              </a:avLst>
            </a:prstGeom>
            <a:solidFill>
              <a:srgbClr val="6B3F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-2411587" y="3570278"/>
              <a:ext cx="7233047" cy="17287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581055" y="3535021"/>
              <a:ext cx="7233047" cy="13253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Long-term memory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581055" y="3684074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5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durable facts, threads, evolving skill libraries across sessions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-39148" y="3563022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persistent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973479" y="3897237"/>
              <a:ext cx="6365081" cy="38415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0670">
              <a:solidFill>
                <a:srgbClr val="4024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973479" y="3897237"/>
              <a:ext cx="462915" cy="384155"/>
            </a:xfrm>
            <a:prstGeom prst="roundRect">
              <a:avLst>
                <a:gd name="adj" fmla="val 18750"/>
              </a:avLst>
            </a:prstGeom>
            <a:solidFill>
              <a:srgbClr val="4024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-2411587" y="4014191"/>
              <a:ext cx="7233047" cy="17287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581055" y="3978934"/>
              <a:ext cx="7233047" cy="13253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Multi-agent memory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581055" y="4127986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5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shared interaction history — requires synchronization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-39148" y="4006935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blackboard · locks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73479" y="4341150"/>
              <a:ext cx="6365081" cy="38415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0670">
              <a:solidFill>
                <a:srgbClr val="003B6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73479" y="4341150"/>
              <a:ext cx="462915" cy="384155"/>
            </a:xfrm>
            <a:prstGeom prst="roundRect">
              <a:avLst>
                <a:gd name="adj" fmla="val 18750"/>
              </a:avLst>
            </a:prstGeom>
            <a:solidFill>
              <a:srgbClr val="003B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-2411587" y="4458104"/>
              <a:ext cx="7233047" cy="17287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581055" y="4422847"/>
              <a:ext cx="7233047" cy="13253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003B6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Compaction / offload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581055" y="4571899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5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summarize · selectively retain · offload to external stores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-39148" y="4450847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fit the budget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2E734BC-5B94-1514-296D-9248421C6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26619" y="2104357"/>
              <a:ext cx="3004059" cy="2713323"/>
            </a:xfrm>
            <a:prstGeom prst="rect">
              <a:avLst/>
            </a:prstGeom>
          </p:spPr>
        </p:pic>
      </p:grpSp>
      <p:sp>
        <p:nvSpPr>
          <p:cNvPr id="77" name="TextBox 7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kumimoji="0" lang="en-US" sz="10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Sandboxing &amp; Session Isolation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12064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 the blast radius: isolate execution, gate permissions, reclaim per session.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4B3F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SANDBOXING &amp; SESSION ISOLATION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C791949-1CB2-2B53-5E50-B880F8FA5229}"/>
              </a:ext>
            </a:extLst>
          </p:cNvPr>
          <p:cNvGrpSpPr/>
          <p:nvPr/>
        </p:nvGrpSpPr>
        <p:grpSpPr>
          <a:xfrm>
            <a:off x="-381033" y="1370332"/>
            <a:ext cx="15872045" cy="5086036"/>
            <a:chOff x="-183809" y="1658039"/>
            <a:chExt cx="14871145" cy="4001787"/>
          </a:xfrm>
        </p:grpSpPr>
        <p:sp>
          <p:nvSpPr>
            <p:cNvPr id="13" name="TextBox 12"/>
            <p:cNvSpPr txBox="1"/>
            <p:nvPr/>
          </p:nvSpPr>
          <p:spPr>
            <a:xfrm>
              <a:off x="973479" y="1658039"/>
              <a:ext cx="7233047" cy="17287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50" b="1" i="0" u="none" strike="noStrike" kern="1200" cap="none" spc="33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SANDBOXING &amp; SESSION ISOLATION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73479" y="1834665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Permissioned execution contains the blast radius — every side effect is isolated and reversible until verified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73479" y="2121587"/>
              <a:ext cx="5207794" cy="2390299"/>
            </a:xfrm>
            <a:prstGeom prst="roundRect">
              <a:avLst>
                <a:gd name="adj" fmla="val 3214"/>
              </a:avLst>
            </a:prstGeom>
            <a:solidFill>
              <a:srgbClr val="FBECEC"/>
            </a:solidFill>
            <a:ln w="10670">
              <a:solidFill>
                <a:srgbClr val="D1343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190470" y="2222321"/>
              <a:ext cx="7233047" cy="11524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D1343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UNTRUSTED  ·  agent-generated code &amp; tool calls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335131" y="2420374"/>
              <a:ext cx="4484489" cy="1280517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8536">
              <a:solidFill>
                <a:srgbClr val="D1343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-183809" y="2495498"/>
              <a:ext cx="7233047" cy="11524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EPHEMERAL SANDBOX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-183809" y="2629013"/>
              <a:ext cx="7233047" cy="9219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per-session · destroyed on exit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986105" y="2855749"/>
              <a:ext cx="2893219" cy="733908"/>
            </a:xfrm>
            <a:prstGeom prst="roundRect">
              <a:avLst>
                <a:gd name="adj" fmla="val 7777"/>
              </a:avLst>
            </a:prstGeom>
            <a:gradFill rotWithShape="1">
              <a:gsLst>
                <a:gs pos="0">
                  <a:srgbClr val="40247B"/>
                </a:gs>
                <a:gs pos="100000">
                  <a:srgbClr val="6B3FA0"/>
                </a:gs>
              </a:gsLst>
              <a:lin ang="1890000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-183809" y="2906800"/>
              <a:ext cx="7233047" cy="126771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nsolas"/>
                  <a:ea typeface="+mn-ea"/>
                  <a:cs typeface="+mn-cs"/>
                </a:rPr>
                <a:t>agent process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-183809" y="3095036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E8DAE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generates &amp; runs code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-183809" y="3214551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E8DAE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reads session state only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-183809" y="3334066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E8DAE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no ambient credentials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407462" y="3786259"/>
              <a:ext cx="1012627" cy="256103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 w="6402">
              <a:solidFill>
                <a:srgbClr val="D1343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508724" y="3853273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1" i="0" u="none" strike="noStrike" kern="1200" cap="none" spc="0" normalizeH="0" baseline="0" noProof="0">
                  <a:ln>
                    <a:noFill/>
                  </a:ln>
                  <a:solidFill>
                    <a:srgbClr val="D1343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CPU / mem cap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506885" y="3786259"/>
              <a:ext cx="1012627" cy="256103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 w="6402">
              <a:solidFill>
                <a:srgbClr val="D1343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608147" y="3853273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D1343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wall-clock</a:t>
              </a:r>
              <a:r>
                <a:rPr kumimoji="0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D1343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TTL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606308" y="3786259"/>
              <a:ext cx="1012627" cy="256103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 w="6402">
              <a:solidFill>
                <a:srgbClr val="D1343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707571" y="3853273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D1343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egress deny-list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705731" y="3786259"/>
              <a:ext cx="1012627" cy="256103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 w="6402">
              <a:solidFill>
                <a:srgbClr val="D1343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806994" y="3853273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D1343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read-only FS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90470" y="4238964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Isolation boundaries: container · microVM · OS-level perms · desktop VM —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90470" y="4349943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 cost/security choice the harness makes per workload.</a:t>
              </a:r>
            </a:p>
          </p:txBody>
        </p:sp>
        <p:sp>
          <p:nvSpPr>
            <p:cNvPr id="5" name="Freeform 4"/>
            <p:cNvSpPr/>
            <p:nvPr/>
          </p:nvSpPr>
          <p:spPr>
            <a:xfrm>
              <a:off x="6325934" y="2761845"/>
              <a:ext cx="506313" cy="896362"/>
            </a:xfrm>
            <a:custGeom>
              <a:avLst/>
              <a:gdLst/>
              <a:ahLst/>
              <a:cxnLst/>
              <a:rect l="l" t="t" r="r" b="b"/>
              <a:pathLst>
                <a:path w="506313" h="896362">
                  <a:moveTo>
                    <a:pt x="0" y="0"/>
                  </a:moveTo>
                  <a:lnTo>
                    <a:pt x="506313" y="170736"/>
                  </a:lnTo>
                  <a:lnTo>
                    <a:pt x="506313" y="725627"/>
                  </a:lnTo>
                  <a:lnTo>
                    <a:pt x="0" y="896362"/>
                  </a:lnTo>
                  <a:close/>
                </a:path>
              </a:pathLst>
            </a:custGeom>
            <a:solidFill>
              <a:srgbClr val="E65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962567" y="3089145"/>
              <a:ext cx="7233047" cy="149821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962567" y="3259198"/>
              <a:ext cx="7233047" cy="80673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gate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62567" y="3733758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65C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permission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578764" y="3819126"/>
              <a:ext cx="1994304" cy="900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65C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boundary</a:t>
              </a:r>
            </a:p>
          </p:txBody>
        </p:sp>
        <p:cxnSp>
          <p:nvCxnSpPr>
            <p:cNvPr id="39" name="Connector 38"/>
            <p:cNvCxnSpPr>
              <a:cxnSpLocks/>
            </p:cNvCxnSpPr>
            <p:nvPr/>
          </p:nvCxnSpPr>
          <p:spPr>
            <a:xfrm flipV="1">
              <a:off x="5819620" y="3210026"/>
              <a:ext cx="462915" cy="21342"/>
            </a:xfrm>
            <a:prstGeom prst="line">
              <a:avLst/>
            </a:prstGeom>
            <a:ln w="14939">
              <a:solidFill>
                <a:srgbClr val="E65C0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>
              <a:cxnSpLocks/>
            </p:cNvCxnSpPr>
            <p:nvPr/>
          </p:nvCxnSpPr>
          <p:spPr>
            <a:xfrm>
              <a:off x="6846713" y="3210026"/>
              <a:ext cx="202525" cy="0"/>
            </a:xfrm>
            <a:prstGeom prst="line">
              <a:avLst/>
            </a:prstGeom>
            <a:ln w="14939">
              <a:solidFill>
                <a:srgbClr val="107C1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ounded Rectangle 40"/>
            <p:cNvSpPr/>
            <p:nvPr/>
          </p:nvSpPr>
          <p:spPr>
            <a:xfrm>
              <a:off x="7049238" y="2121587"/>
              <a:ext cx="4166235" cy="2390299"/>
            </a:xfrm>
            <a:prstGeom prst="roundRect">
              <a:avLst>
                <a:gd name="adj" fmla="val 3214"/>
              </a:avLst>
            </a:prstGeom>
            <a:solidFill>
              <a:srgbClr val="EAF6EC"/>
            </a:solidFill>
            <a:ln w="10670">
              <a:solidFill>
                <a:srgbClr val="107C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266230" y="2222321"/>
              <a:ext cx="7233047" cy="115247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107C1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TRUSTED  ·  production systems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7266230" y="2463058"/>
              <a:ext cx="3732252" cy="392692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8536">
              <a:solidFill>
                <a:srgbClr val="107C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454289" y="2551755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107C1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Databases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454289" y="2693807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writes staged, applied post-verify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7266230" y="2932581"/>
              <a:ext cx="3732252" cy="392692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8536">
              <a:solidFill>
                <a:srgbClr val="107C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454289" y="3021278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107C1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Prod APIs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54289" y="3163330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scoped tokens, per-action approval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266230" y="3402104"/>
              <a:ext cx="3732252" cy="392692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8536">
              <a:solidFill>
                <a:srgbClr val="107C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454289" y="3490801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107C1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Secrets / KMS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454289" y="3632853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never mounted in the sandbox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7266230" y="3871627"/>
              <a:ext cx="3732252" cy="392692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8536">
              <a:solidFill>
                <a:srgbClr val="107C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454289" y="3960324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107C1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File systems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454289" y="4102376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diffs reviewed before commit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002411" y="4888698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Permissioned state transition: a bad action is contained, not catastrophic. Irreversible effects are blocked until a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02411" y="5008213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deterministic verifier passes — so failure is safe by construction, and every session is isolated from every other.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973479" y="5403723"/>
              <a:ext cx="10241994" cy="256103"/>
            </a:xfrm>
            <a:prstGeom prst="roundRect">
              <a:avLst>
                <a:gd name="adj" fmla="val 20000"/>
              </a:avLst>
            </a:prstGeom>
            <a:solidFill>
              <a:srgbClr val="F0E8FF"/>
            </a:solidFill>
            <a:ln w="8536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90470" y="5502920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Session isolation:  no cross-session state or credential leakage · resources reclaimed on exit · one compromised run cannot touch another.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kumimoji="0" lang="en-US" sz="10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SCALING OUT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Dynamic Sub-Agent Delegation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12064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Spawn specialists at runtime, isolate their context, verify, then fan results back in.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4B3F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SUB-AGENT FAN-OUT / FAN-IN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3479" y="1658039"/>
            <a:ext cx="7233047" cy="17287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33" normalizeH="0" baseline="0" noProof="0">
                <a:ln>
                  <a:noFill/>
                </a:ln>
                <a:solidFill>
                  <a:srgbClr val="40247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DYNAMIC SUB-AGENT DELEGATION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479" y="1834665"/>
            <a:ext cx="7233047" cy="12100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Spawn specialists at runtime, run them in isolated context, verify, then fan results back 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7672" y="2249638"/>
            <a:ext cx="2169914" cy="384155"/>
          </a:xfrm>
          <a:prstGeom prst="roundRect">
            <a:avLst>
              <a:gd name="adj" fmla="val 15555"/>
            </a:avLst>
          </a:prstGeom>
          <a:gradFill rotWithShape="1">
            <a:gsLst>
              <a:gs pos="0">
                <a:srgbClr val="40247B"/>
              </a:gs>
              <a:gs pos="100000">
                <a:srgbClr val="6B3FA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06301" y="2315940"/>
            <a:ext cx="7233047" cy="12677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ORCHESTRATOR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6105" y="2487388"/>
            <a:ext cx="7233047" cy="8643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E8DAE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decomposes · delegates · synthesizes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5178" y="3188684"/>
            <a:ext cx="1808262" cy="51220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670">
            <a:solidFill>
              <a:srgbClr val="00B2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95178" y="3188684"/>
            <a:ext cx="1808262" cy="162199"/>
          </a:xfrm>
          <a:prstGeom prst="roundRect">
            <a:avLst>
              <a:gd name="adj" fmla="val 31578"/>
            </a:avLst>
          </a:prstGeom>
          <a:solidFill>
            <a:srgbClr val="00B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-1717215" y="3206221"/>
            <a:ext cx="7233047" cy="11524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Retriever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1717215" y="3419433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gather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1717215" y="3557985"/>
            <a:ext cx="7233047" cy="8067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own context window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899309" y="2642330"/>
            <a:ext cx="3703320" cy="520744"/>
          </a:xfrm>
          <a:prstGeom prst="line">
            <a:avLst/>
          </a:prstGeom>
          <a:ln w="11951">
            <a:solidFill>
              <a:srgbClr val="6B3F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99309" y="3717965"/>
            <a:ext cx="3703320" cy="495133"/>
          </a:xfrm>
          <a:prstGeom prst="line">
            <a:avLst/>
          </a:prstGeom>
          <a:ln w="9390">
            <a:solidFill>
              <a:srgbClr val="6B3F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092762" y="3188684"/>
            <a:ext cx="1808262" cy="51220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67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92762" y="3188684"/>
            <a:ext cx="1808262" cy="162199"/>
          </a:xfrm>
          <a:prstGeom prst="roundRect">
            <a:avLst>
              <a:gd name="adj" fmla="val 31578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632364" y="3215457"/>
            <a:ext cx="2789381" cy="14174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369" y="3419433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write patch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0369" y="3557985"/>
            <a:ext cx="7233047" cy="8067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own context window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996892" y="2642330"/>
            <a:ext cx="1605737" cy="520744"/>
          </a:xfrm>
          <a:prstGeom prst="line">
            <a:avLst/>
          </a:prstGeom>
          <a:ln w="11951">
            <a:solidFill>
              <a:srgbClr val="6B3F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996892" y="3717965"/>
            <a:ext cx="1605737" cy="495133"/>
          </a:xfrm>
          <a:prstGeom prst="line">
            <a:avLst/>
          </a:prstGeom>
          <a:ln w="9390">
            <a:solidFill>
              <a:srgbClr val="6B3F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190345" y="3188684"/>
            <a:ext cx="1808262" cy="51220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670">
            <a:solidFill>
              <a:srgbClr val="E6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190345" y="3188684"/>
            <a:ext cx="1808262" cy="162199"/>
          </a:xfrm>
          <a:prstGeom prst="roundRect">
            <a:avLst>
              <a:gd name="adj" fmla="val 31578"/>
            </a:avLst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77953" y="3206221"/>
            <a:ext cx="7233047" cy="11524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Tester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77953" y="3419433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run &amp; 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77953" y="3557985"/>
            <a:ext cx="7233047" cy="8067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own context window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02629" y="2642330"/>
            <a:ext cx="491847" cy="520744"/>
          </a:xfrm>
          <a:prstGeom prst="line">
            <a:avLst/>
          </a:prstGeom>
          <a:ln w="11951">
            <a:solidFill>
              <a:srgbClr val="6B3F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5602629" y="3717965"/>
            <a:ext cx="491847" cy="495133"/>
          </a:xfrm>
          <a:prstGeom prst="line">
            <a:avLst/>
          </a:prstGeom>
          <a:ln w="9390">
            <a:solidFill>
              <a:srgbClr val="6B3F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287929" y="3188684"/>
            <a:ext cx="1808262" cy="51220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67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87929" y="3188684"/>
            <a:ext cx="1808262" cy="162199"/>
          </a:xfrm>
          <a:prstGeom prst="roundRect">
            <a:avLst>
              <a:gd name="adj" fmla="val 31578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389091" y="3215456"/>
            <a:ext cx="1607127" cy="16551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Critic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5536" y="3419433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adversarial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5536" y="3557985"/>
            <a:ext cx="7233047" cy="8067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own context window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02629" y="2642330"/>
            <a:ext cx="2589431" cy="520744"/>
          </a:xfrm>
          <a:prstGeom prst="line">
            <a:avLst/>
          </a:prstGeom>
          <a:ln w="11951">
            <a:solidFill>
              <a:srgbClr val="6B3F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5602629" y="3717965"/>
            <a:ext cx="2589431" cy="495133"/>
          </a:xfrm>
          <a:prstGeom prst="line">
            <a:avLst/>
          </a:prstGeom>
          <a:ln w="9390">
            <a:solidFill>
              <a:srgbClr val="6B3F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385512" y="3188684"/>
            <a:ext cx="1808262" cy="51220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670">
            <a:solidFill>
              <a:srgbClr val="4024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385512" y="3188684"/>
            <a:ext cx="1808262" cy="162199"/>
          </a:xfrm>
          <a:prstGeom prst="roundRect">
            <a:avLst>
              <a:gd name="adj" fmla="val 31578"/>
            </a:avLst>
          </a:prstGeom>
          <a:solidFill>
            <a:srgbClr val="40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73120" y="3206221"/>
            <a:ext cx="7233047" cy="11524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Summarizer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3120" y="3419433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fan-in synthesis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3120" y="3557985"/>
            <a:ext cx="7233047" cy="8067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own context window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602629" y="2642330"/>
            <a:ext cx="4687014" cy="520744"/>
          </a:xfrm>
          <a:prstGeom prst="line">
            <a:avLst/>
          </a:prstGeom>
          <a:ln w="11951">
            <a:solidFill>
              <a:srgbClr val="6B3F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5602629" y="3717965"/>
            <a:ext cx="4687014" cy="495133"/>
          </a:xfrm>
          <a:prstGeom prst="line">
            <a:avLst/>
          </a:prstGeom>
          <a:ln w="9390">
            <a:solidFill>
              <a:srgbClr val="6B3F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95178" y="4127730"/>
            <a:ext cx="10198596" cy="21342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 w="8536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477953" y="4197817"/>
            <a:ext cx="7233047" cy="1094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40247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FAN-IN  ·  verified results merged into a single answer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3479" y="4469201"/>
            <a:ext cx="5063133" cy="810994"/>
          </a:xfrm>
          <a:prstGeom prst="roundRect">
            <a:avLst>
              <a:gd name="adj" fmla="val 7368"/>
            </a:avLst>
          </a:prstGeom>
          <a:solidFill>
            <a:srgbClr val="EAF3FB"/>
          </a:solidFill>
          <a:ln w="1067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90470" y="4578472"/>
            <a:ext cx="7233047" cy="11524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3B6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INTERACTION MODES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35131" y="4717024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Collaborative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54071" y="4717024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agents jointly build one artifact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35131" y="4845076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Critique &amp; repair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54071" y="4845076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reviewer flags · repairer fixes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35131" y="4973128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Adversarial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54071" y="4973128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red-team tries to break the output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35131" y="5101179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Debate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54071" y="5101179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competing solutions, resolved by execution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53603" y="4469201"/>
            <a:ext cx="4961870" cy="810994"/>
          </a:xfrm>
          <a:prstGeom prst="roundRect">
            <a:avLst>
              <a:gd name="adj" fmla="val 7368"/>
            </a:avLst>
          </a:prstGeom>
          <a:solidFill>
            <a:srgbClr val="F0E8FF"/>
          </a:solidFill>
          <a:ln w="10670">
            <a:solidFill>
              <a:srgbClr val="4024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70594" y="4578472"/>
            <a:ext cx="7233047" cy="11524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40247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WHY DELEGATE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0594" y="4730598"/>
            <a:ext cx="7233047" cy="10372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One giant prompt is brittle: context collides,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70594" y="4845844"/>
            <a:ext cx="7233047" cy="10372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attention dilutes, failures cascade. Sub-agents give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70594" y="4961091"/>
            <a:ext cx="7233047" cy="10372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each specialist a clean, bounded context and 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0594" y="5076337"/>
            <a:ext cx="7233047" cy="10372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isolated failure domain — parallelism scales complex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work without a monolithic prompt.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4B3F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MULTI-AGENT SHARED STATE &amp; TOPOLOGY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3479" y="1658039"/>
            <a:ext cx="7233047" cy="17287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3" normalizeH="0" baseline="0" noProof="0">
                <a:ln>
                  <a:noFill/>
                </a:ln>
                <a:solidFill>
                  <a:srgbClr val="40247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MULTI-AGENT SHARED STATE &amp; TOPOLOGY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479" y="1834665"/>
            <a:ext cx="7233047" cy="12100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hard part isn't spawning agents — it's the shared state they read and write. Formality drives correctness.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90470" y="2249638"/>
            <a:ext cx="3037880" cy="1427649"/>
          </a:xfrm>
          <a:prstGeom prst="roundRect">
            <a:avLst>
              <a:gd name="adj" fmla="val 4666"/>
            </a:avLst>
          </a:prstGeom>
          <a:solidFill>
            <a:srgbClr val="FFFFFF"/>
          </a:solidFill>
          <a:ln w="8536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-907113" y="2324762"/>
            <a:ext cx="7233047" cy="11524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40247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Shared blackboard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30766" y="2761845"/>
            <a:ext cx="1157288" cy="298787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40247B"/>
              </a:gs>
              <a:gs pos="100000">
                <a:srgbClr val="6B3FA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-907113" y="2881616"/>
            <a:ext cx="7233047" cy="979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blackboard</a:t>
            </a:r>
          </a:p>
        </p:txBody>
      </p:sp>
      <p:sp>
        <p:nvSpPr>
          <p:cNvPr id="19" name="Oval 18"/>
          <p:cNvSpPr/>
          <p:nvPr/>
        </p:nvSpPr>
        <p:spPr>
          <a:xfrm>
            <a:off x="1465326" y="2539889"/>
            <a:ext cx="187809" cy="187809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-1992070" y="2603403"/>
            <a:ext cx="7233047" cy="9219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24453" y="2633793"/>
            <a:ext cx="1084957" cy="277446"/>
          </a:xfrm>
          <a:prstGeom prst="line">
            <a:avLst/>
          </a:prstGeom>
          <a:ln w="10670">
            <a:solidFill>
              <a:srgbClr val="C9BE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635240" y="2539889"/>
            <a:ext cx="187809" cy="187809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7844" y="2603403"/>
            <a:ext cx="7233047" cy="9219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709410" y="2633793"/>
            <a:ext cx="1084957" cy="277446"/>
          </a:xfrm>
          <a:prstGeom prst="line">
            <a:avLst/>
          </a:prstGeom>
          <a:ln w="10670">
            <a:solidFill>
              <a:srgbClr val="C9BE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465326" y="3222831"/>
            <a:ext cx="187809" cy="187809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-1992070" y="3286345"/>
            <a:ext cx="7233047" cy="9219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624453" y="2911239"/>
            <a:ext cx="1084957" cy="405497"/>
          </a:xfrm>
          <a:prstGeom prst="line">
            <a:avLst/>
          </a:prstGeom>
          <a:ln w="10670">
            <a:solidFill>
              <a:srgbClr val="C9BE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635240" y="3222831"/>
            <a:ext cx="187809" cy="187809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77844" y="3286345"/>
            <a:ext cx="7233047" cy="9219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709410" y="2911239"/>
            <a:ext cx="1084957" cy="405497"/>
          </a:xfrm>
          <a:prstGeom prst="line">
            <a:avLst/>
          </a:prstGeom>
          <a:ln w="10670">
            <a:solidFill>
              <a:srgbClr val="C9BE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-907113" y="3409360"/>
            <a:ext cx="7233047" cy="8643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central mutable store · all read/write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5341" y="2249638"/>
            <a:ext cx="3037880" cy="1427649"/>
          </a:xfrm>
          <a:prstGeom prst="roundRect">
            <a:avLst>
              <a:gd name="adj" fmla="val 4666"/>
            </a:avLst>
          </a:prstGeom>
          <a:solidFill>
            <a:srgbClr val="FFFFFF"/>
          </a:solidFill>
          <a:ln w="8536">
            <a:solidFill>
              <a:srgbClr val="00B2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347758" y="2324762"/>
            <a:ext cx="7233047" cy="11524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A8F77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Parallel branches + merge</a:t>
            </a:r>
          </a:p>
        </p:txBody>
      </p:sp>
      <p:sp>
        <p:nvSpPr>
          <p:cNvPr id="34" name="Oval 33"/>
          <p:cNvSpPr/>
          <p:nvPr/>
        </p:nvSpPr>
        <p:spPr>
          <a:xfrm>
            <a:off x="4821710" y="2795992"/>
            <a:ext cx="187809" cy="187809"/>
          </a:xfrm>
          <a:prstGeom prst="ellipse">
            <a:avLst/>
          </a:prstGeom>
          <a:solidFill>
            <a:srgbClr val="00B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805154" y="2539889"/>
            <a:ext cx="187809" cy="187809"/>
          </a:xfrm>
          <a:prstGeom prst="ellipse">
            <a:avLst/>
          </a:prstGeom>
          <a:solidFill>
            <a:srgbClr val="00B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5805154" y="2795992"/>
            <a:ext cx="187809" cy="187809"/>
          </a:xfrm>
          <a:prstGeom prst="ellipse">
            <a:avLst/>
          </a:prstGeom>
          <a:solidFill>
            <a:srgbClr val="00B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5805154" y="3052096"/>
            <a:ext cx="187809" cy="187809"/>
          </a:xfrm>
          <a:prstGeom prst="ellipse">
            <a:avLst/>
          </a:prstGeom>
          <a:solidFill>
            <a:srgbClr val="00B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6890111" y="2795992"/>
            <a:ext cx="187809" cy="187809"/>
          </a:xfrm>
          <a:prstGeom prst="ellipse">
            <a:avLst/>
          </a:prstGeom>
          <a:solidFill>
            <a:srgbClr val="00B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" name="Connector 38"/>
          <p:cNvCxnSpPr/>
          <p:nvPr/>
        </p:nvCxnSpPr>
        <p:spPr>
          <a:xfrm flipV="1">
            <a:off x="5023985" y="2633793"/>
            <a:ext cx="795635" cy="256104"/>
          </a:xfrm>
          <a:prstGeom prst="line">
            <a:avLst/>
          </a:prstGeom>
          <a:ln w="10670">
            <a:solidFill>
              <a:srgbClr val="0A8F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cxnSpLocks/>
            <a:stCxn id="35" idx="6"/>
          </p:cNvCxnSpPr>
          <p:nvPr/>
        </p:nvCxnSpPr>
        <p:spPr>
          <a:xfrm>
            <a:off x="5992963" y="2633794"/>
            <a:ext cx="911614" cy="256103"/>
          </a:xfrm>
          <a:prstGeom prst="line">
            <a:avLst/>
          </a:prstGeom>
          <a:ln w="10670">
            <a:solidFill>
              <a:srgbClr val="0A8F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023985" y="2889897"/>
            <a:ext cx="795635" cy="0"/>
          </a:xfrm>
          <a:prstGeom prst="line">
            <a:avLst/>
          </a:prstGeom>
          <a:ln w="10670">
            <a:solidFill>
              <a:srgbClr val="0A8F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cxnSpLocks/>
          </p:cNvCxnSpPr>
          <p:nvPr/>
        </p:nvCxnSpPr>
        <p:spPr>
          <a:xfrm>
            <a:off x="5992963" y="2889897"/>
            <a:ext cx="911614" cy="0"/>
          </a:xfrm>
          <a:prstGeom prst="line">
            <a:avLst/>
          </a:prstGeom>
          <a:ln w="10670">
            <a:solidFill>
              <a:srgbClr val="0A8F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023985" y="2889897"/>
            <a:ext cx="795635" cy="256103"/>
          </a:xfrm>
          <a:prstGeom prst="line">
            <a:avLst/>
          </a:prstGeom>
          <a:ln w="10670">
            <a:solidFill>
              <a:srgbClr val="0A8F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cxnSpLocks/>
          </p:cNvCxnSpPr>
          <p:nvPr/>
        </p:nvCxnSpPr>
        <p:spPr>
          <a:xfrm flipV="1">
            <a:off x="5992962" y="2889897"/>
            <a:ext cx="911615" cy="258408"/>
          </a:xfrm>
          <a:prstGeom prst="line">
            <a:avLst/>
          </a:prstGeom>
          <a:ln w="10670">
            <a:solidFill>
              <a:srgbClr val="0A8F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347758" y="3409360"/>
            <a:ext cx="7233047" cy="8643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independent work · merge at sync points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00212" y="2249638"/>
            <a:ext cx="3037880" cy="1427649"/>
          </a:xfrm>
          <a:prstGeom prst="roundRect">
            <a:avLst>
              <a:gd name="adj" fmla="val 4666"/>
            </a:avLst>
          </a:prstGeom>
          <a:solidFill>
            <a:srgbClr val="FFFFFF"/>
          </a:solidFill>
          <a:ln w="8536">
            <a:solidFill>
              <a:srgbClr val="E6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602629" y="2324762"/>
            <a:ext cx="7233047" cy="11524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C24E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Hierarchical memory</a:t>
            </a:r>
          </a:p>
        </p:txBody>
      </p:sp>
      <p:sp>
        <p:nvSpPr>
          <p:cNvPr id="48" name="Oval 47"/>
          <p:cNvSpPr/>
          <p:nvPr/>
        </p:nvSpPr>
        <p:spPr>
          <a:xfrm>
            <a:off x="9125247" y="2507407"/>
            <a:ext cx="187809" cy="187809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8192060" y="3052096"/>
            <a:ext cx="187809" cy="187809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0" name="Connector 49"/>
          <p:cNvCxnSpPr/>
          <p:nvPr/>
        </p:nvCxnSpPr>
        <p:spPr>
          <a:xfrm flipH="1">
            <a:off x="8351187" y="2719161"/>
            <a:ext cx="867965" cy="332935"/>
          </a:xfrm>
          <a:prstGeom prst="line">
            <a:avLst/>
          </a:prstGeom>
          <a:ln w="10670">
            <a:solidFill>
              <a:srgbClr val="C24E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125246" y="3071853"/>
            <a:ext cx="187809" cy="187809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9219152" y="2719161"/>
            <a:ext cx="0" cy="332935"/>
          </a:xfrm>
          <a:prstGeom prst="line">
            <a:avLst/>
          </a:prstGeom>
          <a:ln w="10670">
            <a:solidFill>
              <a:srgbClr val="C24E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10058432" y="3060632"/>
            <a:ext cx="187809" cy="187809"/>
          </a:xfrm>
          <a:prstGeom prst="ellipse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9219152" y="2719161"/>
            <a:ext cx="867966" cy="332935"/>
          </a:xfrm>
          <a:prstGeom prst="line">
            <a:avLst/>
          </a:prstGeom>
          <a:ln w="10670">
            <a:solidFill>
              <a:srgbClr val="C24E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02629" y="3409360"/>
            <a:ext cx="7233047" cy="8643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local &amp; global scopes per agent tier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49706" y="4075997"/>
            <a:ext cx="7233047" cy="9219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state is just files — no sync; prone to stale views &amp; conflicts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49706" y="4340638"/>
            <a:ext cx="7233047" cy="9219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git as shared state; history = audit trail; merge = collision signal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49706" y="4605278"/>
            <a:ext cx="7233047" cy="9219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live running system is the state; observed via outcomes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49706" y="4869918"/>
            <a:ext cx="7233047" cy="9219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explicit structure with defined read/write (ACID-like) semantics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1465D8-F100-25DA-385A-345078071311}"/>
              </a:ext>
            </a:extLst>
          </p:cNvPr>
          <p:cNvGrpSpPr/>
          <p:nvPr/>
        </p:nvGrpSpPr>
        <p:grpSpPr>
          <a:xfrm>
            <a:off x="973479" y="4072859"/>
            <a:ext cx="15695712" cy="1686313"/>
            <a:chOff x="973479" y="3870641"/>
            <a:chExt cx="15695712" cy="1686313"/>
          </a:xfrm>
        </p:grpSpPr>
        <p:sp>
          <p:nvSpPr>
            <p:cNvPr id="56" name="Rounded Rectangle 55"/>
            <p:cNvSpPr/>
            <p:nvPr/>
          </p:nvSpPr>
          <p:spPr>
            <a:xfrm>
              <a:off x="973479" y="3870641"/>
              <a:ext cx="6220420" cy="1451253"/>
            </a:xfrm>
            <a:prstGeom prst="roundRect">
              <a:avLst>
                <a:gd name="adj" fmla="val 4117"/>
              </a:avLst>
            </a:prstGeom>
            <a:solidFill>
              <a:srgbClr val="EAF3FB"/>
            </a:solidFill>
            <a:ln w="10670">
              <a:solidFill>
                <a:srgbClr val="0078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190470" y="3976412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003B6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SHARED-STATE REPRESENTATION  ·  least → most formal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1190470" y="4212112"/>
              <a:ext cx="5786438" cy="21342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8536">
              <a:solidFill>
                <a:srgbClr val="D1343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1190470" y="4212112"/>
              <a:ext cx="72330" cy="213420"/>
            </a:xfrm>
            <a:prstGeom prst="roundRect">
              <a:avLst>
                <a:gd name="adj" fmla="val 50000"/>
              </a:avLst>
            </a:prstGeom>
            <a:solidFill>
              <a:srgbClr val="D134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378529" y="4250223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D1343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Implicit / file-only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1190470" y="4476753"/>
              <a:ext cx="5786438" cy="21342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8536">
              <a:solidFill>
                <a:srgbClr val="E65C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1190470" y="4476753"/>
              <a:ext cx="72330" cy="213420"/>
            </a:xfrm>
            <a:prstGeom prst="roundRect">
              <a:avLst>
                <a:gd name="adj" fmla="val 50000"/>
              </a:avLst>
            </a:prstGeom>
            <a:solidFill>
              <a:srgbClr val="E65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378529" y="4524099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E65C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Repository-based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1190470" y="4741393"/>
              <a:ext cx="5786438" cy="21342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8536">
              <a:solidFill>
                <a:srgbClr val="0078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1190470" y="4741393"/>
              <a:ext cx="72330" cy="213420"/>
            </a:xfrm>
            <a:prstGeom prst="roundRect">
              <a:avLst>
                <a:gd name="adj" fmla="val 50000"/>
              </a:avLst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378529" y="4788739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Execution-based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1190470" y="5006033"/>
              <a:ext cx="5786438" cy="21342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8536">
              <a:solidFill>
                <a:srgbClr val="107C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190470" y="5006033"/>
              <a:ext cx="72330" cy="213420"/>
            </a:xfrm>
            <a:prstGeom prst="roundRect">
              <a:avLst>
                <a:gd name="adj" fmla="val 50000"/>
              </a:avLst>
            </a:prstGeom>
            <a:solidFill>
              <a:srgbClr val="107C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378529" y="5062616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107C1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Blackboard / transactional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7410891" y="3870641"/>
              <a:ext cx="3804583" cy="1451253"/>
            </a:xfrm>
            <a:prstGeom prst="roundRect">
              <a:avLst>
                <a:gd name="adj" fmla="val 4117"/>
              </a:avLst>
            </a:prstGeom>
            <a:solidFill>
              <a:srgbClr val="F0E8FF"/>
            </a:solidFill>
            <a:ln w="10670">
              <a:solidFill>
                <a:srgbClr val="4024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627882" y="3976412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1" i="0" u="none" strike="noStrike" kern="1200" cap="none" spc="0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CONVERGENCE CRITERIA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627882" y="4140574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Correctness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436144" y="4144074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all tests pass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627882" y="4319847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Security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9436144" y="4323347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no vuln signatures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627882" y="4499119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Performance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436144" y="4502619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profiling targets met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627882" y="4678391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Score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9436144" y="4681892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reward threshold reached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627882" y="4857664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Consensus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9436144" y="4861164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agent majority agrees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627882" y="5036936"/>
              <a:ext cx="7233047" cy="103722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Implicit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9436144" y="5040436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no further changes proposed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973479" y="5447470"/>
              <a:ext cx="7233047" cy="10948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Key law: topology complexity is inversely correlated with shared-state formality — the more agents, the more you must formalize state.</a:t>
              </a:r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kumimoji="0" lang="en-US" sz="10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Guardrails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12064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sensors turn stochastic actions into pass/fail — the reliability layer.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4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6  ·  Verification &amp; Guardrails</a:t>
            </a:r>
            <a:endParaRPr lang="en-US" sz="2900"/>
          </a:p>
        </p:txBody>
      </p:sp>
      <p:sp>
        <p:nvSpPr>
          <p:cNvPr id="202" name="Shape 5">
            <a:extLst>
              <a:ext uri="{FF2B5EF4-FFF2-40B4-BE49-F238E27FC236}">
                <a16:creationId xmlns:a16="http://schemas.microsoft.com/office/drawing/2014/main" id="{BA3CE3EB-F5CC-DB1E-4B6E-A26A7729A3B9}"/>
              </a:ext>
            </a:extLst>
          </p:cNvPr>
          <p:cNvSpPr/>
          <p:nvPr/>
        </p:nvSpPr>
        <p:spPr>
          <a:xfrm>
            <a:off x="502920" y="1459262"/>
            <a:ext cx="2395728" cy="274320"/>
          </a:xfrm>
          <a:prstGeom prst="rect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Text 6">
            <a:extLst>
              <a:ext uri="{FF2B5EF4-FFF2-40B4-BE49-F238E27FC236}">
                <a16:creationId xmlns:a16="http://schemas.microsoft.com/office/drawing/2014/main" id="{2B1C5105-2F23-C65A-CA08-ABAE6A828C70}"/>
              </a:ext>
            </a:extLst>
          </p:cNvPr>
          <p:cNvSpPr/>
          <p:nvPr/>
        </p:nvSpPr>
        <p:spPr>
          <a:xfrm>
            <a:off x="502920" y="145926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VERIFICATION?</a:t>
            </a:r>
            <a:endParaRPr lang="en-US" sz="1050" dirty="0"/>
          </a:p>
        </p:txBody>
      </p:sp>
      <p:sp>
        <p:nvSpPr>
          <p:cNvPr id="204" name="Shape 7">
            <a:extLst>
              <a:ext uri="{FF2B5EF4-FFF2-40B4-BE49-F238E27FC236}">
                <a16:creationId xmlns:a16="http://schemas.microsoft.com/office/drawing/2014/main" id="{F6B66A9A-FE1B-39F9-6F3C-F2C4DD53B3C7}"/>
              </a:ext>
            </a:extLst>
          </p:cNvPr>
          <p:cNvSpPr/>
          <p:nvPr/>
        </p:nvSpPr>
        <p:spPr>
          <a:xfrm>
            <a:off x="502920" y="1733582"/>
            <a:ext cx="2395728" cy="868680"/>
          </a:xfrm>
          <a:prstGeom prst="rect">
            <a:avLst/>
          </a:prstGeom>
          <a:solidFill>
            <a:srgbClr val="F4F7FB"/>
          </a:solidFill>
          <a:ln w="9525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8">
            <a:extLst>
              <a:ext uri="{FF2B5EF4-FFF2-40B4-BE49-F238E27FC236}">
                <a16:creationId xmlns:a16="http://schemas.microsoft.com/office/drawing/2014/main" id="{6EFD7145-02A7-B7DD-B990-87CA259B43BA}"/>
              </a:ext>
            </a:extLst>
          </p:cNvPr>
          <p:cNvSpPr/>
          <p:nvPr/>
        </p:nvSpPr>
        <p:spPr>
          <a:xfrm>
            <a:off x="612648" y="1934750"/>
            <a:ext cx="457200" cy="457200"/>
          </a:xfrm>
          <a:prstGeom prst="ellipse">
            <a:avLst/>
          </a:prstGeom>
          <a:solidFill>
            <a:srgbClr val="E9F0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6" name="Image 1" descr="/tmp/ic_search_n.png">
            <a:extLst>
              <a:ext uri="{FF2B5EF4-FFF2-40B4-BE49-F238E27FC236}">
                <a16:creationId xmlns:a16="http://schemas.microsoft.com/office/drawing/2014/main" id="{AA7FBA74-AB43-1798-50D8-B6714CB3B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017046"/>
            <a:ext cx="292608" cy="292608"/>
          </a:xfrm>
          <a:prstGeom prst="rect">
            <a:avLst/>
          </a:prstGeom>
        </p:spPr>
      </p:pic>
      <p:sp>
        <p:nvSpPr>
          <p:cNvPr id="207" name="Text 9">
            <a:extLst>
              <a:ext uri="{FF2B5EF4-FFF2-40B4-BE49-F238E27FC236}">
                <a16:creationId xmlns:a16="http://schemas.microsoft.com/office/drawing/2014/main" id="{BA5C4826-74D1-EF86-58F4-1586B71E3239}"/>
              </a:ext>
            </a:extLst>
          </p:cNvPr>
          <p:cNvSpPr/>
          <p:nvPr/>
        </p:nvSpPr>
        <p:spPr>
          <a:xfrm>
            <a:off x="1161288" y="1761014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2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the harness layer that independently checks whether the agent’s output, actions, and outcomes satisfy the required success criteria using deterministic evidence—not the model’s self-claims.</a:t>
            </a:r>
            <a:endParaRPr lang="en-US" sz="820" dirty="0"/>
          </a:p>
        </p:txBody>
      </p:sp>
      <p:sp>
        <p:nvSpPr>
          <p:cNvPr id="208" name="Shape 10">
            <a:extLst>
              <a:ext uri="{FF2B5EF4-FFF2-40B4-BE49-F238E27FC236}">
                <a16:creationId xmlns:a16="http://schemas.microsoft.com/office/drawing/2014/main" id="{0E0A19DE-836C-B410-377B-32C764B0C2B8}"/>
              </a:ext>
            </a:extLst>
          </p:cNvPr>
          <p:cNvSpPr/>
          <p:nvPr/>
        </p:nvSpPr>
        <p:spPr>
          <a:xfrm>
            <a:off x="502920" y="2757710"/>
            <a:ext cx="2395728" cy="27432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9" name="Text 11">
            <a:extLst>
              <a:ext uri="{FF2B5EF4-FFF2-40B4-BE49-F238E27FC236}">
                <a16:creationId xmlns:a16="http://schemas.microsoft.com/office/drawing/2014/main" id="{09F9F2EF-7FC9-E3D7-CB25-524288F8D62E}"/>
              </a:ext>
            </a:extLst>
          </p:cNvPr>
          <p:cNvSpPr/>
          <p:nvPr/>
        </p:nvSpPr>
        <p:spPr>
          <a:xfrm>
            <a:off x="502920" y="275771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50" dirty="0"/>
          </a:p>
        </p:txBody>
      </p:sp>
      <p:pic>
        <p:nvPicPr>
          <p:cNvPr id="210" name="Image 2" descr="/tmp/ic_check_g.png">
            <a:extLst>
              <a:ext uri="{FF2B5EF4-FFF2-40B4-BE49-F238E27FC236}">
                <a16:creationId xmlns:a16="http://schemas.microsoft.com/office/drawing/2014/main" id="{69C92BF2-9EA9-466D-0AE9-DC8ABD43F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23470"/>
            <a:ext cx="155448" cy="155448"/>
          </a:xfrm>
          <a:prstGeom prst="rect">
            <a:avLst/>
          </a:prstGeom>
        </p:spPr>
      </p:pic>
      <p:sp>
        <p:nvSpPr>
          <p:cNvPr id="211" name="Text 12">
            <a:extLst>
              <a:ext uri="{FF2B5EF4-FFF2-40B4-BE49-F238E27FC236}">
                <a16:creationId xmlns:a16="http://schemas.microsoft.com/office/drawing/2014/main" id="{C00692F4-DE3F-2291-5C1A-D4ED9D8C38DD}"/>
              </a:ext>
            </a:extLst>
          </p:cNvPr>
          <p:cNvSpPr/>
          <p:nvPr/>
        </p:nvSpPr>
        <p:spPr>
          <a:xfrm>
            <a:off x="777240" y="306860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86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probabilistic; verification is deterministic.</a:t>
            </a:r>
            <a:endParaRPr lang="en-US" sz="860" dirty="0"/>
          </a:p>
        </p:txBody>
      </p:sp>
      <p:pic>
        <p:nvPicPr>
          <p:cNvPr id="212" name="Image 3" descr="/tmp/ic_check_g.png">
            <a:extLst>
              <a:ext uri="{FF2B5EF4-FFF2-40B4-BE49-F238E27FC236}">
                <a16:creationId xmlns:a16="http://schemas.microsoft.com/office/drawing/2014/main" id="{F1AC4A89-9416-5B6B-813D-74BFD912E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52654"/>
            <a:ext cx="155448" cy="155448"/>
          </a:xfrm>
          <a:prstGeom prst="rect">
            <a:avLst/>
          </a:prstGeom>
        </p:spPr>
      </p:pic>
      <p:sp>
        <p:nvSpPr>
          <p:cNvPr id="213" name="Text 13">
            <a:extLst>
              <a:ext uri="{FF2B5EF4-FFF2-40B4-BE49-F238E27FC236}">
                <a16:creationId xmlns:a16="http://schemas.microsoft.com/office/drawing/2014/main" id="{AB519581-2234-ABA6-B8DA-6C34973428A1}"/>
              </a:ext>
            </a:extLst>
          </p:cNvPr>
          <p:cNvSpPr/>
          <p:nvPr/>
        </p:nvSpPr>
        <p:spPr>
          <a:xfrm>
            <a:off x="777240" y="339779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86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objective evidence of correctness.</a:t>
            </a:r>
            <a:endParaRPr lang="en-US" sz="860" dirty="0"/>
          </a:p>
        </p:txBody>
      </p:sp>
      <p:pic>
        <p:nvPicPr>
          <p:cNvPr id="214" name="Image 4" descr="/tmp/ic_check_g.png">
            <a:extLst>
              <a:ext uri="{FF2B5EF4-FFF2-40B4-BE49-F238E27FC236}">
                <a16:creationId xmlns:a16="http://schemas.microsoft.com/office/drawing/2014/main" id="{607AA92F-3B2C-CC93-7790-D295B2A05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81838"/>
            <a:ext cx="155448" cy="155448"/>
          </a:xfrm>
          <a:prstGeom prst="rect">
            <a:avLst/>
          </a:prstGeom>
        </p:spPr>
      </p:pic>
      <p:sp>
        <p:nvSpPr>
          <p:cNvPr id="215" name="Text 14">
            <a:extLst>
              <a:ext uri="{FF2B5EF4-FFF2-40B4-BE49-F238E27FC236}">
                <a16:creationId xmlns:a16="http://schemas.microsoft.com/office/drawing/2014/main" id="{864D7DDE-11FE-CD08-AA4D-FAE1715369B3}"/>
              </a:ext>
            </a:extLst>
          </p:cNvPr>
          <p:cNvSpPr/>
          <p:nvPr/>
        </p:nvSpPr>
        <p:spPr>
          <a:xfrm>
            <a:off x="777240" y="372697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86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safe, policy-compliant, auditable execution.</a:t>
            </a:r>
            <a:endParaRPr lang="en-US" sz="860" dirty="0"/>
          </a:p>
        </p:txBody>
      </p:sp>
      <p:pic>
        <p:nvPicPr>
          <p:cNvPr id="216" name="Image 5" descr="/tmp/ic_check_g.png">
            <a:extLst>
              <a:ext uri="{FF2B5EF4-FFF2-40B4-BE49-F238E27FC236}">
                <a16:creationId xmlns:a16="http://schemas.microsoft.com/office/drawing/2014/main" id="{BC78523B-6A4D-ED1F-EC8D-B591FD43D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1022"/>
            <a:ext cx="155448" cy="155448"/>
          </a:xfrm>
          <a:prstGeom prst="rect">
            <a:avLst/>
          </a:prstGeom>
        </p:spPr>
      </p:pic>
      <p:sp>
        <p:nvSpPr>
          <p:cNvPr id="217" name="Text 15">
            <a:extLst>
              <a:ext uri="{FF2B5EF4-FFF2-40B4-BE49-F238E27FC236}">
                <a16:creationId xmlns:a16="http://schemas.microsoft.com/office/drawing/2014/main" id="{65B459BB-99BD-8ACD-B84E-57091B346DD0}"/>
              </a:ext>
            </a:extLst>
          </p:cNvPr>
          <p:cNvSpPr/>
          <p:nvPr/>
        </p:nvSpPr>
        <p:spPr>
          <a:xfrm>
            <a:off x="777240" y="405615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86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reliable retry/repair loops with concrete feedback.</a:t>
            </a:r>
            <a:endParaRPr lang="en-US" sz="860" dirty="0"/>
          </a:p>
        </p:txBody>
      </p:sp>
      <p:sp>
        <p:nvSpPr>
          <p:cNvPr id="218" name="Shape 16">
            <a:extLst>
              <a:ext uri="{FF2B5EF4-FFF2-40B4-BE49-F238E27FC236}">
                <a16:creationId xmlns:a16="http://schemas.microsoft.com/office/drawing/2014/main" id="{9B9914B7-F16E-6412-4EE6-55414E91AA41}"/>
              </a:ext>
            </a:extLst>
          </p:cNvPr>
          <p:cNvSpPr/>
          <p:nvPr/>
        </p:nvSpPr>
        <p:spPr>
          <a:xfrm>
            <a:off x="502920" y="4476782"/>
            <a:ext cx="2395728" cy="274320"/>
          </a:xfrm>
          <a:prstGeom prst="rect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9" name="Text 17">
            <a:extLst>
              <a:ext uri="{FF2B5EF4-FFF2-40B4-BE49-F238E27FC236}">
                <a16:creationId xmlns:a16="http://schemas.microsoft.com/office/drawing/2014/main" id="{EFAA0C20-EEF8-E5DE-3D81-BF7383770BD8}"/>
              </a:ext>
            </a:extLst>
          </p:cNvPr>
          <p:cNvSpPr/>
          <p:nvPr/>
        </p:nvSpPr>
        <p:spPr>
          <a:xfrm>
            <a:off x="502920" y="447678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VERIFICATION IN ACTION</a:t>
            </a:r>
            <a:endParaRPr lang="en-US" sz="900" dirty="0"/>
          </a:p>
        </p:txBody>
      </p:sp>
      <p:sp>
        <p:nvSpPr>
          <p:cNvPr id="220" name="Shape 18">
            <a:extLst>
              <a:ext uri="{FF2B5EF4-FFF2-40B4-BE49-F238E27FC236}">
                <a16:creationId xmlns:a16="http://schemas.microsoft.com/office/drawing/2014/main" id="{891303BD-50FB-B63F-17A9-75AC72E88C60}"/>
              </a:ext>
            </a:extLst>
          </p:cNvPr>
          <p:cNvSpPr/>
          <p:nvPr/>
        </p:nvSpPr>
        <p:spPr>
          <a:xfrm>
            <a:off x="502920" y="4787678"/>
            <a:ext cx="2395728" cy="457200"/>
          </a:xfrm>
          <a:prstGeom prst="rect">
            <a:avLst/>
          </a:prstGeom>
          <a:solidFill>
            <a:srgbClr val="F4F7FB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19">
            <a:extLst>
              <a:ext uri="{FF2B5EF4-FFF2-40B4-BE49-F238E27FC236}">
                <a16:creationId xmlns:a16="http://schemas.microsoft.com/office/drawing/2014/main" id="{4992CF50-B53E-5D20-EE74-F7C5745F1E9F}"/>
              </a:ext>
            </a:extLst>
          </p:cNvPr>
          <p:cNvSpPr/>
          <p:nvPr/>
        </p:nvSpPr>
        <p:spPr>
          <a:xfrm>
            <a:off x="566928" y="486997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F22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2" name="Image 6" descr="/tmp/ic_code_w.png">
            <a:extLst>
              <a:ext uri="{FF2B5EF4-FFF2-40B4-BE49-F238E27FC236}">
                <a16:creationId xmlns:a16="http://schemas.microsoft.com/office/drawing/2014/main" id="{BC3EC604-E9C1-7218-DA27-6E4A348B6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" y="4929410"/>
            <a:ext cx="192024" cy="192024"/>
          </a:xfrm>
          <a:prstGeom prst="rect">
            <a:avLst/>
          </a:prstGeom>
        </p:spPr>
      </p:pic>
      <p:sp>
        <p:nvSpPr>
          <p:cNvPr id="223" name="Text 20">
            <a:extLst>
              <a:ext uri="{FF2B5EF4-FFF2-40B4-BE49-F238E27FC236}">
                <a16:creationId xmlns:a16="http://schemas.microsoft.com/office/drawing/2014/main" id="{22A309B7-B16D-AD0F-1E94-FF2A22EDE04F}"/>
              </a:ext>
            </a:extLst>
          </p:cNvPr>
          <p:cNvSpPr/>
          <p:nvPr/>
        </p:nvSpPr>
        <p:spPr>
          <a:xfrm>
            <a:off x="941832" y="480596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86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
</a:t>
            </a:r>
            <a:r>
              <a:rPr lang="en-US" sz="70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tests, lint, build, security scan, coverage, benchmarks</a:t>
            </a:r>
            <a:endParaRPr lang="en-US" sz="860" dirty="0"/>
          </a:p>
        </p:txBody>
      </p:sp>
      <p:pic>
        <p:nvPicPr>
          <p:cNvPr id="224" name="Image 7" descr="/tmp/ic_check_g.png">
            <a:extLst>
              <a:ext uri="{FF2B5EF4-FFF2-40B4-BE49-F238E27FC236}">
                <a16:creationId xmlns:a16="http://schemas.microsoft.com/office/drawing/2014/main" id="{87119D06-8E0C-716A-AEAC-04AA34FEE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736" y="4879118"/>
            <a:ext cx="118872" cy="118872"/>
          </a:xfrm>
          <a:prstGeom prst="rect">
            <a:avLst/>
          </a:prstGeom>
        </p:spPr>
      </p:pic>
      <p:sp>
        <p:nvSpPr>
          <p:cNvPr id="225" name="Text 21">
            <a:extLst>
              <a:ext uri="{FF2B5EF4-FFF2-40B4-BE49-F238E27FC236}">
                <a16:creationId xmlns:a16="http://schemas.microsoft.com/office/drawing/2014/main" id="{44CF2EE0-05DE-9823-97FF-F1034F1A9932}"/>
              </a:ext>
            </a:extLst>
          </p:cNvPr>
          <p:cNvSpPr/>
          <p:nvPr/>
        </p:nvSpPr>
        <p:spPr>
          <a:xfrm>
            <a:off x="2596896" y="486083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00" dirty="0"/>
          </a:p>
        </p:txBody>
      </p:sp>
      <p:pic>
        <p:nvPicPr>
          <p:cNvPr id="226" name="Image 8" descr="/tmp/ic_times_r.png">
            <a:extLst>
              <a:ext uri="{FF2B5EF4-FFF2-40B4-BE49-F238E27FC236}">
                <a16:creationId xmlns:a16="http://schemas.microsoft.com/office/drawing/2014/main" id="{E7DDDD30-7171-3512-09C2-5B52B87CBE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9736" y="5043710"/>
            <a:ext cx="118872" cy="118872"/>
          </a:xfrm>
          <a:prstGeom prst="rect">
            <a:avLst/>
          </a:prstGeom>
        </p:spPr>
      </p:pic>
      <p:sp>
        <p:nvSpPr>
          <p:cNvPr id="227" name="Text 22">
            <a:extLst>
              <a:ext uri="{FF2B5EF4-FFF2-40B4-BE49-F238E27FC236}">
                <a16:creationId xmlns:a16="http://schemas.microsoft.com/office/drawing/2014/main" id="{77ACBFBF-6369-9BD7-CD4F-6EA0D48F90B7}"/>
              </a:ext>
            </a:extLst>
          </p:cNvPr>
          <p:cNvSpPr/>
          <p:nvPr/>
        </p:nvSpPr>
        <p:spPr>
          <a:xfrm>
            <a:off x="2596896" y="502542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700" dirty="0"/>
          </a:p>
        </p:txBody>
      </p:sp>
      <p:sp>
        <p:nvSpPr>
          <p:cNvPr id="228" name="Shape 23">
            <a:extLst>
              <a:ext uri="{FF2B5EF4-FFF2-40B4-BE49-F238E27FC236}">
                <a16:creationId xmlns:a16="http://schemas.microsoft.com/office/drawing/2014/main" id="{1372BF78-BB5E-8DB2-3F8A-02E9A3F286BC}"/>
              </a:ext>
            </a:extLst>
          </p:cNvPr>
          <p:cNvSpPr/>
          <p:nvPr/>
        </p:nvSpPr>
        <p:spPr>
          <a:xfrm>
            <a:off x="502920" y="5295170"/>
            <a:ext cx="2395728" cy="457200"/>
          </a:xfrm>
          <a:prstGeom prst="rect">
            <a:avLst/>
          </a:prstGeom>
          <a:solidFill>
            <a:srgbClr val="F4F7FB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4">
            <a:extLst>
              <a:ext uri="{FF2B5EF4-FFF2-40B4-BE49-F238E27FC236}">
                <a16:creationId xmlns:a16="http://schemas.microsoft.com/office/drawing/2014/main" id="{BE526D77-1940-3D0C-033B-8BAE005AE334}"/>
              </a:ext>
            </a:extLst>
          </p:cNvPr>
          <p:cNvSpPr/>
          <p:nvPr/>
        </p:nvSpPr>
        <p:spPr>
          <a:xfrm>
            <a:off x="566928" y="537746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F22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0" name="Image 9" descr="/tmp/ic_search_w.png">
            <a:extLst>
              <a:ext uri="{FF2B5EF4-FFF2-40B4-BE49-F238E27FC236}">
                <a16:creationId xmlns:a16="http://schemas.microsoft.com/office/drawing/2014/main" id="{F4581820-8626-5CCD-A712-323F377685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" y="5436902"/>
            <a:ext cx="192024" cy="192024"/>
          </a:xfrm>
          <a:prstGeom prst="rect">
            <a:avLst/>
          </a:prstGeom>
        </p:spPr>
      </p:pic>
      <p:sp>
        <p:nvSpPr>
          <p:cNvPr id="231" name="Text 25">
            <a:extLst>
              <a:ext uri="{FF2B5EF4-FFF2-40B4-BE49-F238E27FC236}">
                <a16:creationId xmlns:a16="http://schemas.microsoft.com/office/drawing/2014/main" id="{F8D38C60-F2D3-B5AA-55CD-507E073477B9}"/>
              </a:ext>
            </a:extLst>
          </p:cNvPr>
          <p:cNvSpPr/>
          <p:nvPr/>
        </p:nvSpPr>
        <p:spPr>
          <a:xfrm>
            <a:off x="941832" y="531345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86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Knowledge Agent
</a:t>
            </a:r>
            <a:r>
              <a:rPr lang="en-US" sz="70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retrieved, citations exist, grounding score, hallucination check, PII leakage</a:t>
            </a:r>
            <a:endParaRPr lang="en-US" sz="860" dirty="0"/>
          </a:p>
        </p:txBody>
      </p:sp>
      <p:pic>
        <p:nvPicPr>
          <p:cNvPr id="232" name="Image 10" descr="/tmp/ic_check_g.png">
            <a:extLst>
              <a:ext uri="{FF2B5EF4-FFF2-40B4-BE49-F238E27FC236}">
                <a16:creationId xmlns:a16="http://schemas.microsoft.com/office/drawing/2014/main" id="{7F544BD1-F719-7E98-263A-138C8CEC4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736" y="5386610"/>
            <a:ext cx="118872" cy="118872"/>
          </a:xfrm>
          <a:prstGeom prst="rect">
            <a:avLst/>
          </a:prstGeom>
        </p:spPr>
      </p:pic>
      <p:sp>
        <p:nvSpPr>
          <p:cNvPr id="233" name="Text 26">
            <a:extLst>
              <a:ext uri="{FF2B5EF4-FFF2-40B4-BE49-F238E27FC236}">
                <a16:creationId xmlns:a16="http://schemas.microsoft.com/office/drawing/2014/main" id="{2FACE092-E21C-873C-791B-D008B2594910}"/>
              </a:ext>
            </a:extLst>
          </p:cNvPr>
          <p:cNvSpPr/>
          <p:nvPr/>
        </p:nvSpPr>
        <p:spPr>
          <a:xfrm>
            <a:off x="2596896" y="536832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00" dirty="0"/>
          </a:p>
        </p:txBody>
      </p:sp>
      <p:pic>
        <p:nvPicPr>
          <p:cNvPr id="234" name="Image 11" descr="/tmp/ic_times_r.png">
            <a:extLst>
              <a:ext uri="{FF2B5EF4-FFF2-40B4-BE49-F238E27FC236}">
                <a16:creationId xmlns:a16="http://schemas.microsoft.com/office/drawing/2014/main" id="{489DB997-D4DC-0C83-C634-570C0A85C5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9736" y="5551202"/>
            <a:ext cx="118872" cy="118872"/>
          </a:xfrm>
          <a:prstGeom prst="rect">
            <a:avLst/>
          </a:prstGeom>
        </p:spPr>
      </p:pic>
      <p:sp>
        <p:nvSpPr>
          <p:cNvPr id="235" name="Text 27">
            <a:extLst>
              <a:ext uri="{FF2B5EF4-FFF2-40B4-BE49-F238E27FC236}">
                <a16:creationId xmlns:a16="http://schemas.microsoft.com/office/drawing/2014/main" id="{3F42565C-2DA7-94CF-2AEE-A6DDDC534F54}"/>
              </a:ext>
            </a:extLst>
          </p:cNvPr>
          <p:cNvSpPr/>
          <p:nvPr/>
        </p:nvSpPr>
        <p:spPr>
          <a:xfrm>
            <a:off x="2596896" y="553291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700" dirty="0"/>
          </a:p>
        </p:txBody>
      </p:sp>
      <p:sp>
        <p:nvSpPr>
          <p:cNvPr id="236" name="Shape 28">
            <a:extLst>
              <a:ext uri="{FF2B5EF4-FFF2-40B4-BE49-F238E27FC236}">
                <a16:creationId xmlns:a16="http://schemas.microsoft.com/office/drawing/2014/main" id="{3B63D8D4-EAB8-359B-5B8E-A17584AA5551}"/>
              </a:ext>
            </a:extLst>
          </p:cNvPr>
          <p:cNvSpPr/>
          <p:nvPr/>
        </p:nvSpPr>
        <p:spPr>
          <a:xfrm>
            <a:off x="502920" y="5802662"/>
            <a:ext cx="2395728" cy="457200"/>
          </a:xfrm>
          <a:prstGeom prst="rect">
            <a:avLst/>
          </a:prstGeom>
          <a:solidFill>
            <a:srgbClr val="F4F7FB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9">
            <a:extLst>
              <a:ext uri="{FF2B5EF4-FFF2-40B4-BE49-F238E27FC236}">
                <a16:creationId xmlns:a16="http://schemas.microsoft.com/office/drawing/2014/main" id="{4DCCB334-DB4D-C4EA-E3F8-F956E7BE5365}"/>
              </a:ext>
            </a:extLst>
          </p:cNvPr>
          <p:cNvSpPr/>
          <p:nvPr/>
        </p:nvSpPr>
        <p:spPr>
          <a:xfrm>
            <a:off x="566928" y="588495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F22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8" name="Image 12" descr="/tmp/ic_landmark_w.png">
            <a:extLst>
              <a:ext uri="{FF2B5EF4-FFF2-40B4-BE49-F238E27FC236}">
                <a16:creationId xmlns:a16="http://schemas.microsoft.com/office/drawing/2014/main" id="{4B839A3A-431D-3D85-8EC1-6370E62B0C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" y="5944394"/>
            <a:ext cx="192024" cy="192024"/>
          </a:xfrm>
          <a:prstGeom prst="rect">
            <a:avLst/>
          </a:prstGeom>
        </p:spPr>
      </p:pic>
      <p:sp>
        <p:nvSpPr>
          <p:cNvPr id="239" name="Text 30">
            <a:extLst>
              <a:ext uri="{FF2B5EF4-FFF2-40B4-BE49-F238E27FC236}">
                <a16:creationId xmlns:a16="http://schemas.microsoft.com/office/drawing/2014/main" id="{F477E430-6CFC-E435-B1CE-90385114DBD2}"/>
              </a:ext>
            </a:extLst>
          </p:cNvPr>
          <p:cNvSpPr/>
          <p:nvPr/>
        </p:nvSpPr>
        <p:spPr>
          <a:xfrm>
            <a:off x="941832" y="582095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86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Agent
</a:t>
            </a:r>
            <a:r>
              <a:rPr lang="en-US" sz="70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check, destination valid, fraud score, policy check, human approval</a:t>
            </a:r>
            <a:endParaRPr lang="en-US" sz="860" dirty="0"/>
          </a:p>
        </p:txBody>
      </p:sp>
      <p:pic>
        <p:nvPicPr>
          <p:cNvPr id="240" name="Image 13" descr="/tmp/ic_check_g.png">
            <a:extLst>
              <a:ext uri="{FF2B5EF4-FFF2-40B4-BE49-F238E27FC236}">
                <a16:creationId xmlns:a16="http://schemas.microsoft.com/office/drawing/2014/main" id="{F9558E4D-6D41-60B4-99B8-86B2CDD73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736" y="5894102"/>
            <a:ext cx="118872" cy="118872"/>
          </a:xfrm>
          <a:prstGeom prst="rect">
            <a:avLst/>
          </a:prstGeom>
        </p:spPr>
      </p:pic>
      <p:sp>
        <p:nvSpPr>
          <p:cNvPr id="241" name="Text 31">
            <a:extLst>
              <a:ext uri="{FF2B5EF4-FFF2-40B4-BE49-F238E27FC236}">
                <a16:creationId xmlns:a16="http://schemas.microsoft.com/office/drawing/2014/main" id="{545EE718-40F1-F1A1-9FD7-867630502BA5}"/>
              </a:ext>
            </a:extLst>
          </p:cNvPr>
          <p:cNvSpPr/>
          <p:nvPr/>
        </p:nvSpPr>
        <p:spPr>
          <a:xfrm>
            <a:off x="2596896" y="587581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00" dirty="0"/>
          </a:p>
        </p:txBody>
      </p:sp>
      <p:pic>
        <p:nvPicPr>
          <p:cNvPr id="242" name="Image 14" descr="/tmp/ic_times_r.png">
            <a:extLst>
              <a:ext uri="{FF2B5EF4-FFF2-40B4-BE49-F238E27FC236}">
                <a16:creationId xmlns:a16="http://schemas.microsoft.com/office/drawing/2014/main" id="{5482DAD9-9FD1-C576-7F67-A059BF8201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9736" y="6058694"/>
            <a:ext cx="118872" cy="118872"/>
          </a:xfrm>
          <a:prstGeom prst="rect">
            <a:avLst/>
          </a:prstGeom>
        </p:spPr>
      </p:pic>
      <p:sp>
        <p:nvSpPr>
          <p:cNvPr id="243" name="Text 32">
            <a:extLst>
              <a:ext uri="{FF2B5EF4-FFF2-40B4-BE49-F238E27FC236}">
                <a16:creationId xmlns:a16="http://schemas.microsoft.com/office/drawing/2014/main" id="{D9079713-A3E1-BBCE-EC37-E2ED092E5B8A}"/>
              </a:ext>
            </a:extLst>
          </p:cNvPr>
          <p:cNvSpPr/>
          <p:nvPr/>
        </p:nvSpPr>
        <p:spPr>
          <a:xfrm>
            <a:off x="2596896" y="604040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700" dirty="0"/>
          </a:p>
        </p:txBody>
      </p:sp>
      <p:sp>
        <p:nvSpPr>
          <p:cNvPr id="244" name="Shape 33">
            <a:extLst>
              <a:ext uri="{FF2B5EF4-FFF2-40B4-BE49-F238E27FC236}">
                <a16:creationId xmlns:a16="http://schemas.microsoft.com/office/drawing/2014/main" id="{670010E6-8C35-6747-B5F3-C2C1BF15EB48}"/>
              </a:ext>
            </a:extLst>
          </p:cNvPr>
          <p:cNvSpPr/>
          <p:nvPr/>
        </p:nvSpPr>
        <p:spPr>
          <a:xfrm>
            <a:off x="3108960" y="1495838"/>
            <a:ext cx="5532120" cy="274320"/>
          </a:xfrm>
          <a:prstGeom prst="rect">
            <a:avLst/>
          </a:prstGeom>
          <a:solidFill>
            <a:srgbClr val="0F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5" name="Text 34">
            <a:extLst>
              <a:ext uri="{FF2B5EF4-FFF2-40B4-BE49-F238E27FC236}">
                <a16:creationId xmlns:a16="http://schemas.microsoft.com/office/drawing/2014/main" id="{FB2D9717-78FF-9865-3828-D6DD8F2B7B39}"/>
              </a:ext>
            </a:extLst>
          </p:cNvPr>
          <p:cNvSpPr/>
          <p:nvPr/>
        </p:nvSpPr>
        <p:spPr>
          <a:xfrm>
            <a:off x="3108960" y="149583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COMPONENT ARCHITECTURE</a:t>
            </a:r>
            <a:endParaRPr lang="en-US" sz="1050" dirty="0"/>
          </a:p>
        </p:txBody>
      </p:sp>
      <p:sp>
        <p:nvSpPr>
          <p:cNvPr id="246" name="Shape 35">
            <a:extLst>
              <a:ext uri="{FF2B5EF4-FFF2-40B4-BE49-F238E27FC236}">
                <a16:creationId xmlns:a16="http://schemas.microsoft.com/office/drawing/2014/main" id="{5FEAEB9E-BC2B-66DF-609E-8D28F8988D6B}"/>
              </a:ext>
            </a:extLst>
          </p:cNvPr>
          <p:cNvSpPr/>
          <p:nvPr/>
        </p:nvSpPr>
        <p:spPr>
          <a:xfrm>
            <a:off x="3108960" y="1770158"/>
            <a:ext cx="55321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F2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36">
            <a:extLst>
              <a:ext uri="{FF2B5EF4-FFF2-40B4-BE49-F238E27FC236}">
                <a16:creationId xmlns:a16="http://schemas.microsoft.com/office/drawing/2014/main" id="{D5AF7A20-428C-DBE2-E355-0CA6CA016B78}"/>
              </a:ext>
            </a:extLst>
          </p:cNvPr>
          <p:cNvSpPr/>
          <p:nvPr/>
        </p:nvSpPr>
        <p:spPr>
          <a:xfrm>
            <a:off x="3163824" y="1889030"/>
            <a:ext cx="1316736" cy="45720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8" name="Shape 37">
            <a:extLst>
              <a:ext uri="{FF2B5EF4-FFF2-40B4-BE49-F238E27FC236}">
                <a16:creationId xmlns:a16="http://schemas.microsoft.com/office/drawing/2014/main" id="{B7522397-81F3-5B89-E860-236AE9009F80}"/>
              </a:ext>
            </a:extLst>
          </p:cNvPr>
          <p:cNvSpPr/>
          <p:nvPr/>
        </p:nvSpPr>
        <p:spPr>
          <a:xfrm>
            <a:off x="3675888" y="1925606"/>
            <a:ext cx="292608" cy="2926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9" name="Image 15" descr="/tmp/ic_eye_w.png">
            <a:extLst>
              <a:ext uri="{FF2B5EF4-FFF2-40B4-BE49-F238E27FC236}">
                <a16:creationId xmlns:a16="http://schemas.microsoft.com/office/drawing/2014/main" id="{CE7C3B84-CC6D-0F4F-C7E2-18DFF85DEE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30752" y="1971326"/>
            <a:ext cx="182880" cy="182880"/>
          </a:xfrm>
          <a:prstGeom prst="rect">
            <a:avLst/>
          </a:prstGeom>
        </p:spPr>
      </p:pic>
      <p:sp>
        <p:nvSpPr>
          <p:cNvPr id="250" name="Text 38">
            <a:extLst>
              <a:ext uri="{FF2B5EF4-FFF2-40B4-BE49-F238E27FC236}">
                <a16:creationId xmlns:a16="http://schemas.microsoft.com/office/drawing/2014/main" id="{81BD2256-3721-B00A-0EB3-F4858A0BDC5A}"/>
              </a:ext>
            </a:extLst>
          </p:cNvPr>
          <p:cNvSpPr/>
          <p:nvPr/>
        </p:nvSpPr>
        <p:spPr>
          <a:xfrm>
            <a:off x="3163824" y="214506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DETERMINISTIC SENSORS
</a:t>
            </a:r>
            <a:r>
              <a:rPr lang="en-US" sz="630" i="1" dirty="0">
                <a:solidFill>
                  <a:srgbClr val="E8F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(Observe &amp; Measure)</a:t>
            </a:r>
            <a:endParaRPr lang="en-US" sz="720" dirty="0"/>
          </a:p>
        </p:txBody>
      </p:sp>
      <p:sp>
        <p:nvSpPr>
          <p:cNvPr id="251" name="Shape 39">
            <a:extLst>
              <a:ext uri="{FF2B5EF4-FFF2-40B4-BE49-F238E27FC236}">
                <a16:creationId xmlns:a16="http://schemas.microsoft.com/office/drawing/2014/main" id="{C292621E-2EDF-FB5E-B1C1-465B26BAD4B0}"/>
              </a:ext>
            </a:extLst>
          </p:cNvPr>
          <p:cNvSpPr/>
          <p:nvPr/>
        </p:nvSpPr>
        <p:spPr>
          <a:xfrm>
            <a:off x="4521708" y="1889030"/>
            <a:ext cx="1316736" cy="45720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2" name="Shape 40">
            <a:extLst>
              <a:ext uri="{FF2B5EF4-FFF2-40B4-BE49-F238E27FC236}">
                <a16:creationId xmlns:a16="http://schemas.microsoft.com/office/drawing/2014/main" id="{271604AF-D544-BF75-0511-5EB4EE846DAF}"/>
              </a:ext>
            </a:extLst>
          </p:cNvPr>
          <p:cNvSpPr/>
          <p:nvPr/>
        </p:nvSpPr>
        <p:spPr>
          <a:xfrm>
            <a:off x="5033772" y="1925606"/>
            <a:ext cx="292608" cy="2926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3" name="Image 16" descr="/tmp/ic_scales_w.png">
            <a:extLst>
              <a:ext uri="{FF2B5EF4-FFF2-40B4-BE49-F238E27FC236}">
                <a16:creationId xmlns:a16="http://schemas.microsoft.com/office/drawing/2014/main" id="{F0C73227-9B83-B5EB-9B44-EF7CCAA2F9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8636" y="1971326"/>
            <a:ext cx="182880" cy="182880"/>
          </a:xfrm>
          <a:prstGeom prst="rect">
            <a:avLst/>
          </a:prstGeom>
        </p:spPr>
      </p:pic>
      <p:sp>
        <p:nvSpPr>
          <p:cNvPr id="254" name="Text 41">
            <a:extLst>
              <a:ext uri="{FF2B5EF4-FFF2-40B4-BE49-F238E27FC236}">
                <a16:creationId xmlns:a16="http://schemas.microsoft.com/office/drawing/2014/main" id="{68AAF705-D76B-7CA5-F25B-673DEDA18AA3}"/>
              </a:ext>
            </a:extLst>
          </p:cNvPr>
          <p:cNvSpPr/>
          <p:nvPr/>
        </p:nvSpPr>
        <p:spPr>
          <a:xfrm>
            <a:off x="4521708" y="214506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VERIFIERS &amp; JUDGES
</a:t>
            </a:r>
            <a:r>
              <a:rPr lang="en-US" sz="630" i="1" dirty="0">
                <a:solidFill>
                  <a:srgbClr val="E8F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(Interpret &amp; Evaluate)</a:t>
            </a:r>
            <a:endParaRPr lang="en-US" sz="720" dirty="0"/>
          </a:p>
        </p:txBody>
      </p:sp>
      <p:sp>
        <p:nvSpPr>
          <p:cNvPr id="255" name="Shape 42">
            <a:extLst>
              <a:ext uri="{FF2B5EF4-FFF2-40B4-BE49-F238E27FC236}">
                <a16:creationId xmlns:a16="http://schemas.microsoft.com/office/drawing/2014/main" id="{7ABF9655-26FA-DD83-CD28-2B394C27561C}"/>
              </a:ext>
            </a:extLst>
          </p:cNvPr>
          <p:cNvSpPr/>
          <p:nvPr/>
        </p:nvSpPr>
        <p:spPr>
          <a:xfrm>
            <a:off x="5879592" y="1889030"/>
            <a:ext cx="1316736" cy="45720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6" name="Shape 43">
            <a:extLst>
              <a:ext uri="{FF2B5EF4-FFF2-40B4-BE49-F238E27FC236}">
                <a16:creationId xmlns:a16="http://schemas.microsoft.com/office/drawing/2014/main" id="{0273E7C2-98F6-C37C-8F9B-F761AE727BAC}"/>
              </a:ext>
            </a:extLst>
          </p:cNvPr>
          <p:cNvSpPr/>
          <p:nvPr/>
        </p:nvSpPr>
        <p:spPr>
          <a:xfrm>
            <a:off x="6391656" y="1925606"/>
            <a:ext cx="292608" cy="2926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7" name="Image 17" descr="/tmp/ic_shield_w.png">
            <a:extLst>
              <a:ext uri="{FF2B5EF4-FFF2-40B4-BE49-F238E27FC236}">
                <a16:creationId xmlns:a16="http://schemas.microsoft.com/office/drawing/2014/main" id="{A9875373-2ABD-DCB6-156A-7B5BD075CF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1971326"/>
            <a:ext cx="182880" cy="182880"/>
          </a:xfrm>
          <a:prstGeom prst="rect">
            <a:avLst/>
          </a:prstGeom>
        </p:spPr>
      </p:pic>
      <p:sp>
        <p:nvSpPr>
          <p:cNvPr id="258" name="Text 44">
            <a:extLst>
              <a:ext uri="{FF2B5EF4-FFF2-40B4-BE49-F238E27FC236}">
                <a16:creationId xmlns:a16="http://schemas.microsoft.com/office/drawing/2014/main" id="{6505AF52-F7EF-DA91-7695-E927D51B26E3}"/>
              </a:ext>
            </a:extLst>
          </p:cNvPr>
          <p:cNvSpPr/>
          <p:nvPr/>
        </p:nvSpPr>
        <p:spPr>
          <a:xfrm>
            <a:off x="5879592" y="214506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POLICY &amp; GUARDRAILS
</a:t>
            </a:r>
            <a:r>
              <a:rPr lang="en-US" sz="630" i="1" dirty="0">
                <a:solidFill>
                  <a:srgbClr val="E8F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(Authorize &amp; Protect)</a:t>
            </a:r>
            <a:endParaRPr lang="en-US" sz="720" dirty="0"/>
          </a:p>
        </p:txBody>
      </p:sp>
      <p:sp>
        <p:nvSpPr>
          <p:cNvPr id="259" name="Shape 45">
            <a:extLst>
              <a:ext uri="{FF2B5EF4-FFF2-40B4-BE49-F238E27FC236}">
                <a16:creationId xmlns:a16="http://schemas.microsoft.com/office/drawing/2014/main" id="{58D36704-784A-6478-B8E4-73112D420108}"/>
              </a:ext>
            </a:extLst>
          </p:cNvPr>
          <p:cNvSpPr/>
          <p:nvPr/>
        </p:nvSpPr>
        <p:spPr>
          <a:xfrm>
            <a:off x="7237476" y="1889030"/>
            <a:ext cx="1316736" cy="457200"/>
          </a:xfrm>
          <a:prstGeom prst="rect">
            <a:avLst/>
          </a:prstGeom>
          <a:solidFill>
            <a:srgbClr val="E8A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0" name="Shape 46">
            <a:extLst>
              <a:ext uri="{FF2B5EF4-FFF2-40B4-BE49-F238E27FC236}">
                <a16:creationId xmlns:a16="http://schemas.microsoft.com/office/drawing/2014/main" id="{9E653A49-8698-06C3-2F17-7B0E8140DEDF}"/>
              </a:ext>
            </a:extLst>
          </p:cNvPr>
          <p:cNvSpPr/>
          <p:nvPr/>
        </p:nvSpPr>
        <p:spPr>
          <a:xfrm>
            <a:off x="7749540" y="1925606"/>
            <a:ext cx="292608" cy="2926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1" name="Image 18" descr="/tmp/ic_user_w.png">
            <a:extLst>
              <a:ext uri="{FF2B5EF4-FFF2-40B4-BE49-F238E27FC236}">
                <a16:creationId xmlns:a16="http://schemas.microsoft.com/office/drawing/2014/main" id="{7D781CEA-9811-8D88-61C1-8CE632C71C8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04404" y="1971326"/>
            <a:ext cx="182880" cy="182880"/>
          </a:xfrm>
          <a:prstGeom prst="rect">
            <a:avLst/>
          </a:prstGeom>
        </p:spPr>
      </p:pic>
      <p:sp>
        <p:nvSpPr>
          <p:cNvPr id="262" name="Text 47">
            <a:extLst>
              <a:ext uri="{FF2B5EF4-FFF2-40B4-BE49-F238E27FC236}">
                <a16:creationId xmlns:a16="http://schemas.microsoft.com/office/drawing/2014/main" id="{6868648B-E48B-312F-8CA9-3270F73E95CF}"/>
              </a:ext>
            </a:extLst>
          </p:cNvPr>
          <p:cNvSpPr/>
          <p:nvPr/>
        </p:nvSpPr>
        <p:spPr>
          <a:xfrm>
            <a:off x="7237476" y="214506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720" b="1" dirty="0">
                <a:solidFill>
                  <a:srgbClr val="5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HUMAN-IN-THE-LOOP
</a:t>
            </a:r>
            <a:r>
              <a:rPr lang="en-US" sz="630" i="1" dirty="0">
                <a:solidFill>
                  <a:srgbClr val="7A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(Approve High Risk)</a:t>
            </a:r>
            <a:endParaRPr lang="en-US" sz="720" dirty="0"/>
          </a:p>
        </p:txBody>
      </p:sp>
      <p:sp>
        <p:nvSpPr>
          <p:cNvPr id="263" name="Shape 48">
            <a:extLst>
              <a:ext uri="{FF2B5EF4-FFF2-40B4-BE49-F238E27FC236}">
                <a16:creationId xmlns:a16="http://schemas.microsoft.com/office/drawing/2014/main" id="{77FEC35F-3339-7F5E-44F9-509D1DE8DB16}"/>
              </a:ext>
            </a:extLst>
          </p:cNvPr>
          <p:cNvSpPr/>
          <p:nvPr/>
        </p:nvSpPr>
        <p:spPr>
          <a:xfrm>
            <a:off x="3163824" y="1889030"/>
            <a:ext cx="1316736" cy="5669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4" name="Shape 49">
            <a:extLst>
              <a:ext uri="{FF2B5EF4-FFF2-40B4-BE49-F238E27FC236}">
                <a16:creationId xmlns:a16="http://schemas.microsoft.com/office/drawing/2014/main" id="{F6FB6DA4-3262-3FC7-D983-B98BEFC24C29}"/>
              </a:ext>
            </a:extLst>
          </p:cNvPr>
          <p:cNvSpPr/>
          <p:nvPr/>
        </p:nvSpPr>
        <p:spPr>
          <a:xfrm>
            <a:off x="3685032" y="1934750"/>
            <a:ext cx="274320" cy="2743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5" name="Image 19" descr="/tmp/ic_eye_w.png">
            <a:extLst>
              <a:ext uri="{FF2B5EF4-FFF2-40B4-BE49-F238E27FC236}">
                <a16:creationId xmlns:a16="http://schemas.microsoft.com/office/drawing/2014/main" id="{280E78D0-73B5-4BCA-CCB2-F7DECA0336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35324" y="1975898"/>
            <a:ext cx="173736" cy="173736"/>
          </a:xfrm>
          <a:prstGeom prst="rect">
            <a:avLst/>
          </a:prstGeom>
        </p:spPr>
      </p:pic>
      <p:sp>
        <p:nvSpPr>
          <p:cNvPr id="266" name="Text 50">
            <a:extLst>
              <a:ext uri="{FF2B5EF4-FFF2-40B4-BE49-F238E27FC236}">
                <a16:creationId xmlns:a16="http://schemas.microsoft.com/office/drawing/2014/main" id="{02B3B01A-1A4C-721A-771F-950EF6C5EADB}"/>
              </a:ext>
            </a:extLst>
          </p:cNvPr>
          <p:cNvSpPr/>
          <p:nvPr/>
        </p:nvSpPr>
        <p:spPr>
          <a:xfrm>
            <a:off x="3163824" y="221821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DETERMINISTIC SENSORS
</a:t>
            </a:r>
            <a:r>
              <a:rPr lang="en-US" sz="580" i="1" dirty="0">
                <a:solidFill>
                  <a:srgbClr val="EA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(Observe &amp; Measure)</a:t>
            </a:r>
            <a:endParaRPr lang="en-US" sz="660" dirty="0"/>
          </a:p>
        </p:txBody>
      </p:sp>
      <p:sp>
        <p:nvSpPr>
          <p:cNvPr id="267" name="Shape 51">
            <a:extLst>
              <a:ext uri="{FF2B5EF4-FFF2-40B4-BE49-F238E27FC236}">
                <a16:creationId xmlns:a16="http://schemas.microsoft.com/office/drawing/2014/main" id="{53B19EAB-DF97-1541-596C-1FD20786CCA4}"/>
              </a:ext>
            </a:extLst>
          </p:cNvPr>
          <p:cNvSpPr/>
          <p:nvPr/>
        </p:nvSpPr>
        <p:spPr>
          <a:xfrm>
            <a:off x="3163824" y="2455958"/>
            <a:ext cx="1316736" cy="2048256"/>
          </a:xfrm>
          <a:prstGeom prst="rect">
            <a:avLst/>
          </a:prstGeom>
          <a:solidFill>
            <a:srgbClr val="EA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8" name="Text 52">
            <a:extLst>
              <a:ext uri="{FF2B5EF4-FFF2-40B4-BE49-F238E27FC236}">
                <a16:creationId xmlns:a16="http://schemas.microsoft.com/office/drawing/2014/main" id="{A68C73B0-F38E-C2FE-7973-EE9BB99002A2}"/>
              </a:ext>
            </a:extLst>
          </p:cNvPr>
          <p:cNvSpPr/>
          <p:nvPr/>
        </p:nvSpPr>
        <p:spPr>
          <a:xfrm>
            <a:off x="3218688" y="250167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660" i="1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raw, objective signals from the environment.</a:t>
            </a:r>
            <a:endParaRPr lang="en-US" sz="660" dirty="0"/>
          </a:p>
        </p:txBody>
      </p:sp>
      <p:pic>
        <p:nvPicPr>
          <p:cNvPr id="269" name="Image 20" descr="/tmp/ic_vial_teal.png">
            <a:extLst>
              <a:ext uri="{FF2B5EF4-FFF2-40B4-BE49-F238E27FC236}">
                <a16:creationId xmlns:a16="http://schemas.microsoft.com/office/drawing/2014/main" id="{5FEDA3B3-3637-8DA9-175A-BF1BF624F43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6976" y="2867438"/>
            <a:ext cx="118872" cy="118872"/>
          </a:xfrm>
          <a:prstGeom prst="rect">
            <a:avLst/>
          </a:prstGeom>
        </p:spPr>
      </p:pic>
      <p:sp>
        <p:nvSpPr>
          <p:cNvPr id="270" name="Text 53">
            <a:extLst>
              <a:ext uri="{FF2B5EF4-FFF2-40B4-BE49-F238E27FC236}">
                <a16:creationId xmlns:a16="http://schemas.microsoft.com/office/drawing/2014/main" id="{300FF447-C712-B04A-012E-D0094FB6FBD7}"/>
              </a:ext>
            </a:extLst>
          </p:cNvPr>
          <p:cNvSpPr/>
          <p:nvPr/>
        </p:nvSpPr>
        <p:spPr>
          <a:xfrm>
            <a:off x="3392424" y="283086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4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/ Integration Tests</a:t>
            </a:r>
            <a:endParaRPr lang="en-US" sz="640" dirty="0"/>
          </a:p>
        </p:txBody>
      </p:sp>
      <p:pic>
        <p:nvPicPr>
          <p:cNvPr id="271" name="Image 21" descr="/tmp/ic_list_teal.png">
            <a:extLst>
              <a:ext uri="{FF2B5EF4-FFF2-40B4-BE49-F238E27FC236}">
                <a16:creationId xmlns:a16="http://schemas.microsoft.com/office/drawing/2014/main" id="{B4E9E389-7EB4-B39E-E522-71A1E675638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36976" y="3105182"/>
            <a:ext cx="118872" cy="118872"/>
          </a:xfrm>
          <a:prstGeom prst="rect">
            <a:avLst/>
          </a:prstGeom>
        </p:spPr>
      </p:pic>
      <p:sp>
        <p:nvSpPr>
          <p:cNvPr id="272" name="Text 54">
            <a:extLst>
              <a:ext uri="{FF2B5EF4-FFF2-40B4-BE49-F238E27FC236}">
                <a16:creationId xmlns:a16="http://schemas.microsoft.com/office/drawing/2014/main" id="{5280F7EF-6943-4AE5-718A-409AE3CEDFED}"/>
              </a:ext>
            </a:extLst>
          </p:cNvPr>
          <p:cNvSpPr/>
          <p:nvPr/>
        </p:nvSpPr>
        <p:spPr>
          <a:xfrm>
            <a:off x="3392424" y="306860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4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/ Linters</a:t>
            </a:r>
            <a:endParaRPr lang="en-US" sz="640" dirty="0"/>
          </a:p>
        </p:txBody>
      </p:sp>
      <p:pic>
        <p:nvPicPr>
          <p:cNvPr id="273" name="Image 22" descr="/tmp/ic_cog_teal.png">
            <a:extLst>
              <a:ext uri="{FF2B5EF4-FFF2-40B4-BE49-F238E27FC236}">
                <a16:creationId xmlns:a16="http://schemas.microsoft.com/office/drawing/2014/main" id="{BC985C7A-478D-99AB-B1E6-90B4FC9F942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6976" y="3342926"/>
            <a:ext cx="118872" cy="118872"/>
          </a:xfrm>
          <a:prstGeom prst="rect">
            <a:avLst/>
          </a:prstGeom>
        </p:spPr>
      </p:pic>
      <p:sp>
        <p:nvSpPr>
          <p:cNvPr id="274" name="Text 55">
            <a:extLst>
              <a:ext uri="{FF2B5EF4-FFF2-40B4-BE49-F238E27FC236}">
                <a16:creationId xmlns:a16="http://schemas.microsoft.com/office/drawing/2014/main" id="{8D9FEB00-7F94-E63A-7BEB-4EA4035855C9}"/>
              </a:ext>
            </a:extLst>
          </p:cNvPr>
          <p:cNvSpPr/>
          <p:nvPr/>
        </p:nvSpPr>
        <p:spPr>
          <a:xfrm>
            <a:off x="3392424" y="330635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4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Compilation</a:t>
            </a:r>
            <a:endParaRPr lang="en-US" sz="640" dirty="0"/>
          </a:p>
        </p:txBody>
      </p:sp>
      <p:pic>
        <p:nvPicPr>
          <p:cNvPr id="275" name="Image 23" descr="/tmp/ic_db_teal.png">
            <a:extLst>
              <a:ext uri="{FF2B5EF4-FFF2-40B4-BE49-F238E27FC236}">
                <a16:creationId xmlns:a16="http://schemas.microsoft.com/office/drawing/2014/main" id="{AD733416-AB18-1BA8-E927-CA5CF1BBF3F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36976" y="3580670"/>
            <a:ext cx="118872" cy="118872"/>
          </a:xfrm>
          <a:prstGeom prst="rect">
            <a:avLst/>
          </a:prstGeom>
        </p:spPr>
      </p:pic>
      <p:sp>
        <p:nvSpPr>
          <p:cNvPr id="276" name="Text 56">
            <a:extLst>
              <a:ext uri="{FF2B5EF4-FFF2-40B4-BE49-F238E27FC236}">
                <a16:creationId xmlns:a16="http://schemas.microsoft.com/office/drawing/2014/main" id="{CF2CB07A-0D2F-90C7-CD6A-2B2376CAC21C}"/>
              </a:ext>
            </a:extLst>
          </p:cNvPr>
          <p:cNvSpPr/>
          <p:nvPr/>
        </p:nvSpPr>
        <p:spPr>
          <a:xfrm>
            <a:off x="3392424" y="354409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4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/ Contract Validation</a:t>
            </a:r>
            <a:endParaRPr lang="en-US" sz="640" dirty="0"/>
          </a:p>
        </p:txBody>
      </p:sp>
      <p:pic>
        <p:nvPicPr>
          <p:cNvPr id="277" name="Image 24" descr="/tmp/ic_gauge_teal.png">
            <a:extLst>
              <a:ext uri="{FF2B5EF4-FFF2-40B4-BE49-F238E27FC236}">
                <a16:creationId xmlns:a16="http://schemas.microsoft.com/office/drawing/2014/main" id="{76BC6F2B-172D-5015-A909-D019482B361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36976" y="3818414"/>
            <a:ext cx="118872" cy="118872"/>
          </a:xfrm>
          <a:prstGeom prst="rect">
            <a:avLst/>
          </a:prstGeom>
        </p:spPr>
      </p:pic>
      <p:sp>
        <p:nvSpPr>
          <p:cNvPr id="278" name="Text 57">
            <a:extLst>
              <a:ext uri="{FF2B5EF4-FFF2-40B4-BE49-F238E27FC236}">
                <a16:creationId xmlns:a16="http://schemas.microsoft.com/office/drawing/2014/main" id="{45984E20-23BE-3BC8-A232-08ED5017BC1D}"/>
              </a:ext>
            </a:extLst>
          </p:cNvPr>
          <p:cNvSpPr/>
          <p:nvPr/>
        </p:nvSpPr>
        <p:spPr>
          <a:xfrm>
            <a:off x="3392424" y="378183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4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Metrics (Latency, Error)</a:t>
            </a:r>
            <a:endParaRPr lang="en-US" sz="640" dirty="0"/>
          </a:p>
        </p:txBody>
      </p:sp>
      <p:pic>
        <p:nvPicPr>
          <p:cNvPr id="279" name="Image 25" descr="/tmp/ic_search_n.png">
            <a:extLst>
              <a:ext uri="{FF2B5EF4-FFF2-40B4-BE49-F238E27FC236}">
                <a16:creationId xmlns:a16="http://schemas.microsoft.com/office/drawing/2014/main" id="{BDFE177D-526C-9286-BF0C-02A03509A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6" y="4056158"/>
            <a:ext cx="118872" cy="118872"/>
          </a:xfrm>
          <a:prstGeom prst="rect">
            <a:avLst/>
          </a:prstGeom>
        </p:spPr>
      </p:pic>
      <p:sp>
        <p:nvSpPr>
          <p:cNvPr id="280" name="Text 58">
            <a:extLst>
              <a:ext uri="{FF2B5EF4-FFF2-40B4-BE49-F238E27FC236}">
                <a16:creationId xmlns:a16="http://schemas.microsoft.com/office/drawing/2014/main" id="{0C527E8F-935B-6972-0375-1221A6FE63F7}"/>
              </a:ext>
            </a:extLst>
          </p:cNvPr>
          <p:cNvSpPr/>
          <p:nvPr/>
        </p:nvSpPr>
        <p:spPr>
          <a:xfrm>
            <a:off x="3392424" y="401958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4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/ Grounding Signals</a:t>
            </a:r>
            <a:endParaRPr lang="en-US" sz="640" dirty="0"/>
          </a:p>
        </p:txBody>
      </p:sp>
      <p:pic>
        <p:nvPicPr>
          <p:cNvPr id="281" name="Image 26" descr="/tmp/ic_robot_teal.png">
            <a:extLst>
              <a:ext uri="{FF2B5EF4-FFF2-40B4-BE49-F238E27FC236}">
                <a16:creationId xmlns:a16="http://schemas.microsoft.com/office/drawing/2014/main" id="{4A436636-3733-9E57-D97D-BAB11209AD1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36976" y="4293902"/>
            <a:ext cx="118872" cy="118872"/>
          </a:xfrm>
          <a:prstGeom prst="rect">
            <a:avLst/>
          </a:prstGeom>
        </p:spPr>
      </p:pic>
      <p:sp>
        <p:nvSpPr>
          <p:cNvPr id="282" name="Text 59">
            <a:extLst>
              <a:ext uri="{FF2B5EF4-FFF2-40B4-BE49-F238E27FC236}">
                <a16:creationId xmlns:a16="http://schemas.microsoft.com/office/drawing/2014/main" id="{EE052502-26AB-5CB2-43EE-B3BD766DFD63}"/>
              </a:ext>
            </a:extLst>
          </p:cNvPr>
          <p:cNvSpPr/>
          <p:nvPr/>
        </p:nvSpPr>
        <p:spPr>
          <a:xfrm>
            <a:off x="3392424" y="425732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4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 (Tools, Memory)</a:t>
            </a:r>
            <a:endParaRPr lang="en-US" sz="640" dirty="0"/>
          </a:p>
        </p:txBody>
      </p:sp>
      <p:sp>
        <p:nvSpPr>
          <p:cNvPr id="283" name="Shape 60">
            <a:extLst>
              <a:ext uri="{FF2B5EF4-FFF2-40B4-BE49-F238E27FC236}">
                <a16:creationId xmlns:a16="http://schemas.microsoft.com/office/drawing/2014/main" id="{8837AC57-A9B5-D33B-4AF5-8698146B5020}"/>
              </a:ext>
            </a:extLst>
          </p:cNvPr>
          <p:cNvSpPr/>
          <p:nvPr/>
        </p:nvSpPr>
        <p:spPr>
          <a:xfrm>
            <a:off x="3163824" y="4522502"/>
            <a:ext cx="1316736" cy="36576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4" name="Text 61">
            <a:extLst>
              <a:ext uri="{FF2B5EF4-FFF2-40B4-BE49-F238E27FC236}">
                <a16:creationId xmlns:a16="http://schemas.microsoft.com/office/drawing/2014/main" id="{66D04493-EDCA-3CBF-1242-06FC6D20F481}"/>
              </a:ext>
            </a:extLst>
          </p:cNvPr>
          <p:cNvSpPr/>
          <p:nvPr/>
        </p:nvSpPr>
        <p:spPr>
          <a:xfrm>
            <a:off x="3163824" y="452250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Raw evidence</a:t>
            </a:r>
            <a:endParaRPr lang="en-US" sz="640" dirty="0"/>
          </a:p>
          <a:p>
            <a:pPr marL="0" indent="0" algn="ctr">
              <a:lnSpc>
                <a:spcPct val="82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(machine-readable)</a:t>
            </a:r>
            <a:endParaRPr lang="en-US" sz="640" dirty="0"/>
          </a:p>
        </p:txBody>
      </p:sp>
      <p:sp>
        <p:nvSpPr>
          <p:cNvPr id="285" name="Shape 62">
            <a:extLst>
              <a:ext uri="{FF2B5EF4-FFF2-40B4-BE49-F238E27FC236}">
                <a16:creationId xmlns:a16="http://schemas.microsoft.com/office/drawing/2014/main" id="{15D008DE-F0A6-CCB3-375C-C5422D130671}"/>
              </a:ext>
            </a:extLst>
          </p:cNvPr>
          <p:cNvSpPr/>
          <p:nvPr/>
        </p:nvSpPr>
        <p:spPr>
          <a:xfrm>
            <a:off x="4521708" y="1889030"/>
            <a:ext cx="1316736" cy="5669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6" name="Shape 63">
            <a:extLst>
              <a:ext uri="{FF2B5EF4-FFF2-40B4-BE49-F238E27FC236}">
                <a16:creationId xmlns:a16="http://schemas.microsoft.com/office/drawing/2014/main" id="{4546FA95-11F1-08A8-5FDF-44FC116EECB2}"/>
              </a:ext>
            </a:extLst>
          </p:cNvPr>
          <p:cNvSpPr/>
          <p:nvPr/>
        </p:nvSpPr>
        <p:spPr>
          <a:xfrm>
            <a:off x="5042916" y="1934750"/>
            <a:ext cx="274320" cy="2743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7" name="Image 27" descr="/tmp/ic_scales_w.png">
            <a:extLst>
              <a:ext uri="{FF2B5EF4-FFF2-40B4-BE49-F238E27FC236}">
                <a16:creationId xmlns:a16="http://schemas.microsoft.com/office/drawing/2014/main" id="{07DADEB4-90BD-91E0-1AB3-15FA0D8C93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3208" y="1975898"/>
            <a:ext cx="173736" cy="173736"/>
          </a:xfrm>
          <a:prstGeom prst="rect">
            <a:avLst/>
          </a:prstGeom>
        </p:spPr>
      </p:pic>
      <p:sp>
        <p:nvSpPr>
          <p:cNvPr id="288" name="Text 64">
            <a:extLst>
              <a:ext uri="{FF2B5EF4-FFF2-40B4-BE49-F238E27FC236}">
                <a16:creationId xmlns:a16="http://schemas.microsoft.com/office/drawing/2014/main" id="{EC37B4F7-73A6-7313-D9C9-C7E0073EB4CE}"/>
              </a:ext>
            </a:extLst>
          </p:cNvPr>
          <p:cNvSpPr/>
          <p:nvPr/>
        </p:nvSpPr>
        <p:spPr>
          <a:xfrm>
            <a:off x="4521708" y="221821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VERIFIERS &amp; JUDGES
</a:t>
            </a:r>
            <a:r>
              <a:rPr lang="en-US" sz="580" i="1" dirty="0">
                <a:solidFill>
                  <a:srgbClr val="EA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(Interpret &amp; Evaluate)</a:t>
            </a:r>
            <a:endParaRPr lang="en-US" sz="660" dirty="0"/>
          </a:p>
        </p:txBody>
      </p:sp>
      <p:sp>
        <p:nvSpPr>
          <p:cNvPr id="289" name="Shape 65">
            <a:extLst>
              <a:ext uri="{FF2B5EF4-FFF2-40B4-BE49-F238E27FC236}">
                <a16:creationId xmlns:a16="http://schemas.microsoft.com/office/drawing/2014/main" id="{3F32414D-4FD8-49AF-3761-49710FD407A2}"/>
              </a:ext>
            </a:extLst>
          </p:cNvPr>
          <p:cNvSpPr/>
          <p:nvPr/>
        </p:nvSpPr>
        <p:spPr>
          <a:xfrm>
            <a:off x="4521708" y="2455958"/>
            <a:ext cx="1316736" cy="2048256"/>
          </a:xfrm>
          <a:prstGeom prst="rect">
            <a:avLst/>
          </a:prstGeom>
          <a:solidFill>
            <a:srgbClr val="EA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0" name="Text 66">
            <a:extLst>
              <a:ext uri="{FF2B5EF4-FFF2-40B4-BE49-F238E27FC236}">
                <a16:creationId xmlns:a16="http://schemas.microsoft.com/office/drawing/2014/main" id="{467F2842-EBB9-83A7-AECA-AC81FDC18C93}"/>
              </a:ext>
            </a:extLst>
          </p:cNvPr>
          <p:cNvSpPr/>
          <p:nvPr/>
        </p:nvSpPr>
        <p:spPr>
          <a:xfrm>
            <a:off x="4576572" y="250167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660" i="1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evidence against rules, criteria, or semantic rubrics.</a:t>
            </a:r>
            <a:endParaRPr lang="en-US" sz="660" dirty="0"/>
          </a:p>
        </p:txBody>
      </p:sp>
      <p:sp>
        <p:nvSpPr>
          <p:cNvPr id="291" name="Shape 67">
            <a:extLst>
              <a:ext uri="{FF2B5EF4-FFF2-40B4-BE49-F238E27FC236}">
                <a16:creationId xmlns:a16="http://schemas.microsoft.com/office/drawing/2014/main" id="{75B345E4-E47E-F2C6-B7AD-3EAC0ADD59D1}"/>
              </a:ext>
            </a:extLst>
          </p:cNvPr>
          <p:cNvSpPr/>
          <p:nvPr/>
        </p:nvSpPr>
        <p:spPr>
          <a:xfrm>
            <a:off x="4576572" y="2858294"/>
            <a:ext cx="120700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2" name="Image 28" descr="/tmp/ic_list_teal.png">
            <a:extLst>
              <a:ext uri="{FF2B5EF4-FFF2-40B4-BE49-F238E27FC236}">
                <a16:creationId xmlns:a16="http://schemas.microsoft.com/office/drawing/2014/main" id="{95129282-550A-3C6C-6DCC-804C5165D47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1436" y="3015526"/>
            <a:ext cx="137160" cy="137160"/>
          </a:xfrm>
          <a:prstGeom prst="rect">
            <a:avLst/>
          </a:prstGeom>
        </p:spPr>
      </p:pic>
      <p:sp>
        <p:nvSpPr>
          <p:cNvPr id="293" name="Text 68">
            <a:extLst>
              <a:ext uri="{FF2B5EF4-FFF2-40B4-BE49-F238E27FC236}">
                <a16:creationId xmlns:a16="http://schemas.microsoft.com/office/drawing/2014/main" id="{3313E42E-F757-9929-EF4F-2AF7C4199E7C}"/>
              </a:ext>
            </a:extLst>
          </p:cNvPr>
          <p:cNvSpPr/>
          <p:nvPr/>
        </p:nvSpPr>
        <p:spPr>
          <a:xfrm>
            <a:off x="4869180" y="2929529"/>
            <a:ext cx="969264" cy="294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Verifier
</a:t>
            </a:r>
            <a:r>
              <a:rPr lang="en-US" sz="57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and thresholds</a:t>
            </a:r>
            <a:endParaRPr lang="en-US" sz="650" dirty="0"/>
          </a:p>
        </p:txBody>
      </p:sp>
      <p:sp>
        <p:nvSpPr>
          <p:cNvPr id="294" name="Shape 69">
            <a:extLst>
              <a:ext uri="{FF2B5EF4-FFF2-40B4-BE49-F238E27FC236}">
                <a16:creationId xmlns:a16="http://schemas.microsoft.com/office/drawing/2014/main" id="{3AE9B0BA-2E92-85DB-36A0-57A6543D3059}"/>
              </a:ext>
            </a:extLst>
          </p:cNvPr>
          <p:cNvSpPr/>
          <p:nvPr/>
        </p:nvSpPr>
        <p:spPr>
          <a:xfrm>
            <a:off x="4576572" y="3452654"/>
            <a:ext cx="120700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5" name="Image 29" descr="/tmp/ic_db_teal.png">
            <a:extLst>
              <a:ext uri="{FF2B5EF4-FFF2-40B4-BE49-F238E27FC236}">
                <a16:creationId xmlns:a16="http://schemas.microsoft.com/office/drawing/2014/main" id="{CDAE822C-EBCE-3E9D-6331-FAECEB56D57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31436" y="3662436"/>
            <a:ext cx="137160" cy="137160"/>
          </a:xfrm>
          <a:prstGeom prst="rect">
            <a:avLst/>
          </a:prstGeom>
        </p:spPr>
      </p:pic>
      <p:sp>
        <p:nvSpPr>
          <p:cNvPr id="296" name="Text 70">
            <a:extLst>
              <a:ext uri="{FF2B5EF4-FFF2-40B4-BE49-F238E27FC236}">
                <a16:creationId xmlns:a16="http://schemas.microsoft.com/office/drawing/2014/main" id="{F21DAE70-0632-0BB1-5DA4-5363D19C0E63}"/>
              </a:ext>
            </a:extLst>
          </p:cNvPr>
          <p:cNvSpPr/>
          <p:nvPr/>
        </p:nvSpPr>
        <p:spPr>
          <a:xfrm>
            <a:off x="4841748" y="3564299"/>
            <a:ext cx="969264" cy="27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Verifier
</a:t>
            </a:r>
            <a:r>
              <a:rPr lang="en-US" sz="57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format, required fields</a:t>
            </a:r>
            <a:endParaRPr lang="en-US" sz="650" dirty="0"/>
          </a:p>
        </p:txBody>
      </p:sp>
      <p:sp>
        <p:nvSpPr>
          <p:cNvPr id="297" name="Shape 71">
            <a:extLst>
              <a:ext uri="{FF2B5EF4-FFF2-40B4-BE49-F238E27FC236}">
                <a16:creationId xmlns:a16="http://schemas.microsoft.com/office/drawing/2014/main" id="{C55FF691-762E-5347-12C4-7B772967D778}"/>
              </a:ext>
            </a:extLst>
          </p:cNvPr>
          <p:cNvSpPr/>
          <p:nvPr/>
        </p:nvSpPr>
        <p:spPr>
          <a:xfrm>
            <a:off x="4576572" y="4047014"/>
            <a:ext cx="120700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8" name="Image 30" descr="/tmp/ic_robot_b.png">
            <a:extLst>
              <a:ext uri="{FF2B5EF4-FFF2-40B4-BE49-F238E27FC236}">
                <a16:creationId xmlns:a16="http://schemas.microsoft.com/office/drawing/2014/main" id="{9B1C4720-9A73-F952-CFF2-236D5864CA6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31436" y="4162206"/>
            <a:ext cx="137160" cy="137160"/>
          </a:xfrm>
          <a:prstGeom prst="rect">
            <a:avLst/>
          </a:prstGeom>
        </p:spPr>
      </p:pic>
      <p:sp>
        <p:nvSpPr>
          <p:cNvPr id="299" name="Text 72">
            <a:extLst>
              <a:ext uri="{FF2B5EF4-FFF2-40B4-BE49-F238E27FC236}">
                <a16:creationId xmlns:a16="http://schemas.microsoft.com/office/drawing/2014/main" id="{8C3470AB-74D4-B314-AF58-73AF70712237}"/>
              </a:ext>
            </a:extLst>
          </p:cNvPr>
          <p:cNvSpPr/>
          <p:nvPr/>
        </p:nvSpPr>
        <p:spPr>
          <a:xfrm>
            <a:off x="4841748" y="4065302"/>
            <a:ext cx="996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
</a:t>
            </a:r>
            <a:r>
              <a:rPr lang="en-US" sz="57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evaluation using rubrics (faithfulness, completeness, safety)</a:t>
            </a:r>
            <a:endParaRPr lang="en-US" sz="650" dirty="0"/>
          </a:p>
        </p:txBody>
      </p:sp>
      <p:sp>
        <p:nvSpPr>
          <p:cNvPr id="300" name="Shape 73">
            <a:extLst>
              <a:ext uri="{FF2B5EF4-FFF2-40B4-BE49-F238E27FC236}">
                <a16:creationId xmlns:a16="http://schemas.microsoft.com/office/drawing/2014/main" id="{6FF76341-2673-86C5-41B7-1C7CBC4E3C6C}"/>
              </a:ext>
            </a:extLst>
          </p:cNvPr>
          <p:cNvSpPr/>
          <p:nvPr/>
        </p:nvSpPr>
        <p:spPr>
          <a:xfrm>
            <a:off x="4521708" y="4522502"/>
            <a:ext cx="1316736" cy="365760"/>
          </a:xfrm>
          <a:prstGeom prst="rect">
            <a:avLst/>
          </a:prstGeom>
          <a:solidFill>
            <a:srgbClr val="2E6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1" name="Text 74">
            <a:extLst>
              <a:ext uri="{FF2B5EF4-FFF2-40B4-BE49-F238E27FC236}">
                <a16:creationId xmlns:a16="http://schemas.microsoft.com/office/drawing/2014/main" id="{174A13B9-792A-2F5D-6D31-1C4B3A419DB9}"/>
              </a:ext>
            </a:extLst>
          </p:cNvPr>
          <p:cNvSpPr/>
          <p:nvPr/>
        </p:nvSpPr>
        <p:spPr>
          <a:xfrm>
            <a:off x="4521708" y="452250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Pass / Fail + Scores</a:t>
            </a:r>
            <a:endParaRPr lang="en-US" sz="640" dirty="0"/>
          </a:p>
          <a:p>
            <a:pPr marL="0" indent="0" algn="ctr">
              <a:lnSpc>
                <a:spcPct val="82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Explanations</a:t>
            </a:r>
            <a:endParaRPr lang="en-US" sz="640" dirty="0"/>
          </a:p>
        </p:txBody>
      </p:sp>
      <p:sp>
        <p:nvSpPr>
          <p:cNvPr id="302" name="Shape 75">
            <a:extLst>
              <a:ext uri="{FF2B5EF4-FFF2-40B4-BE49-F238E27FC236}">
                <a16:creationId xmlns:a16="http://schemas.microsoft.com/office/drawing/2014/main" id="{2F5CF9E5-1F92-677C-EB89-77F84BB720B0}"/>
              </a:ext>
            </a:extLst>
          </p:cNvPr>
          <p:cNvSpPr/>
          <p:nvPr/>
        </p:nvSpPr>
        <p:spPr>
          <a:xfrm>
            <a:off x="5879592" y="1889030"/>
            <a:ext cx="1316736" cy="5669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3" name="Shape 76">
            <a:extLst>
              <a:ext uri="{FF2B5EF4-FFF2-40B4-BE49-F238E27FC236}">
                <a16:creationId xmlns:a16="http://schemas.microsoft.com/office/drawing/2014/main" id="{E362F091-3547-CE23-173D-206C5AF2B363}"/>
              </a:ext>
            </a:extLst>
          </p:cNvPr>
          <p:cNvSpPr/>
          <p:nvPr/>
        </p:nvSpPr>
        <p:spPr>
          <a:xfrm>
            <a:off x="6400800" y="1934750"/>
            <a:ext cx="274320" cy="2743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4" name="Image 31" descr="/tmp/ic_shield_w.png">
            <a:extLst>
              <a:ext uri="{FF2B5EF4-FFF2-40B4-BE49-F238E27FC236}">
                <a16:creationId xmlns:a16="http://schemas.microsoft.com/office/drawing/2014/main" id="{7ECC9E6C-D064-3EFB-9D42-4967B8E6919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1092" y="1975898"/>
            <a:ext cx="173736" cy="173736"/>
          </a:xfrm>
          <a:prstGeom prst="rect">
            <a:avLst/>
          </a:prstGeom>
        </p:spPr>
      </p:pic>
      <p:sp>
        <p:nvSpPr>
          <p:cNvPr id="305" name="Text 77">
            <a:extLst>
              <a:ext uri="{FF2B5EF4-FFF2-40B4-BE49-F238E27FC236}">
                <a16:creationId xmlns:a16="http://schemas.microsoft.com/office/drawing/2014/main" id="{72133F6D-5D4F-CC6F-8FC0-75F749092E1E}"/>
              </a:ext>
            </a:extLst>
          </p:cNvPr>
          <p:cNvSpPr/>
          <p:nvPr/>
        </p:nvSpPr>
        <p:spPr>
          <a:xfrm>
            <a:off x="5879592" y="221821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POLICY &amp; GUARDRAILS
</a:t>
            </a:r>
            <a:r>
              <a:rPr lang="en-US" sz="580" i="1" dirty="0">
                <a:solidFill>
                  <a:srgbClr val="EA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(Authorize &amp; Protect)</a:t>
            </a:r>
            <a:endParaRPr lang="en-US" sz="660" dirty="0"/>
          </a:p>
        </p:txBody>
      </p:sp>
      <p:sp>
        <p:nvSpPr>
          <p:cNvPr id="306" name="Shape 78">
            <a:extLst>
              <a:ext uri="{FF2B5EF4-FFF2-40B4-BE49-F238E27FC236}">
                <a16:creationId xmlns:a16="http://schemas.microsoft.com/office/drawing/2014/main" id="{9FA620C5-3F82-1920-EED6-3397370A2952}"/>
              </a:ext>
            </a:extLst>
          </p:cNvPr>
          <p:cNvSpPr/>
          <p:nvPr/>
        </p:nvSpPr>
        <p:spPr>
          <a:xfrm>
            <a:off x="5879592" y="2455958"/>
            <a:ext cx="1316736" cy="2048256"/>
          </a:xfrm>
          <a:prstGeom prst="rect">
            <a:avLst/>
          </a:prstGeom>
          <a:solidFill>
            <a:srgbClr val="EA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7" name="Text 79">
            <a:extLst>
              <a:ext uri="{FF2B5EF4-FFF2-40B4-BE49-F238E27FC236}">
                <a16:creationId xmlns:a16="http://schemas.microsoft.com/office/drawing/2014/main" id="{FDC89C0B-31B2-D4EE-4976-D43FC5B0BD16}"/>
              </a:ext>
            </a:extLst>
          </p:cNvPr>
          <p:cNvSpPr/>
          <p:nvPr/>
        </p:nvSpPr>
        <p:spPr>
          <a:xfrm>
            <a:off x="5934456" y="250167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660" i="1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actions are allowed, safe, and compliant.</a:t>
            </a:r>
            <a:endParaRPr lang="en-US" sz="660" dirty="0"/>
          </a:p>
        </p:txBody>
      </p:sp>
      <p:pic>
        <p:nvPicPr>
          <p:cNvPr id="308" name="Image 32" descr="/tmp/ic_privacy_n.png">
            <a:extLst>
              <a:ext uri="{FF2B5EF4-FFF2-40B4-BE49-F238E27FC236}">
                <a16:creationId xmlns:a16="http://schemas.microsoft.com/office/drawing/2014/main" id="{5FC61701-B973-022F-7016-45EF4A17EE4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52744" y="2867438"/>
            <a:ext cx="118872" cy="118872"/>
          </a:xfrm>
          <a:prstGeom prst="rect">
            <a:avLst/>
          </a:prstGeom>
        </p:spPr>
      </p:pic>
      <p:sp>
        <p:nvSpPr>
          <p:cNvPr id="309" name="Text 80">
            <a:extLst>
              <a:ext uri="{FF2B5EF4-FFF2-40B4-BE49-F238E27FC236}">
                <a16:creationId xmlns:a16="http://schemas.microsoft.com/office/drawing/2014/main" id="{6B972AE3-4110-F9F0-95FC-4A06AF7725DF}"/>
              </a:ext>
            </a:extLst>
          </p:cNvPr>
          <p:cNvSpPr/>
          <p:nvPr/>
        </p:nvSpPr>
        <p:spPr>
          <a:xfrm>
            <a:off x="6108192" y="283086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4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&amp; Permissions</a:t>
            </a:r>
            <a:endParaRPr lang="en-US" sz="640" dirty="0"/>
          </a:p>
        </p:txBody>
      </p:sp>
      <p:pic>
        <p:nvPicPr>
          <p:cNvPr id="310" name="Image 33" descr="/tmp/ic_lock_n.png">
            <a:extLst>
              <a:ext uri="{FF2B5EF4-FFF2-40B4-BE49-F238E27FC236}">
                <a16:creationId xmlns:a16="http://schemas.microsoft.com/office/drawing/2014/main" id="{1564C691-E084-8BF2-53D0-CA709C282BD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52744" y="3141758"/>
            <a:ext cx="118872" cy="118872"/>
          </a:xfrm>
          <a:prstGeom prst="rect">
            <a:avLst/>
          </a:prstGeom>
        </p:spPr>
      </p:pic>
      <p:sp>
        <p:nvSpPr>
          <p:cNvPr id="311" name="Text 81">
            <a:extLst>
              <a:ext uri="{FF2B5EF4-FFF2-40B4-BE49-F238E27FC236}">
                <a16:creationId xmlns:a16="http://schemas.microsoft.com/office/drawing/2014/main" id="{2E182E28-8E82-2554-51AE-066BB3F690B5}"/>
              </a:ext>
            </a:extLst>
          </p:cNvPr>
          <p:cNvSpPr/>
          <p:nvPr/>
        </p:nvSpPr>
        <p:spPr>
          <a:xfrm>
            <a:off x="6108192" y="310518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4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/ PII Checks</a:t>
            </a:r>
            <a:endParaRPr lang="en-US" sz="640" dirty="0"/>
          </a:p>
        </p:txBody>
      </p:sp>
      <p:pic>
        <p:nvPicPr>
          <p:cNvPr id="312" name="Image 34" descr="/tmp/ic_gavel_n.png">
            <a:extLst>
              <a:ext uri="{FF2B5EF4-FFF2-40B4-BE49-F238E27FC236}">
                <a16:creationId xmlns:a16="http://schemas.microsoft.com/office/drawing/2014/main" id="{DE443F81-94CD-38C0-7750-45D0CC7BC2D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52744" y="3416078"/>
            <a:ext cx="118872" cy="118872"/>
          </a:xfrm>
          <a:prstGeom prst="rect">
            <a:avLst/>
          </a:prstGeom>
        </p:spPr>
      </p:pic>
      <p:sp>
        <p:nvSpPr>
          <p:cNvPr id="313" name="Text 82">
            <a:extLst>
              <a:ext uri="{FF2B5EF4-FFF2-40B4-BE49-F238E27FC236}">
                <a16:creationId xmlns:a16="http://schemas.microsoft.com/office/drawing/2014/main" id="{94B7EC11-CEAF-889E-017C-EE3CC53F2900}"/>
              </a:ext>
            </a:extLst>
          </p:cNvPr>
          <p:cNvSpPr/>
          <p:nvPr/>
        </p:nvSpPr>
        <p:spPr>
          <a:xfrm>
            <a:off x="6108192" y="337950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4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/ Regulations</a:t>
            </a:r>
            <a:endParaRPr lang="en-US" sz="640" dirty="0"/>
          </a:p>
        </p:txBody>
      </p:sp>
      <p:pic>
        <p:nvPicPr>
          <p:cNvPr id="314" name="Image 35" descr="/tmp/ic_gauge_n.png">
            <a:extLst>
              <a:ext uri="{FF2B5EF4-FFF2-40B4-BE49-F238E27FC236}">
                <a16:creationId xmlns:a16="http://schemas.microsoft.com/office/drawing/2014/main" id="{5ADCB28A-094A-CF45-F190-C5D57EC535A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52744" y="3690398"/>
            <a:ext cx="118872" cy="118872"/>
          </a:xfrm>
          <a:prstGeom prst="rect">
            <a:avLst/>
          </a:prstGeom>
        </p:spPr>
      </p:pic>
      <p:sp>
        <p:nvSpPr>
          <p:cNvPr id="315" name="Text 83">
            <a:extLst>
              <a:ext uri="{FF2B5EF4-FFF2-40B4-BE49-F238E27FC236}">
                <a16:creationId xmlns:a16="http://schemas.microsoft.com/office/drawing/2014/main" id="{406C3F63-7D6D-D466-38DC-098AF78010DD}"/>
              </a:ext>
            </a:extLst>
          </p:cNvPr>
          <p:cNvSpPr/>
          <p:nvPr/>
        </p:nvSpPr>
        <p:spPr>
          <a:xfrm>
            <a:off x="6108192" y="365382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4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&amp; Thresholds</a:t>
            </a:r>
            <a:endParaRPr lang="en-US" sz="640" dirty="0"/>
          </a:p>
        </p:txBody>
      </p:sp>
      <p:pic>
        <p:nvPicPr>
          <p:cNvPr id="316" name="Image 36" descr="/tmp/ic_sliders_n.png">
            <a:extLst>
              <a:ext uri="{FF2B5EF4-FFF2-40B4-BE49-F238E27FC236}">
                <a16:creationId xmlns:a16="http://schemas.microsoft.com/office/drawing/2014/main" id="{50F82C27-AA91-D1A8-00B9-AE73415868E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52744" y="3964718"/>
            <a:ext cx="118872" cy="118872"/>
          </a:xfrm>
          <a:prstGeom prst="rect">
            <a:avLst/>
          </a:prstGeom>
        </p:spPr>
      </p:pic>
      <p:sp>
        <p:nvSpPr>
          <p:cNvPr id="317" name="Text 84">
            <a:extLst>
              <a:ext uri="{FF2B5EF4-FFF2-40B4-BE49-F238E27FC236}">
                <a16:creationId xmlns:a16="http://schemas.microsoft.com/office/drawing/2014/main" id="{A8AAA96E-FA3E-77CE-E0E2-5DFC966E25FB}"/>
              </a:ext>
            </a:extLst>
          </p:cNvPr>
          <p:cNvSpPr/>
          <p:nvPr/>
        </p:nvSpPr>
        <p:spPr>
          <a:xfrm>
            <a:off x="6108192" y="392814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4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Constraints (Scopes, Limits)</a:t>
            </a:r>
            <a:endParaRPr lang="en-US" sz="640" dirty="0"/>
          </a:p>
        </p:txBody>
      </p:sp>
      <p:sp>
        <p:nvSpPr>
          <p:cNvPr id="318" name="Shape 85">
            <a:extLst>
              <a:ext uri="{FF2B5EF4-FFF2-40B4-BE49-F238E27FC236}">
                <a16:creationId xmlns:a16="http://schemas.microsoft.com/office/drawing/2014/main" id="{34B898B6-C76E-B65D-01E1-F8B572CAFE24}"/>
              </a:ext>
            </a:extLst>
          </p:cNvPr>
          <p:cNvSpPr/>
          <p:nvPr/>
        </p:nvSpPr>
        <p:spPr>
          <a:xfrm>
            <a:off x="5879592" y="4522502"/>
            <a:ext cx="1316736" cy="36576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9" name="Text 86">
            <a:extLst>
              <a:ext uri="{FF2B5EF4-FFF2-40B4-BE49-F238E27FC236}">
                <a16:creationId xmlns:a16="http://schemas.microsoft.com/office/drawing/2014/main" id="{C3A44CFA-7F63-1596-51A3-83A08A58E960}"/>
              </a:ext>
            </a:extLst>
          </p:cNvPr>
          <p:cNvSpPr/>
          <p:nvPr/>
        </p:nvSpPr>
        <p:spPr>
          <a:xfrm>
            <a:off x="5879592" y="452250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Allowed / Blocked</a:t>
            </a:r>
            <a:endParaRPr lang="en-US" sz="640" dirty="0"/>
          </a:p>
          <a:p>
            <a:pPr marL="0" indent="0" algn="ctr">
              <a:lnSpc>
                <a:spcPct val="82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Risk Score</a:t>
            </a:r>
            <a:endParaRPr lang="en-US" sz="640" dirty="0"/>
          </a:p>
        </p:txBody>
      </p:sp>
      <p:sp>
        <p:nvSpPr>
          <p:cNvPr id="320" name="Shape 87">
            <a:extLst>
              <a:ext uri="{FF2B5EF4-FFF2-40B4-BE49-F238E27FC236}">
                <a16:creationId xmlns:a16="http://schemas.microsoft.com/office/drawing/2014/main" id="{9B0FEAF1-CCC3-2F04-C85E-9C3DC9E0D617}"/>
              </a:ext>
            </a:extLst>
          </p:cNvPr>
          <p:cNvSpPr/>
          <p:nvPr/>
        </p:nvSpPr>
        <p:spPr>
          <a:xfrm>
            <a:off x="7237476" y="1889030"/>
            <a:ext cx="1316736" cy="566928"/>
          </a:xfrm>
          <a:prstGeom prst="rect">
            <a:avLst/>
          </a:prstGeom>
          <a:solidFill>
            <a:srgbClr val="E8A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1" name="Shape 88">
            <a:extLst>
              <a:ext uri="{FF2B5EF4-FFF2-40B4-BE49-F238E27FC236}">
                <a16:creationId xmlns:a16="http://schemas.microsoft.com/office/drawing/2014/main" id="{B6F66D00-4523-C90A-FB1E-3FA420371FA3}"/>
              </a:ext>
            </a:extLst>
          </p:cNvPr>
          <p:cNvSpPr/>
          <p:nvPr/>
        </p:nvSpPr>
        <p:spPr>
          <a:xfrm>
            <a:off x="7758684" y="1934750"/>
            <a:ext cx="274320" cy="2743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2" name="Image 37" descr="/tmp/ic_user_w.png">
            <a:extLst>
              <a:ext uri="{FF2B5EF4-FFF2-40B4-BE49-F238E27FC236}">
                <a16:creationId xmlns:a16="http://schemas.microsoft.com/office/drawing/2014/main" id="{11A67C85-CF4C-43AA-BD02-6ABCCA31DD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08976" y="1975898"/>
            <a:ext cx="173736" cy="173736"/>
          </a:xfrm>
          <a:prstGeom prst="rect">
            <a:avLst/>
          </a:prstGeom>
        </p:spPr>
      </p:pic>
      <p:sp>
        <p:nvSpPr>
          <p:cNvPr id="323" name="Text 89">
            <a:extLst>
              <a:ext uri="{FF2B5EF4-FFF2-40B4-BE49-F238E27FC236}">
                <a16:creationId xmlns:a16="http://schemas.microsoft.com/office/drawing/2014/main" id="{B68FAFBA-7A20-6D4C-5202-B724231DBF61}"/>
              </a:ext>
            </a:extLst>
          </p:cNvPr>
          <p:cNvSpPr/>
          <p:nvPr/>
        </p:nvSpPr>
        <p:spPr>
          <a:xfrm>
            <a:off x="7237476" y="221821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660" b="1" dirty="0">
                <a:solidFill>
                  <a:srgbClr val="5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HUMAN-IN-THE-LOOP
</a:t>
            </a:r>
            <a:r>
              <a:rPr lang="en-US" sz="580" i="1" dirty="0">
                <a:solidFill>
                  <a:srgbClr val="7A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(Approve High Risk)</a:t>
            </a:r>
            <a:endParaRPr lang="en-US" sz="660" dirty="0"/>
          </a:p>
        </p:txBody>
      </p:sp>
      <p:sp>
        <p:nvSpPr>
          <p:cNvPr id="324" name="Shape 90">
            <a:extLst>
              <a:ext uri="{FF2B5EF4-FFF2-40B4-BE49-F238E27FC236}">
                <a16:creationId xmlns:a16="http://schemas.microsoft.com/office/drawing/2014/main" id="{E7B0294B-7915-1EEB-E85D-F25BDADAB719}"/>
              </a:ext>
            </a:extLst>
          </p:cNvPr>
          <p:cNvSpPr/>
          <p:nvPr/>
        </p:nvSpPr>
        <p:spPr>
          <a:xfrm>
            <a:off x="7237476" y="2455958"/>
            <a:ext cx="1316736" cy="2048256"/>
          </a:xfrm>
          <a:prstGeom prst="rect">
            <a:avLst/>
          </a:prstGeom>
          <a:solidFill>
            <a:srgbClr val="FDF3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5" name="Text 91">
            <a:extLst>
              <a:ext uri="{FF2B5EF4-FFF2-40B4-BE49-F238E27FC236}">
                <a16:creationId xmlns:a16="http://schemas.microsoft.com/office/drawing/2014/main" id="{6F349741-0796-E465-5697-AD10088A840E}"/>
              </a:ext>
            </a:extLst>
          </p:cNvPr>
          <p:cNvSpPr/>
          <p:nvPr/>
        </p:nvSpPr>
        <p:spPr>
          <a:xfrm>
            <a:off x="7292340" y="250167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660" i="1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high-risk actions for human approval.</a:t>
            </a:r>
            <a:endParaRPr lang="en-US" sz="660" dirty="0"/>
          </a:p>
        </p:txBody>
      </p:sp>
      <p:pic>
        <p:nvPicPr>
          <p:cNvPr id="326" name="Image 38" descr="/tmp/ic_warn_o.png">
            <a:extLst>
              <a:ext uri="{FF2B5EF4-FFF2-40B4-BE49-F238E27FC236}">
                <a16:creationId xmlns:a16="http://schemas.microsoft.com/office/drawing/2014/main" id="{D4B2C354-DAD1-4EFD-6E80-FA3BF6BD0C6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47204" y="2867438"/>
            <a:ext cx="137160" cy="137160"/>
          </a:xfrm>
          <a:prstGeom prst="rect">
            <a:avLst/>
          </a:prstGeom>
        </p:spPr>
      </p:pic>
      <p:sp>
        <p:nvSpPr>
          <p:cNvPr id="327" name="Text 92">
            <a:extLst>
              <a:ext uri="{FF2B5EF4-FFF2-40B4-BE49-F238E27FC236}">
                <a16:creationId xmlns:a16="http://schemas.microsoft.com/office/drawing/2014/main" id="{8D73D9D5-9D93-59B0-6CC9-5D0CC1EB742E}"/>
              </a:ext>
            </a:extLst>
          </p:cNvPr>
          <p:cNvSpPr/>
          <p:nvPr/>
        </p:nvSpPr>
        <p:spPr>
          <a:xfrm>
            <a:off x="7520940" y="283086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6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Detected</a:t>
            </a:r>
            <a:endParaRPr lang="en-US" sz="660" dirty="0"/>
          </a:p>
        </p:txBody>
      </p:sp>
      <p:sp>
        <p:nvSpPr>
          <p:cNvPr id="328" name="Text 93">
            <a:extLst>
              <a:ext uri="{FF2B5EF4-FFF2-40B4-BE49-F238E27FC236}">
                <a16:creationId xmlns:a16="http://schemas.microsoft.com/office/drawing/2014/main" id="{D4DEBB69-0C50-7187-BEB0-48CE680D7748}"/>
              </a:ext>
            </a:extLst>
          </p:cNvPr>
          <p:cNvSpPr/>
          <p:nvPr/>
        </p:nvSpPr>
        <p:spPr>
          <a:xfrm>
            <a:off x="7365492" y="3041174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600" dirty="0"/>
          </a:p>
        </p:txBody>
      </p:sp>
      <p:pic>
        <p:nvPicPr>
          <p:cNvPr id="329" name="Image 39" descr="/tmp/ic_user_o.png">
            <a:extLst>
              <a:ext uri="{FF2B5EF4-FFF2-40B4-BE49-F238E27FC236}">
                <a16:creationId xmlns:a16="http://schemas.microsoft.com/office/drawing/2014/main" id="{7AAD90CE-B5FC-0FDE-BB35-D89CFD022B5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47204" y="3214910"/>
            <a:ext cx="137160" cy="137160"/>
          </a:xfrm>
          <a:prstGeom prst="rect">
            <a:avLst/>
          </a:prstGeom>
        </p:spPr>
      </p:pic>
      <p:sp>
        <p:nvSpPr>
          <p:cNvPr id="330" name="Text 94">
            <a:extLst>
              <a:ext uri="{FF2B5EF4-FFF2-40B4-BE49-F238E27FC236}">
                <a16:creationId xmlns:a16="http://schemas.microsoft.com/office/drawing/2014/main" id="{A000AF6C-85B5-5AA7-6D36-1414E3745E3A}"/>
              </a:ext>
            </a:extLst>
          </p:cNvPr>
          <p:cNvSpPr/>
          <p:nvPr/>
        </p:nvSpPr>
        <p:spPr>
          <a:xfrm>
            <a:off x="7520940" y="317833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6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by Human</a:t>
            </a:r>
            <a:endParaRPr lang="en-US" sz="660" dirty="0"/>
          </a:p>
        </p:txBody>
      </p:sp>
      <p:sp>
        <p:nvSpPr>
          <p:cNvPr id="331" name="Text 95">
            <a:extLst>
              <a:ext uri="{FF2B5EF4-FFF2-40B4-BE49-F238E27FC236}">
                <a16:creationId xmlns:a16="http://schemas.microsoft.com/office/drawing/2014/main" id="{88C341D9-4DB2-F37D-6127-B3BA83CEAE11}"/>
              </a:ext>
            </a:extLst>
          </p:cNvPr>
          <p:cNvSpPr/>
          <p:nvPr/>
        </p:nvSpPr>
        <p:spPr>
          <a:xfrm>
            <a:off x="7365492" y="3388646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600" dirty="0"/>
          </a:p>
        </p:txBody>
      </p:sp>
      <p:pic>
        <p:nvPicPr>
          <p:cNvPr id="332" name="Image 40" descr="/tmp/ic_check_g.png">
            <a:extLst>
              <a:ext uri="{FF2B5EF4-FFF2-40B4-BE49-F238E27FC236}">
                <a16:creationId xmlns:a16="http://schemas.microsoft.com/office/drawing/2014/main" id="{994A5262-D026-5835-F1C9-AC7908600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204" y="3562382"/>
            <a:ext cx="137160" cy="137160"/>
          </a:xfrm>
          <a:prstGeom prst="rect">
            <a:avLst/>
          </a:prstGeom>
        </p:spPr>
      </p:pic>
      <p:sp>
        <p:nvSpPr>
          <p:cNvPr id="333" name="Text 96">
            <a:extLst>
              <a:ext uri="{FF2B5EF4-FFF2-40B4-BE49-F238E27FC236}">
                <a16:creationId xmlns:a16="http://schemas.microsoft.com/office/drawing/2014/main" id="{B3B63B56-88A5-418A-8323-7EBF09D6AAD1}"/>
              </a:ext>
            </a:extLst>
          </p:cNvPr>
          <p:cNvSpPr/>
          <p:nvPr/>
        </p:nvSpPr>
        <p:spPr>
          <a:xfrm>
            <a:off x="7520940" y="352580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6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/ Override</a:t>
            </a:r>
            <a:endParaRPr lang="en-US" sz="660" dirty="0"/>
          </a:p>
        </p:txBody>
      </p:sp>
      <p:sp>
        <p:nvSpPr>
          <p:cNvPr id="334" name="Text 97">
            <a:extLst>
              <a:ext uri="{FF2B5EF4-FFF2-40B4-BE49-F238E27FC236}">
                <a16:creationId xmlns:a16="http://schemas.microsoft.com/office/drawing/2014/main" id="{AD81BA2D-A329-EAEF-8227-9C7BBC0C4930}"/>
              </a:ext>
            </a:extLst>
          </p:cNvPr>
          <p:cNvSpPr/>
          <p:nvPr/>
        </p:nvSpPr>
        <p:spPr>
          <a:xfrm>
            <a:off x="7365492" y="3736118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600" dirty="0"/>
          </a:p>
        </p:txBody>
      </p:sp>
      <p:pic>
        <p:nvPicPr>
          <p:cNvPr id="335" name="Image 41" descr="/tmp/ic_doc_n.png">
            <a:extLst>
              <a:ext uri="{FF2B5EF4-FFF2-40B4-BE49-F238E27FC236}">
                <a16:creationId xmlns:a16="http://schemas.microsoft.com/office/drawing/2014/main" id="{37428695-268F-6E12-9F91-626F13CC74E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47204" y="3909854"/>
            <a:ext cx="137160" cy="137160"/>
          </a:xfrm>
          <a:prstGeom prst="rect">
            <a:avLst/>
          </a:prstGeom>
        </p:spPr>
      </p:pic>
      <p:sp>
        <p:nvSpPr>
          <p:cNvPr id="336" name="Text 98">
            <a:extLst>
              <a:ext uri="{FF2B5EF4-FFF2-40B4-BE49-F238E27FC236}">
                <a16:creationId xmlns:a16="http://schemas.microsoft.com/office/drawing/2014/main" id="{DD2B5E64-1A06-F6A2-DE02-46AF9E47AC18}"/>
              </a:ext>
            </a:extLst>
          </p:cNvPr>
          <p:cNvSpPr/>
          <p:nvPr/>
        </p:nvSpPr>
        <p:spPr>
          <a:xfrm>
            <a:off x="7520940" y="387327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2000"/>
              </a:lnSpc>
              <a:buNone/>
            </a:pPr>
            <a:r>
              <a:rPr lang="en-US" sz="66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Recorded</a:t>
            </a:r>
            <a:endParaRPr lang="en-US" sz="660" dirty="0"/>
          </a:p>
        </p:txBody>
      </p:sp>
      <p:sp>
        <p:nvSpPr>
          <p:cNvPr id="337" name="Shape 99">
            <a:extLst>
              <a:ext uri="{FF2B5EF4-FFF2-40B4-BE49-F238E27FC236}">
                <a16:creationId xmlns:a16="http://schemas.microsoft.com/office/drawing/2014/main" id="{1A6787F6-E302-9522-4318-75FAE9A7DF38}"/>
              </a:ext>
            </a:extLst>
          </p:cNvPr>
          <p:cNvSpPr/>
          <p:nvPr/>
        </p:nvSpPr>
        <p:spPr>
          <a:xfrm>
            <a:off x="7237476" y="4522502"/>
            <a:ext cx="1316736" cy="365760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8" name="Text 100">
            <a:extLst>
              <a:ext uri="{FF2B5EF4-FFF2-40B4-BE49-F238E27FC236}">
                <a16:creationId xmlns:a16="http://schemas.microsoft.com/office/drawing/2014/main" id="{BEAE7371-D6BE-D8B5-138E-4939C9E170F4}"/>
              </a:ext>
            </a:extLst>
          </p:cNvPr>
          <p:cNvSpPr/>
          <p:nvPr/>
        </p:nvSpPr>
        <p:spPr>
          <a:xfrm>
            <a:off x="7237476" y="452250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Approved / Rejected</a:t>
            </a:r>
            <a:endParaRPr lang="en-US" sz="640" dirty="0"/>
          </a:p>
          <a:p>
            <a:pPr marL="0" indent="0" algn="ctr">
              <a:lnSpc>
                <a:spcPct val="82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Record</a:t>
            </a:r>
            <a:endParaRPr lang="en-US" sz="640" dirty="0"/>
          </a:p>
        </p:txBody>
      </p:sp>
      <p:sp>
        <p:nvSpPr>
          <p:cNvPr id="339" name="Shape 104">
            <a:extLst>
              <a:ext uri="{FF2B5EF4-FFF2-40B4-BE49-F238E27FC236}">
                <a16:creationId xmlns:a16="http://schemas.microsoft.com/office/drawing/2014/main" id="{98B518FA-C26D-7A32-C1BF-721442029CC7}"/>
              </a:ext>
            </a:extLst>
          </p:cNvPr>
          <p:cNvSpPr/>
          <p:nvPr/>
        </p:nvSpPr>
        <p:spPr>
          <a:xfrm>
            <a:off x="4114800" y="5153438"/>
            <a:ext cx="3520440" cy="457200"/>
          </a:xfrm>
          <a:prstGeom prst="rect">
            <a:avLst/>
          </a:prstGeom>
          <a:solidFill>
            <a:srgbClr val="0F22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0" name="Image 42" descr="/tmp/ic_shield_w.png">
            <a:extLst>
              <a:ext uri="{FF2B5EF4-FFF2-40B4-BE49-F238E27FC236}">
                <a16:creationId xmlns:a16="http://schemas.microsoft.com/office/drawing/2014/main" id="{2A5B078D-3820-6D1A-2F40-9123C6888F9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43400" y="5263166"/>
            <a:ext cx="237744" cy="237744"/>
          </a:xfrm>
          <a:prstGeom prst="rect">
            <a:avLst/>
          </a:prstGeom>
        </p:spPr>
      </p:pic>
      <p:sp>
        <p:nvSpPr>
          <p:cNvPr id="341" name="Text 105">
            <a:extLst>
              <a:ext uri="{FF2B5EF4-FFF2-40B4-BE49-F238E27FC236}">
                <a16:creationId xmlns:a16="http://schemas.microsoft.com/office/drawing/2014/main" id="{461587E4-3346-C03D-C165-7B6FCDC6223B}"/>
              </a:ext>
            </a:extLst>
          </p:cNvPr>
          <p:cNvSpPr/>
          <p:nvPr/>
        </p:nvSpPr>
        <p:spPr>
          <a:xfrm>
            <a:off x="4663440" y="515343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RESULT
</a:t>
            </a:r>
            <a:r>
              <a:rPr lang="en-US" sz="8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decision with full audit trail</a:t>
            </a:r>
            <a:endParaRPr lang="en-US" sz="1100" dirty="0"/>
          </a:p>
        </p:txBody>
      </p:sp>
      <p:sp>
        <p:nvSpPr>
          <p:cNvPr id="342" name="Shape 106">
            <a:extLst>
              <a:ext uri="{FF2B5EF4-FFF2-40B4-BE49-F238E27FC236}">
                <a16:creationId xmlns:a16="http://schemas.microsoft.com/office/drawing/2014/main" id="{4EFE13C9-342C-AD1D-E4DF-8428A664335D}"/>
              </a:ext>
            </a:extLst>
          </p:cNvPr>
          <p:cNvSpPr/>
          <p:nvPr/>
        </p:nvSpPr>
        <p:spPr>
          <a:xfrm>
            <a:off x="5875020" y="5080286"/>
            <a:ext cx="0" cy="73152"/>
          </a:xfrm>
          <a:prstGeom prst="line">
            <a:avLst/>
          </a:prstGeom>
          <a:noFill/>
          <a:ln w="19050">
            <a:solidFill>
              <a:srgbClr val="0F22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107">
            <a:extLst>
              <a:ext uri="{FF2B5EF4-FFF2-40B4-BE49-F238E27FC236}">
                <a16:creationId xmlns:a16="http://schemas.microsoft.com/office/drawing/2014/main" id="{03E4FBB1-6B09-476D-7A4F-26B0E2E89FCA}"/>
              </a:ext>
            </a:extLst>
          </p:cNvPr>
          <p:cNvSpPr/>
          <p:nvPr/>
        </p:nvSpPr>
        <p:spPr>
          <a:xfrm>
            <a:off x="8796528" y="1459262"/>
            <a:ext cx="2926080" cy="274320"/>
          </a:xfrm>
          <a:prstGeom prst="rect">
            <a:avLst/>
          </a:prstGeom>
          <a:solidFill>
            <a:srgbClr val="6B4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4" name="Text 108">
            <a:extLst>
              <a:ext uri="{FF2B5EF4-FFF2-40B4-BE49-F238E27FC236}">
                <a16:creationId xmlns:a16="http://schemas.microsoft.com/office/drawing/2014/main" id="{131565EF-26BB-2686-777B-29F99755A253}"/>
              </a:ext>
            </a:extLst>
          </p:cNvPr>
          <p:cNvSpPr/>
          <p:nvPr/>
        </p:nvSpPr>
        <p:spPr>
          <a:xfrm>
            <a:off x="8796528" y="145926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LOOP</a:t>
            </a:r>
            <a:endParaRPr lang="en-US" sz="1000" dirty="0"/>
          </a:p>
        </p:txBody>
      </p:sp>
      <p:sp>
        <p:nvSpPr>
          <p:cNvPr id="345" name="Shape 109">
            <a:extLst>
              <a:ext uri="{FF2B5EF4-FFF2-40B4-BE49-F238E27FC236}">
                <a16:creationId xmlns:a16="http://schemas.microsoft.com/office/drawing/2014/main" id="{ED504362-38ED-AADC-2C25-BF760951C85F}"/>
              </a:ext>
            </a:extLst>
          </p:cNvPr>
          <p:cNvSpPr/>
          <p:nvPr/>
        </p:nvSpPr>
        <p:spPr>
          <a:xfrm>
            <a:off x="8796528" y="1733582"/>
            <a:ext cx="2889504" cy="2377440"/>
          </a:xfrm>
          <a:prstGeom prst="rect">
            <a:avLst/>
          </a:prstGeom>
          <a:solidFill>
            <a:srgbClr val="F6F4FB"/>
          </a:solidFill>
          <a:ln w="9525">
            <a:solidFill>
              <a:srgbClr val="DCD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Text 110">
            <a:extLst>
              <a:ext uri="{FF2B5EF4-FFF2-40B4-BE49-F238E27FC236}">
                <a16:creationId xmlns:a16="http://schemas.microsoft.com/office/drawing/2014/main" id="{214DAED1-EEAA-FDD9-1B81-617162FA3F9B}"/>
              </a:ext>
            </a:extLst>
          </p:cNvPr>
          <p:cNvSpPr/>
          <p:nvPr/>
        </p:nvSpPr>
        <p:spPr>
          <a:xfrm>
            <a:off x="8887968" y="177930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improvement with evidence.</a:t>
            </a:r>
            <a:endParaRPr lang="en-US" sz="800" dirty="0"/>
          </a:p>
        </p:txBody>
      </p:sp>
      <p:sp>
        <p:nvSpPr>
          <p:cNvPr id="347" name="Shape 111">
            <a:extLst>
              <a:ext uri="{FF2B5EF4-FFF2-40B4-BE49-F238E27FC236}">
                <a16:creationId xmlns:a16="http://schemas.microsoft.com/office/drawing/2014/main" id="{15C19CF9-12BC-A180-240B-4F0670321C03}"/>
              </a:ext>
            </a:extLst>
          </p:cNvPr>
          <p:cNvSpPr/>
          <p:nvPr/>
        </p:nvSpPr>
        <p:spPr>
          <a:xfrm>
            <a:off x="10085832" y="224564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9B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8" name="Image 43" descr="/tmp/ic_doc_gen_p.png">
            <a:extLst>
              <a:ext uri="{FF2B5EF4-FFF2-40B4-BE49-F238E27FC236}">
                <a16:creationId xmlns:a16="http://schemas.microsoft.com/office/drawing/2014/main" id="{BFBBF377-4F94-BD77-8726-658B4CDD57D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149840" y="2309654"/>
            <a:ext cx="219456" cy="219456"/>
          </a:xfrm>
          <a:prstGeom prst="rect">
            <a:avLst/>
          </a:prstGeom>
        </p:spPr>
      </p:pic>
      <p:sp>
        <p:nvSpPr>
          <p:cNvPr id="349" name="Shape 112">
            <a:extLst>
              <a:ext uri="{FF2B5EF4-FFF2-40B4-BE49-F238E27FC236}">
                <a16:creationId xmlns:a16="http://schemas.microsoft.com/office/drawing/2014/main" id="{BB5A9084-49B0-7A07-D25E-8828BA1EF4D9}"/>
              </a:ext>
            </a:extLst>
          </p:cNvPr>
          <p:cNvSpPr/>
          <p:nvPr/>
        </p:nvSpPr>
        <p:spPr>
          <a:xfrm>
            <a:off x="11018520" y="274856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9B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0" name="Image 44" descr="/tmp/ic_search_verify_p.png">
            <a:extLst>
              <a:ext uri="{FF2B5EF4-FFF2-40B4-BE49-F238E27FC236}">
                <a16:creationId xmlns:a16="http://schemas.microsoft.com/office/drawing/2014/main" id="{37DC561C-D2AF-424D-C4D4-001818C9C40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082528" y="2812574"/>
            <a:ext cx="219456" cy="219456"/>
          </a:xfrm>
          <a:prstGeom prst="rect">
            <a:avLst/>
          </a:prstGeom>
        </p:spPr>
      </p:pic>
      <p:sp>
        <p:nvSpPr>
          <p:cNvPr id="351" name="Shape 113">
            <a:extLst>
              <a:ext uri="{FF2B5EF4-FFF2-40B4-BE49-F238E27FC236}">
                <a16:creationId xmlns:a16="http://schemas.microsoft.com/office/drawing/2014/main" id="{E5FE1543-0DFB-EFAA-8A2E-C64FA8B9627E}"/>
              </a:ext>
            </a:extLst>
          </p:cNvPr>
          <p:cNvSpPr/>
          <p:nvPr/>
        </p:nvSpPr>
        <p:spPr>
          <a:xfrm>
            <a:off x="10085832" y="331549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9B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2" name="Image 45" descr="/tmp/ic_wrench_p.png">
            <a:extLst>
              <a:ext uri="{FF2B5EF4-FFF2-40B4-BE49-F238E27FC236}">
                <a16:creationId xmlns:a16="http://schemas.microsoft.com/office/drawing/2014/main" id="{FFB89F61-9CE0-2479-C65D-A6563C57249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149840" y="3379502"/>
            <a:ext cx="219456" cy="219456"/>
          </a:xfrm>
          <a:prstGeom prst="rect">
            <a:avLst/>
          </a:prstGeom>
        </p:spPr>
      </p:pic>
      <p:sp>
        <p:nvSpPr>
          <p:cNvPr id="353" name="Shape 114">
            <a:extLst>
              <a:ext uri="{FF2B5EF4-FFF2-40B4-BE49-F238E27FC236}">
                <a16:creationId xmlns:a16="http://schemas.microsoft.com/office/drawing/2014/main" id="{4CB05AAC-DCF5-5399-E246-21BD933F04A2}"/>
              </a:ext>
            </a:extLst>
          </p:cNvPr>
          <p:cNvSpPr/>
          <p:nvPr/>
        </p:nvSpPr>
        <p:spPr>
          <a:xfrm>
            <a:off x="9153144" y="274856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9B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4" name="Image 46" descr="/tmp/ic_retry_p.png">
            <a:extLst>
              <a:ext uri="{FF2B5EF4-FFF2-40B4-BE49-F238E27FC236}">
                <a16:creationId xmlns:a16="http://schemas.microsoft.com/office/drawing/2014/main" id="{EE5F7BA1-6DC1-3B00-4D1F-004B0A52CC4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217152" y="2812574"/>
            <a:ext cx="219456" cy="219456"/>
          </a:xfrm>
          <a:prstGeom prst="rect">
            <a:avLst/>
          </a:prstGeom>
        </p:spPr>
      </p:pic>
      <p:sp>
        <p:nvSpPr>
          <p:cNvPr id="359" name="Text 119">
            <a:extLst>
              <a:ext uri="{FF2B5EF4-FFF2-40B4-BE49-F238E27FC236}">
                <a16:creationId xmlns:a16="http://schemas.microsoft.com/office/drawing/2014/main" id="{B242E6FA-FEFD-1CCA-DF86-7F7E8A791D60}"/>
              </a:ext>
            </a:extLst>
          </p:cNvPr>
          <p:cNvSpPr/>
          <p:nvPr/>
        </p:nvSpPr>
        <p:spPr>
          <a:xfrm>
            <a:off x="9528048" y="196218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730" b="1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
</a:t>
            </a:r>
            <a:r>
              <a:rPr lang="en-US" sz="62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 Output)</a:t>
            </a:r>
            <a:endParaRPr lang="en-US" sz="730" dirty="0"/>
          </a:p>
        </p:txBody>
      </p:sp>
      <p:sp>
        <p:nvSpPr>
          <p:cNvPr id="360" name="Text 120">
            <a:extLst>
              <a:ext uri="{FF2B5EF4-FFF2-40B4-BE49-F238E27FC236}">
                <a16:creationId xmlns:a16="http://schemas.microsoft.com/office/drawing/2014/main" id="{9A450924-A1D4-4023-BC92-F0B23A4E87C5}"/>
              </a:ext>
            </a:extLst>
          </p:cNvPr>
          <p:cNvSpPr/>
          <p:nvPr/>
        </p:nvSpPr>
        <p:spPr>
          <a:xfrm>
            <a:off x="10991088" y="312347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730" b="1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
</a:t>
            </a:r>
            <a:r>
              <a:rPr lang="en-US" sz="60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(Collect &amp; Evaluate Evidence)</a:t>
            </a:r>
            <a:endParaRPr lang="en-US" sz="730" dirty="0"/>
          </a:p>
        </p:txBody>
      </p:sp>
      <p:sp>
        <p:nvSpPr>
          <p:cNvPr id="361" name="Text 121">
            <a:extLst>
              <a:ext uri="{FF2B5EF4-FFF2-40B4-BE49-F238E27FC236}">
                <a16:creationId xmlns:a16="http://schemas.microsoft.com/office/drawing/2014/main" id="{1E45F6D8-AC8B-D276-997C-8EB95970B819}"/>
              </a:ext>
            </a:extLst>
          </p:cNvPr>
          <p:cNvSpPr/>
          <p:nvPr/>
        </p:nvSpPr>
        <p:spPr>
          <a:xfrm>
            <a:off x="8705088" y="312347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730" b="1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
</a:t>
            </a:r>
            <a:r>
              <a:rPr lang="en-US" sz="60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(Re-attempt Action)</a:t>
            </a:r>
            <a:endParaRPr lang="en-US" sz="730" dirty="0"/>
          </a:p>
        </p:txBody>
      </p:sp>
      <p:sp>
        <p:nvSpPr>
          <p:cNvPr id="362" name="Text 122">
            <a:extLst>
              <a:ext uri="{FF2B5EF4-FFF2-40B4-BE49-F238E27FC236}">
                <a16:creationId xmlns:a16="http://schemas.microsoft.com/office/drawing/2014/main" id="{F717E181-919D-DBE0-5F9F-3B959C4B4BD3}"/>
              </a:ext>
            </a:extLst>
          </p:cNvPr>
          <p:cNvSpPr/>
          <p:nvPr/>
        </p:nvSpPr>
        <p:spPr>
          <a:xfrm>
            <a:off x="9436608" y="363553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730" b="1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
</a:t>
            </a:r>
            <a:r>
              <a:rPr lang="en-US" sz="600" dirty="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(Fix based on Feedback)</a:t>
            </a:r>
            <a:endParaRPr lang="en-US" sz="730" dirty="0"/>
          </a:p>
        </p:txBody>
      </p: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552AB746-47C9-AA67-C391-C064FC86A781}"/>
              </a:ext>
            </a:extLst>
          </p:cNvPr>
          <p:cNvGrpSpPr/>
          <p:nvPr/>
        </p:nvGrpSpPr>
        <p:grpSpPr>
          <a:xfrm>
            <a:off x="8851392" y="4211606"/>
            <a:ext cx="2926080" cy="2048256"/>
            <a:chOff x="8851392" y="4211606"/>
            <a:chExt cx="2926080" cy="2048256"/>
          </a:xfrm>
        </p:grpSpPr>
        <p:sp>
          <p:nvSpPr>
            <p:cNvPr id="363" name="Shape 123">
              <a:extLst>
                <a:ext uri="{FF2B5EF4-FFF2-40B4-BE49-F238E27FC236}">
                  <a16:creationId xmlns:a16="http://schemas.microsoft.com/office/drawing/2014/main" id="{7E59BB7F-08B0-0A79-96EB-BD796F709FD0}"/>
                </a:ext>
              </a:extLst>
            </p:cNvPr>
            <p:cNvSpPr/>
            <p:nvPr/>
          </p:nvSpPr>
          <p:spPr>
            <a:xfrm>
              <a:off x="8851392" y="4211606"/>
              <a:ext cx="2926080" cy="274320"/>
            </a:xfrm>
            <a:prstGeom prst="rect">
              <a:avLst/>
            </a:prstGeom>
            <a:solidFill>
              <a:srgbClr val="2E6BE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4" name="Text 124">
              <a:extLst>
                <a:ext uri="{FF2B5EF4-FFF2-40B4-BE49-F238E27FC236}">
                  <a16:creationId xmlns:a16="http://schemas.microsoft.com/office/drawing/2014/main" id="{C9AE67C2-3017-3778-B4F0-C2F15B94621A}"/>
                </a:ext>
              </a:extLst>
            </p:cNvPr>
            <p:cNvSpPr/>
            <p:nvPr/>
          </p:nvSpPr>
          <p:spPr>
            <a:xfrm>
              <a:off x="8851392" y="4211606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1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DESIGN PRINCIPLES</a:t>
              </a:r>
              <a:endParaRPr lang="en-US" sz="1000" dirty="0"/>
            </a:p>
          </p:txBody>
        </p:sp>
        <p:sp>
          <p:nvSpPr>
            <p:cNvPr id="365" name="Shape 125">
              <a:extLst>
                <a:ext uri="{FF2B5EF4-FFF2-40B4-BE49-F238E27FC236}">
                  <a16:creationId xmlns:a16="http://schemas.microsoft.com/office/drawing/2014/main" id="{D35B1C0C-E86E-6A4A-13B0-21FA5400EF20}"/>
                </a:ext>
              </a:extLst>
            </p:cNvPr>
            <p:cNvSpPr/>
            <p:nvPr/>
          </p:nvSpPr>
          <p:spPr>
            <a:xfrm>
              <a:off x="8906256" y="4577366"/>
              <a:ext cx="237744" cy="237744"/>
            </a:xfrm>
            <a:prstGeom prst="ellipse">
              <a:avLst/>
            </a:prstGeom>
            <a:solidFill>
              <a:srgbClr val="E9F0FA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366" name="Image 47" descr="/tmp/ic_sliders_n.png">
              <a:extLst>
                <a:ext uri="{FF2B5EF4-FFF2-40B4-BE49-F238E27FC236}">
                  <a16:creationId xmlns:a16="http://schemas.microsoft.com/office/drawing/2014/main" id="{2F31C62D-B52F-028B-D933-F311BB3EB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956548" y="4627658"/>
              <a:ext cx="137160" cy="137160"/>
            </a:xfrm>
            <a:prstGeom prst="rect">
              <a:avLst/>
            </a:prstGeom>
          </p:spPr>
        </p:pic>
        <p:sp>
          <p:nvSpPr>
            <p:cNvPr id="367" name="Text 126">
              <a:extLst>
                <a:ext uri="{FF2B5EF4-FFF2-40B4-BE49-F238E27FC236}">
                  <a16:creationId xmlns:a16="http://schemas.microsoft.com/office/drawing/2014/main" id="{277D6949-25AB-4AC9-DDFA-C7437473A8C3}"/>
                </a:ext>
              </a:extLst>
            </p:cNvPr>
            <p:cNvSpPr/>
            <p:nvPr/>
          </p:nvSpPr>
          <p:spPr>
            <a:xfrm>
              <a:off x="9217152" y="4540790"/>
              <a:ext cx="250545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82000"/>
                </a:lnSpc>
                <a:buNone/>
              </a:pPr>
              <a:r>
                <a:rPr lang="en-US" sz="760" b="1" dirty="0">
                  <a:solidFill>
                    <a:srgbClr val="2E6B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Deterministic First  </a:t>
              </a:r>
              <a:r>
                <a:rPr lang="en-US" sz="670" dirty="0">
                  <a:solidFill>
                    <a:srgbClr val="3A48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Prefer tests, rules and schemas over LLM opinions.</a:t>
              </a:r>
              <a:endParaRPr lang="en-US" sz="760" dirty="0"/>
            </a:p>
          </p:txBody>
        </p:sp>
        <p:sp>
          <p:nvSpPr>
            <p:cNvPr id="368" name="Shape 127">
              <a:extLst>
                <a:ext uri="{FF2B5EF4-FFF2-40B4-BE49-F238E27FC236}">
                  <a16:creationId xmlns:a16="http://schemas.microsoft.com/office/drawing/2014/main" id="{F49D226D-28AA-73E6-73C8-8D0433330CEA}"/>
                </a:ext>
              </a:extLst>
            </p:cNvPr>
            <p:cNvSpPr/>
            <p:nvPr/>
          </p:nvSpPr>
          <p:spPr>
            <a:xfrm>
              <a:off x="8906256" y="4924838"/>
              <a:ext cx="237744" cy="237744"/>
            </a:xfrm>
            <a:prstGeom prst="ellipse">
              <a:avLst/>
            </a:prstGeom>
            <a:solidFill>
              <a:srgbClr val="E9F0FA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369" name="Image 48" descr="/tmp/ic_doc_n.png">
              <a:extLst>
                <a:ext uri="{FF2B5EF4-FFF2-40B4-BE49-F238E27FC236}">
                  <a16:creationId xmlns:a16="http://schemas.microsoft.com/office/drawing/2014/main" id="{1B86E288-5E89-55F9-3FF5-99451AF11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8956548" y="4975130"/>
              <a:ext cx="137160" cy="137160"/>
            </a:xfrm>
            <a:prstGeom prst="rect">
              <a:avLst/>
            </a:prstGeom>
          </p:spPr>
        </p:pic>
        <p:sp>
          <p:nvSpPr>
            <p:cNvPr id="370" name="Text 128">
              <a:extLst>
                <a:ext uri="{FF2B5EF4-FFF2-40B4-BE49-F238E27FC236}">
                  <a16:creationId xmlns:a16="http://schemas.microsoft.com/office/drawing/2014/main" id="{BACE3076-8DF0-F238-3FC6-316B6423140A}"/>
                </a:ext>
              </a:extLst>
            </p:cNvPr>
            <p:cNvSpPr/>
            <p:nvPr/>
          </p:nvSpPr>
          <p:spPr>
            <a:xfrm>
              <a:off x="9217152" y="4888262"/>
              <a:ext cx="250545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82000"/>
                </a:lnSpc>
                <a:buNone/>
              </a:pPr>
              <a:r>
                <a:rPr lang="en-US" sz="760" b="1" dirty="0">
                  <a:solidFill>
                    <a:srgbClr val="2E6B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Evidence Over Assertions  </a:t>
              </a:r>
              <a:r>
                <a:rPr lang="en-US" sz="670" dirty="0">
                  <a:solidFill>
                    <a:srgbClr val="3A48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Record logs, metrics, and artifacts instead of trusting model claims.</a:t>
              </a:r>
              <a:endParaRPr lang="en-US" sz="760" dirty="0"/>
            </a:p>
          </p:txBody>
        </p:sp>
        <p:sp>
          <p:nvSpPr>
            <p:cNvPr id="371" name="Shape 129">
              <a:extLst>
                <a:ext uri="{FF2B5EF4-FFF2-40B4-BE49-F238E27FC236}">
                  <a16:creationId xmlns:a16="http://schemas.microsoft.com/office/drawing/2014/main" id="{9B51C2EE-8EBE-EF31-4605-43F9D86C97EE}"/>
                </a:ext>
              </a:extLst>
            </p:cNvPr>
            <p:cNvSpPr/>
            <p:nvPr/>
          </p:nvSpPr>
          <p:spPr>
            <a:xfrm>
              <a:off x="8906256" y="5272310"/>
              <a:ext cx="237744" cy="237744"/>
            </a:xfrm>
            <a:prstGeom prst="ellipse">
              <a:avLst/>
            </a:prstGeom>
            <a:solidFill>
              <a:srgbClr val="E9F0FA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372" name="Image 49" descr="/tmp/ic_layer_p.png">
              <a:extLst>
                <a:ext uri="{FF2B5EF4-FFF2-40B4-BE49-F238E27FC236}">
                  <a16:creationId xmlns:a16="http://schemas.microsoft.com/office/drawing/2014/main" id="{A2468070-9F07-968B-6E93-E69267B14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8956548" y="5322602"/>
              <a:ext cx="137160" cy="137160"/>
            </a:xfrm>
            <a:prstGeom prst="rect">
              <a:avLst/>
            </a:prstGeom>
          </p:spPr>
        </p:pic>
        <p:sp>
          <p:nvSpPr>
            <p:cNvPr id="373" name="Text 130">
              <a:extLst>
                <a:ext uri="{FF2B5EF4-FFF2-40B4-BE49-F238E27FC236}">
                  <a16:creationId xmlns:a16="http://schemas.microsoft.com/office/drawing/2014/main" id="{45504039-7039-84E0-7CBE-497FCD6996D2}"/>
                </a:ext>
              </a:extLst>
            </p:cNvPr>
            <p:cNvSpPr/>
            <p:nvPr/>
          </p:nvSpPr>
          <p:spPr>
            <a:xfrm>
              <a:off x="9217152" y="5235734"/>
              <a:ext cx="250545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82000"/>
                </a:lnSpc>
                <a:buNone/>
              </a:pPr>
              <a:r>
                <a:rPr lang="en-US" sz="760" b="1" dirty="0">
                  <a:solidFill>
                    <a:srgbClr val="2E6B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Layered Verification  </a:t>
              </a:r>
              <a:r>
                <a:rPr lang="en-US" sz="670" dirty="0">
                  <a:solidFill>
                    <a:srgbClr val="3A48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Combine sensors, judges, policy checks, and human approval.</a:t>
              </a:r>
              <a:endParaRPr lang="en-US" sz="760" dirty="0"/>
            </a:p>
          </p:txBody>
        </p:sp>
        <p:sp>
          <p:nvSpPr>
            <p:cNvPr id="374" name="Shape 131">
              <a:extLst>
                <a:ext uri="{FF2B5EF4-FFF2-40B4-BE49-F238E27FC236}">
                  <a16:creationId xmlns:a16="http://schemas.microsoft.com/office/drawing/2014/main" id="{6F79CEE6-4FBE-4215-B9A9-48553DC4CAF5}"/>
                </a:ext>
              </a:extLst>
            </p:cNvPr>
            <p:cNvSpPr/>
            <p:nvPr/>
          </p:nvSpPr>
          <p:spPr>
            <a:xfrm>
              <a:off x="8906256" y="5619782"/>
              <a:ext cx="237744" cy="237744"/>
            </a:xfrm>
            <a:prstGeom prst="ellipse">
              <a:avLst/>
            </a:prstGeom>
            <a:solidFill>
              <a:srgbClr val="E9F0FA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375" name="Image 50" descr="/tmp/ic_sync_p.png">
              <a:extLst>
                <a:ext uri="{FF2B5EF4-FFF2-40B4-BE49-F238E27FC236}">
                  <a16:creationId xmlns:a16="http://schemas.microsoft.com/office/drawing/2014/main" id="{D42716C5-F446-B447-2CF3-91508CE2F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8956548" y="5670074"/>
              <a:ext cx="137160" cy="137160"/>
            </a:xfrm>
            <a:prstGeom prst="rect">
              <a:avLst/>
            </a:prstGeom>
          </p:spPr>
        </p:pic>
        <p:sp>
          <p:nvSpPr>
            <p:cNvPr id="376" name="Text 132">
              <a:extLst>
                <a:ext uri="{FF2B5EF4-FFF2-40B4-BE49-F238E27FC236}">
                  <a16:creationId xmlns:a16="http://schemas.microsoft.com/office/drawing/2014/main" id="{30F09407-85F3-7C68-2696-E3121300CA9C}"/>
                </a:ext>
              </a:extLst>
            </p:cNvPr>
            <p:cNvSpPr/>
            <p:nvPr/>
          </p:nvSpPr>
          <p:spPr>
            <a:xfrm>
              <a:off x="9217152" y="5583206"/>
              <a:ext cx="250545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82000"/>
                </a:lnSpc>
                <a:buNone/>
              </a:pPr>
              <a:r>
                <a:rPr lang="en-US" sz="760" b="1" dirty="0">
                  <a:solidFill>
                    <a:srgbClr val="2E6B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Bounded Retries  </a:t>
              </a:r>
              <a:r>
                <a:rPr lang="en-US" sz="670" dirty="0">
                  <a:solidFill>
                    <a:srgbClr val="3A48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Allow repair loops with limits to avoid infinite cycles.</a:t>
              </a:r>
              <a:endParaRPr lang="en-US" sz="760" dirty="0"/>
            </a:p>
          </p:txBody>
        </p:sp>
        <p:sp>
          <p:nvSpPr>
            <p:cNvPr id="377" name="Shape 133">
              <a:extLst>
                <a:ext uri="{FF2B5EF4-FFF2-40B4-BE49-F238E27FC236}">
                  <a16:creationId xmlns:a16="http://schemas.microsoft.com/office/drawing/2014/main" id="{D6BB7288-7C5A-5F69-49BC-2A4E3F67A166}"/>
                </a:ext>
              </a:extLst>
            </p:cNvPr>
            <p:cNvSpPr/>
            <p:nvPr/>
          </p:nvSpPr>
          <p:spPr>
            <a:xfrm>
              <a:off x="8906256" y="5967254"/>
              <a:ext cx="237744" cy="237744"/>
            </a:xfrm>
            <a:prstGeom prst="ellipse">
              <a:avLst/>
            </a:prstGeom>
            <a:solidFill>
              <a:srgbClr val="E9F0FA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378" name="Image 51" descr="/tmp/ic_book_p.png">
              <a:extLst>
                <a:ext uri="{FF2B5EF4-FFF2-40B4-BE49-F238E27FC236}">
                  <a16:creationId xmlns:a16="http://schemas.microsoft.com/office/drawing/2014/main" id="{2CBB3934-09BD-9AF9-7BEC-F4DBCEE9F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8956548" y="6017546"/>
              <a:ext cx="137160" cy="137160"/>
            </a:xfrm>
            <a:prstGeom prst="rect">
              <a:avLst/>
            </a:prstGeom>
          </p:spPr>
        </p:pic>
        <p:sp>
          <p:nvSpPr>
            <p:cNvPr id="379" name="Text 134">
              <a:extLst>
                <a:ext uri="{FF2B5EF4-FFF2-40B4-BE49-F238E27FC236}">
                  <a16:creationId xmlns:a16="http://schemas.microsoft.com/office/drawing/2014/main" id="{3ED3F8FF-F3C8-508B-E9C2-1E73A03D7573}"/>
                </a:ext>
              </a:extLst>
            </p:cNvPr>
            <p:cNvSpPr/>
            <p:nvPr/>
          </p:nvSpPr>
          <p:spPr>
            <a:xfrm>
              <a:off x="9217152" y="5930678"/>
              <a:ext cx="250545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82000"/>
                </a:lnSpc>
                <a:buNone/>
              </a:pPr>
              <a:r>
                <a:rPr lang="en-US" sz="760" b="1" dirty="0">
                  <a:solidFill>
                    <a:srgbClr val="2E6B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Fully Auditable  </a:t>
              </a:r>
              <a:r>
                <a:rPr lang="en-US" sz="670" dirty="0">
                  <a:solidFill>
                    <a:srgbClr val="3A48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Persist every decision for replay, compliance, and observability.</a:t>
              </a:r>
              <a:endParaRPr lang="en-US" sz="760" dirty="0"/>
            </a:p>
          </p:txBody>
        </p:sp>
      </p:grpSp>
      <p:cxnSp>
        <p:nvCxnSpPr>
          <p:cNvPr id="382" name="Curved Connector 381">
            <a:extLst>
              <a:ext uri="{FF2B5EF4-FFF2-40B4-BE49-F238E27FC236}">
                <a16:creationId xmlns:a16="http://schemas.microsoft.com/office/drawing/2014/main" id="{82B7D3DC-BA3F-695B-6381-7424E9948116}"/>
              </a:ext>
            </a:extLst>
          </p:cNvPr>
          <p:cNvCxnSpPr>
            <a:stCxn id="347" idx="1"/>
            <a:endCxn id="353" idx="0"/>
          </p:cNvCxnSpPr>
          <p:nvPr/>
        </p:nvCxnSpPr>
        <p:spPr>
          <a:xfrm rot="10800000" flipV="1">
            <a:off x="9326880" y="2419382"/>
            <a:ext cx="758952" cy="32918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Curved Connector 383">
            <a:extLst>
              <a:ext uri="{FF2B5EF4-FFF2-40B4-BE49-F238E27FC236}">
                <a16:creationId xmlns:a16="http://schemas.microsoft.com/office/drawing/2014/main" id="{6710CB78-FE60-7BF6-A3C3-21B2DE540C06}"/>
              </a:ext>
            </a:extLst>
          </p:cNvPr>
          <p:cNvCxnSpPr>
            <a:stCxn id="353" idx="2"/>
            <a:endCxn id="351" idx="1"/>
          </p:cNvCxnSpPr>
          <p:nvPr/>
        </p:nvCxnSpPr>
        <p:spPr>
          <a:xfrm rot="16200000" flipH="1">
            <a:off x="9509760" y="2913158"/>
            <a:ext cx="393192" cy="75895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Curved Connector 385">
            <a:extLst>
              <a:ext uri="{FF2B5EF4-FFF2-40B4-BE49-F238E27FC236}">
                <a16:creationId xmlns:a16="http://schemas.microsoft.com/office/drawing/2014/main" id="{E5E03388-4352-9A07-737C-13F3EABB006C}"/>
              </a:ext>
            </a:extLst>
          </p:cNvPr>
          <p:cNvCxnSpPr>
            <a:stCxn id="351" idx="3"/>
            <a:endCxn id="349" idx="2"/>
          </p:cNvCxnSpPr>
          <p:nvPr/>
        </p:nvCxnSpPr>
        <p:spPr>
          <a:xfrm flipV="1">
            <a:off x="10433304" y="3096038"/>
            <a:ext cx="758952" cy="39319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urved Connector 387">
            <a:extLst>
              <a:ext uri="{FF2B5EF4-FFF2-40B4-BE49-F238E27FC236}">
                <a16:creationId xmlns:a16="http://schemas.microsoft.com/office/drawing/2014/main" id="{9D96D687-A627-A303-69EB-6854903FC04E}"/>
              </a:ext>
            </a:extLst>
          </p:cNvPr>
          <p:cNvCxnSpPr>
            <a:stCxn id="349" idx="0"/>
            <a:endCxn id="347" idx="3"/>
          </p:cNvCxnSpPr>
          <p:nvPr/>
        </p:nvCxnSpPr>
        <p:spPr>
          <a:xfrm rot="16200000" flipV="1">
            <a:off x="10648188" y="2204498"/>
            <a:ext cx="329184" cy="75895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TextBox 388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kumimoji="0" lang="en-US" sz="10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Traces Are the Primary Object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12064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run in production what you cannot measure — the whole run, span by span.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4B3F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DISTRIBUTED TRACING OF AN AGENT RUN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 descr="trace.png"/>
          <p:cNvPicPr>
            <a:picLocks noChangeAspect="1"/>
          </p:cNvPicPr>
          <p:nvPr/>
        </p:nvPicPr>
        <p:blipFill>
          <a:blip r:embed="rId3"/>
          <a:srcRect b="13653"/>
          <a:stretch>
            <a:fillRect/>
          </a:stretch>
        </p:blipFill>
        <p:spPr>
          <a:xfrm>
            <a:off x="1717582" y="1421701"/>
            <a:ext cx="8562491" cy="49289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4B3F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EVALUATION FROM TRACES  ·  THE RELEASE GATE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 descr="evaldash.png"/>
          <p:cNvPicPr>
            <a:picLocks noChangeAspect="1"/>
          </p:cNvPicPr>
          <p:nvPr/>
        </p:nvPicPr>
        <p:blipFill>
          <a:blip r:embed="rId3"/>
          <a:srcRect b="21662"/>
          <a:stretch>
            <a:fillRect/>
          </a:stretch>
        </p:blipFill>
        <p:spPr>
          <a:xfrm>
            <a:off x="1415480" y="1459262"/>
            <a:ext cx="9374440" cy="48958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kumimoji="0" lang="en-US" sz="10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Self-Improvement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12064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Identity, audit and policy — and a harness that optimizes itself under hard constraints.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4B3F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Governance  ·  The Enforcement Layer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>
                <a:ln>
                  <a:noFill/>
                </a:ln>
                <a:solidFill>
                  <a:srgbClr val="8A93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Model-level, system-level and organizational controls the model never sees.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F224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RBAC
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A48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agent, tool and sub-agent acts under a scoped identity.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F224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models
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A48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by default; approvals as explicit lifecycle hooks.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F224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provenance
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A48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tool call and state change is recorded and attributable.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F224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constitutions
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A48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the harness enforces at each interception point.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 descr="img7.png">
            <a:extLst>
              <a:ext uri="{FF2B5EF4-FFF2-40B4-BE49-F238E27FC236}">
                <a16:creationId xmlns:a16="http://schemas.microsoft.com/office/drawing/2014/main" id="{15431B4B-8E9B-1CC5-C089-75B3AA076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645920"/>
            <a:ext cx="5349240" cy="3703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4B3F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SELF-EVOLVING HARNESS  ·  AEGIS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2AF2755-C784-9C0D-796A-FCCF3588FE0B}"/>
              </a:ext>
            </a:extLst>
          </p:cNvPr>
          <p:cNvGrpSpPr/>
          <p:nvPr/>
        </p:nvGrpSpPr>
        <p:grpSpPr>
          <a:xfrm>
            <a:off x="-2100566" y="1658039"/>
            <a:ext cx="18089850" cy="4083463"/>
            <a:chOff x="-2100566" y="1658039"/>
            <a:chExt cx="18089850" cy="2444081"/>
          </a:xfrm>
        </p:grpSpPr>
        <p:sp>
          <p:nvSpPr>
            <p:cNvPr id="13" name="TextBox 12"/>
            <p:cNvSpPr txBox="1"/>
            <p:nvPr/>
          </p:nvSpPr>
          <p:spPr>
            <a:xfrm>
              <a:off x="973479" y="1658039"/>
              <a:ext cx="7233047" cy="17287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33" normalizeH="0" baseline="0" noProof="0">
                  <a:ln>
                    <a:noFill/>
                  </a:ln>
                  <a:solidFill>
                    <a:srgbClr val="40247B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THE SELF-EVOLVING HARNESS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73479" y="1834665"/>
              <a:ext cx="7233047" cy="12100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Telemetry becomes an optimization signal — a meta-agent proposes harness edits that typed gates accept or reject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73479" y="2121587"/>
              <a:ext cx="10241994" cy="443913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670">
              <a:solidFill>
                <a:srgbClr val="0078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73479" y="2121587"/>
              <a:ext cx="1084957" cy="443913"/>
            </a:xfrm>
            <a:prstGeom prst="roundRect">
              <a:avLst>
                <a:gd name="adj" fmla="val 11538"/>
              </a:avLst>
            </a:prstGeom>
            <a:solidFill>
              <a:srgbClr val="007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-2100566" y="2194661"/>
              <a:ext cx="7233047" cy="19591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-2100566" y="2402020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stage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246495" y="2220357"/>
              <a:ext cx="7233047" cy="13253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Digester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246495" y="2369409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compress ~10M trace tokens → per-task summaries: outcome, failure class, implicated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component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611576" y="2224028"/>
              <a:ext cx="2459236" cy="239030"/>
            </a:xfrm>
            <a:prstGeom prst="roundRect">
              <a:avLst>
                <a:gd name="adj" fmla="val 17857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756237" y="2273968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gate: actionability &lt; α → no-op</a:t>
              </a:r>
            </a:p>
          </p:txBody>
        </p:sp>
        <p:cxnSp>
          <p:nvCxnSpPr>
            <p:cNvPr id="24" name="Connector 23"/>
            <p:cNvCxnSpPr>
              <a:cxnSpLocks/>
            </p:cNvCxnSpPr>
            <p:nvPr/>
          </p:nvCxnSpPr>
          <p:spPr>
            <a:xfrm>
              <a:off x="1515957" y="2565499"/>
              <a:ext cx="0" cy="59758"/>
            </a:xfrm>
            <a:prstGeom prst="line">
              <a:avLst/>
            </a:prstGeom>
            <a:ln w="12805">
              <a:solidFill>
                <a:srgbClr val="6B3FA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ounded Rectangle 24"/>
            <p:cNvSpPr/>
            <p:nvPr/>
          </p:nvSpPr>
          <p:spPr>
            <a:xfrm>
              <a:off x="973479" y="2633793"/>
              <a:ext cx="10241994" cy="443913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670">
              <a:solidFill>
                <a:srgbClr val="00B29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73479" y="2633793"/>
              <a:ext cx="1084957" cy="443913"/>
            </a:xfrm>
            <a:prstGeom prst="roundRect">
              <a:avLst>
                <a:gd name="adj" fmla="val 11538"/>
              </a:avLst>
            </a:prstGeom>
            <a:solidFill>
              <a:srgbClr val="00B2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-2100566" y="2706868"/>
              <a:ext cx="7233047" cy="19591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-2100566" y="2914227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stage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246495" y="2732564"/>
              <a:ext cx="7233047" cy="13253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00B294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Planner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246495" y="2881616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build the adaptation landscape; force structural options, not just prompt tweaks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611576" y="2736235"/>
              <a:ext cx="2459236" cy="239030"/>
            </a:xfrm>
            <a:prstGeom prst="roundRect">
              <a:avLst>
                <a:gd name="adj" fmla="val 17857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756237" y="2786175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defends: under-exploration</a:t>
              </a:r>
            </a:p>
          </p:txBody>
        </p:sp>
        <p:cxnSp>
          <p:nvCxnSpPr>
            <p:cNvPr id="33" name="Connector 32"/>
            <p:cNvCxnSpPr>
              <a:cxnSpLocks/>
            </p:cNvCxnSpPr>
            <p:nvPr/>
          </p:nvCxnSpPr>
          <p:spPr>
            <a:xfrm>
              <a:off x="1515957" y="3077706"/>
              <a:ext cx="0" cy="59758"/>
            </a:xfrm>
            <a:prstGeom prst="line">
              <a:avLst/>
            </a:prstGeom>
            <a:ln w="12805">
              <a:solidFill>
                <a:srgbClr val="6B3FA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ounded Rectangle 33"/>
            <p:cNvSpPr/>
            <p:nvPr/>
          </p:nvSpPr>
          <p:spPr>
            <a:xfrm>
              <a:off x="973479" y="3146000"/>
              <a:ext cx="10241994" cy="443913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670">
              <a:solidFill>
                <a:srgbClr val="E65C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973479" y="3146000"/>
              <a:ext cx="1084957" cy="443913"/>
            </a:xfrm>
            <a:prstGeom prst="roundRect">
              <a:avLst>
                <a:gd name="adj" fmla="val 11538"/>
              </a:avLst>
            </a:prstGeom>
            <a:solidFill>
              <a:srgbClr val="E65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-2100566" y="3219075"/>
              <a:ext cx="7233047" cy="19591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-2100566" y="3426434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stage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246495" y="3244771"/>
              <a:ext cx="7233047" cy="13253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E65C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Evolver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246495" y="3393823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emit typed builder edits + change manifest; smoke-test new processor code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8611576" y="3248442"/>
              <a:ext cx="2459236" cy="239030"/>
            </a:xfrm>
            <a:prstGeom prst="roundRect">
              <a:avLst>
                <a:gd name="adj" fmla="val 17857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756237" y="3321111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gate: 0 type-safe → no-op</a:t>
              </a:r>
            </a:p>
          </p:txBody>
        </p:sp>
        <p:cxnSp>
          <p:nvCxnSpPr>
            <p:cNvPr id="42" name="Connector 41"/>
            <p:cNvCxnSpPr>
              <a:cxnSpLocks/>
            </p:cNvCxnSpPr>
            <p:nvPr/>
          </p:nvCxnSpPr>
          <p:spPr>
            <a:xfrm>
              <a:off x="1515957" y="3589913"/>
              <a:ext cx="0" cy="59757"/>
            </a:xfrm>
            <a:prstGeom prst="line">
              <a:avLst/>
            </a:prstGeom>
            <a:ln w="12805">
              <a:solidFill>
                <a:srgbClr val="6B3FA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/>
            <p:cNvSpPr/>
            <p:nvPr/>
          </p:nvSpPr>
          <p:spPr>
            <a:xfrm>
              <a:off x="973479" y="3658207"/>
              <a:ext cx="10241994" cy="443913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670">
              <a:solidFill>
                <a:srgbClr val="6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973479" y="3658207"/>
              <a:ext cx="1084957" cy="443913"/>
            </a:xfrm>
            <a:prstGeom prst="roundRect">
              <a:avLst>
                <a:gd name="adj" fmla="val 11538"/>
              </a:avLst>
            </a:prstGeom>
            <a:solidFill>
              <a:srgbClr val="6B3F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-2100566" y="3731282"/>
              <a:ext cx="7233047" cy="195919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-2100566" y="3938640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stage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6495" y="3756978"/>
              <a:ext cx="7233047" cy="132534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6B3FA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Critic + Deterministic Gate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46495" y="3906030"/>
              <a:ext cx="7233047" cy="97960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check manifest vs trace evidence &amp; non-local effects; then build → smoke → seesaw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8611576" y="3760649"/>
              <a:ext cx="2459236" cy="239030"/>
            </a:xfrm>
            <a:prstGeom prst="roundRect">
              <a:avLst>
                <a:gd name="adj" fmla="val 17857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756237" y="3810589"/>
              <a:ext cx="7233047" cy="86435"/>
            </a:xfrm>
            <a:prstGeom prst="rect">
              <a:avLst/>
            </a:prstGeom>
            <a:noFill/>
          </p:spPr>
          <p:txBody>
            <a:bodyPr wrap="non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cannot be bypassed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kumimoji="0" lang="en-US" sz="10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Putting the Harness Together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12064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tensions, the open problems, and what to instrument before you ship.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400" dirty="0"/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AZURE AI FOUNDRY</a:t>
            </a:r>
            <a:endParaRPr lang="en-US" sz="130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Harness on Microsoft Azure AI Foundry</a:t>
            </a:r>
            <a:endParaRPr lang="en-US" sz="4200"/>
          </a:p>
        </p:txBody>
      </p:sp>
      <p:sp>
        <p:nvSpPr>
          <p:cNvPr id="6" name="Text 3"/>
          <p:cNvSpPr/>
          <p:nvPr/>
        </p:nvSpPr>
        <p:spPr>
          <a:xfrm>
            <a:off x="512064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managed engine that provides every harness component as a governed capability.</a:t>
            </a:r>
            <a:endParaRPr lang="en-US" sz="1600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5837FCEF-3C18-B99B-94B6-960561544810}"/>
              </a:ext>
            </a:extLst>
          </p:cNvPr>
          <p:cNvSpPr/>
          <p:nvPr/>
        </p:nvSpPr>
        <p:spPr>
          <a:xfrm>
            <a:off x="5146789" y="4319094"/>
            <a:ext cx="1875167" cy="720987"/>
          </a:xfrm>
          <a:prstGeom prst="roundRect">
            <a:avLst>
              <a:gd name="adj" fmla="val 18423"/>
            </a:avLst>
          </a:prstGeom>
          <a:gradFill>
            <a:gsLst>
              <a:gs pos="0">
                <a:srgbClr val="1C1C1C">
                  <a:alpha val="90427"/>
                </a:srgbClr>
              </a:gs>
              <a:gs pos="99000">
                <a:schemeClr val="tx1">
                  <a:alpha val="85014"/>
                </a:schemeClr>
              </a:gs>
            </a:gsLst>
            <a:lin ang="5400000" scaled="1"/>
          </a:gradFill>
          <a:ln w="25400"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100000">
                  <a:schemeClr val="accent2">
                    <a:lumMod val="60000"/>
                    <a:lumOff val="40000"/>
                    <a:alpha val="40000"/>
                  </a:schemeClr>
                </a:gs>
              </a:gsLst>
              <a:lin ang="5400000" scaled="1"/>
            </a:gradFill>
          </a:ln>
          <a:effectLst>
            <a:outerShdw blurRad="318509" dist="136112" dir="2700000" algn="tl" rotWithShape="0">
              <a:schemeClr val="bg1">
                <a:alpha val="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12" rIns="0" bIns="0" rtlCol="0" anchor="ctr"/>
          <a:lstStyle/>
          <a:p>
            <a:pPr algn="ctr">
              <a:lnSpc>
                <a:spcPts val="2829"/>
              </a:lnSpc>
            </a:pPr>
            <a:endParaRPr lang="en-US" sz="2699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496E6340-B7CD-BAD8-CBAB-939A8F490B4B}"/>
              </a:ext>
            </a:extLst>
          </p:cNvPr>
          <p:cNvSpPr/>
          <p:nvPr/>
        </p:nvSpPr>
        <p:spPr>
          <a:xfrm>
            <a:off x="8134666" y="3043353"/>
            <a:ext cx="1875167" cy="696148"/>
          </a:xfrm>
          <a:prstGeom prst="roundRect">
            <a:avLst>
              <a:gd name="adj" fmla="val 18423"/>
            </a:avLst>
          </a:prstGeom>
          <a:gradFill>
            <a:gsLst>
              <a:gs pos="0">
                <a:srgbClr val="1C1C1C">
                  <a:alpha val="90427"/>
                </a:srgbClr>
              </a:gs>
              <a:gs pos="99000">
                <a:schemeClr val="tx1">
                  <a:alpha val="85014"/>
                </a:schemeClr>
              </a:gs>
            </a:gsLst>
            <a:lin ang="5400000" scaled="1"/>
          </a:gradFill>
          <a:ln w="25400"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100000">
                  <a:schemeClr val="accent2">
                    <a:lumMod val="60000"/>
                    <a:lumOff val="40000"/>
                    <a:alpha val="40000"/>
                  </a:schemeClr>
                </a:gs>
              </a:gsLst>
              <a:lin ang="5400000" scaled="1"/>
            </a:gradFill>
          </a:ln>
          <a:effectLst>
            <a:outerShdw blurRad="318509" dist="136112" dir="2700000" algn="tl" rotWithShape="0">
              <a:schemeClr val="bg1">
                <a:alpha val="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12" rIns="0" bIns="0" rtlCol="0" anchor="ctr"/>
          <a:lstStyle/>
          <a:p>
            <a:pPr algn="ctr">
              <a:lnSpc>
                <a:spcPts val="2829"/>
              </a:lnSpc>
            </a:pPr>
            <a:endParaRPr lang="en-US" sz="2699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D4EE811D-09A4-92F2-1578-2423438543D8}"/>
              </a:ext>
            </a:extLst>
          </p:cNvPr>
          <p:cNvSpPr/>
          <p:nvPr/>
        </p:nvSpPr>
        <p:spPr>
          <a:xfrm>
            <a:off x="2181209" y="3043353"/>
            <a:ext cx="1875167" cy="696148"/>
          </a:xfrm>
          <a:prstGeom prst="roundRect">
            <a:avLst>
              <a:gd name="adj" fmla="val 18423"/>
            </a:avLst>
          </a:prstGeom>
          <a:gradFill>
            <a:gsLst>
              <a:gs pos="0">
                <a:srgbClr val="1C1C1C">
                  <a:alpha val="90427"/>
                </a:srgbClr>
              </a:gs>
              <a:gs pos="99000">
                <a:schemeClr val="tx1">
                  <a:alpha val="85014"/>
                </a:schemeClr>
              </a:gs>
            </a:gsLst>
            <a:lin ang="5400000" scaled="1"/>
          </a:gradFill>
          <a:ln w="25400"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100000">
                  <a:schemeClr val="accent2">
                    <a:lumMod val="60000"/>
                    <a:lumOff val="40000"/>
                    <a:alpha val="40000"/>
                  </a:schemeClr>
                </a:gs>
              </a:gsLst>
              <a:lin ang="5400000" scaled="1"/>
            </a:gradFill>
          </a:ln>
          <a:effectLst>
            <a:outerShdw blurRad="318509" dist="136112" dir="2700000" algn="tl" rotWithShape="0">
              <a:schemeClr val="bg1">
                <a:alpha val="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12" rIns="0" bIns="0" rtlCol="0" anchor="ctr"/>
          <a:lstStyle/>
          <a:p>
            <a:pPr algn="ctr">
              <a:lnSpc>
                <a:spcPts val="2829"/>
              </a:lnSpc>
            </a:pPr>
            <a:endParaRPr lang="en-US" sz="2699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C36A651C-17C0-2CF9-16EF-69CCD77C0A31}"/>
              </a:ext>
            </a:extLst>
          </p:cNvPr>
          <p:cNvSpPr/>
          <p:nvPr/>
        </p:nvSpPr>
        <p:spPr>
          <a:xfrm>
            <a:off x="5131033" y="3043353"/>
            <a:ext cx="1875167" cy="696148"/>
          </a:xfrm>
          <a:prstGeom prst="roundRect">
            <a:avLst>
              <a:gd name="adj" fmla="val 18423"/>
            </a:avLst>
          </a:prstGeom>
          <a:gradFill>
            <a:gsLst>
              <a:gs pos="0">
                <a:srgbClr val="1C1C1C">
                  <a:alpha val="90427"/>
                </a:srgbClr>
              </a:gs>
              <a:gs pos="99000">
                <a:schemeClr val="tx1">
                  <a:alpha val="85014"/>
                </a:schemeClr>
              </a:gs>
            </a:gsLst>
            <a:lin ang="5400000" scaled="1"/>
          </a:gradFill>
          <a:ln w="25400"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100000">
                  <a:schemeClr val="accent2">
                    <a:lumMod val="60000"/>
                    <a:lumOff val="40000"/>
                    <a:alpha val="40000"/>
                  </a:schemeClr>
                </a:gs>
              </a:gsLst>
              <a:lin ang="5400000" scaled="1"/>
            </a:gradFill>
          </a:ln>
          <a:effectLst>
            <a:outerShdw blurRad="318509" dist="136112" dir="2700000" algn="tl" rotWithShape="0">
              <a:schemeClr val="bg1">
                <a:alpha val="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12" rIns="0" bIns="0" rtlCol="0" anchor="ctr"/>
          <a:lstStyle/>
          <a:p>
            <a:pPr algn="ctr">
              <a:lnSpc>
                <a:spcPts val="2829"/>
              </a:lnSpc>
            </a:pPr>
            <a:endParaRPr lang="en-US" sz="2699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3DB977B-9060-445B-3529-1D6013FFBD4E}"/>
              </a:ext>
            </a:extLst>
          </p:cNvPr>
          <p:cNvSpPr txBox="1"/>
          <p:nvPr/>
        </p:nvSpPr>
        <p:spPr>
          <a:xfrm>
            <a:off x="3092367" y="1472093"/>
            <a:ext cx="60072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3599" b="1" spc="-75" dirty="0">
                <a:latin typeface="Segoe Sans Display Semibold" pitchFamily="2" charset="0"/>
                <a:cs typeface="Segoe Sans Display Semibold" pitchFamily="2" charset="0"/>
              </a:rPr>
              <a:t>Microsoft Foundry</a:t>
            </a:r>
            <a:br>
              <a:rPr lang="en-US" sz="3599" b="1" spc="-75" dirty="0">
                <a:latin typeface="Segoe Sans Display Semibold" pitchFamily="2" charset="0"/>
                <a:cs typeface="Segoe Sans Display Semibold" pitchFamily="2" charset="0"/>
              </a:rPr>
            </a:br>
            <a:r>
              <a:rPr lang="en-US" sz="3599" b="1" spc="-75" dirty="0">
                <a:latin typeface="Segoe Sans Display Semibold" pitchFamily="2" charset="0"/>
                <a:cs typeface="Segoe Sans Display Semibold" pitchFamily="2" charset="0"/>
              </a:rPr>
              <a:t>Agent Service</a:t>
            </a:r>
          </a:p>
        </p:txBody>
      </p:sp>
      <p:pic>
        <p:nvPicPr>
          <p:cNvPr id="155" name="Picture 154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F6C6E354-0B9B-513D-AEA3-7BE843367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609" y="581248"/>
            <a:ext cx="736783" cy="736783"/>
          </a:xfrm>
          <a:prstGeom prst="rect">
            <a:avLst/>
          </a:prstGeom>
        </p:spPr>
      </p:pic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99537288-22D8-49D5-82D9-FB453607F890}"/>
              </a:ext>
            </a:extLst>
          </p:cNvPr>
          <p:cNvSpPr>
            <a:spLocks/>
          </p:cNvSpPr>
          <p:nvPr/>
        </p:nvSpPr>
        <p:spPr>
          <a:xfrm>
            <a:off x="2154305" y="3043354"/>
            <a:ext cx="1876124" cy="691482"/>
          </a:xfrm>
          <a:prstGeom prst="roundRect">
            <a:avLst>
              <a:gd name="adj" fmla="val 22472"/>
            </a:avLst>
          </a:prstGeom>
          <a:noFill/>
          <a:ln w="25400">
            <a:noFill/>
          </a:ln>
          <a:effectLst>
            <a:outerShdw blurRad="390776" dist="146025" dir="5400000" algn="t" rotWithShape="0">
              <a:schemeClr val="accent1">
                <a:lumMod val="50000"/>
                <a:alpha val="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8730" algn="ctr">
              <a:spcAft>
                <a:spcPts val="150"/>
              </a:spcAft>
            </a:pPr>
            <a:r>
              <a: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Build</a:t>
            </a:r>
            <a:endParaRPr lang="en-US" sz="2200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129E9EEC-71F9-9527-4A04-CEC424C77D11}"/>
              </a:ext>
            </a:extLst>
          </p:cNvPr>
          <p:cNvSpPr>
            <a:spLocks/>
          </p:cNvSpPr>
          <p:nvPr/>
        </p:nvSpPr>
        <p:spPr>
          <a:xfrm>
            <a:off x="5157938" y="3043354"/>
            <a:ext cx="1876124" cy="691482"/>
          </a:xfrm>
          <a:prstGeom prst="roundRect">
            <a:avLst>
              <a:gd name="adj" fmla="val 22472"/>
            </a:avLst>
          </a:prstGeom>
          <a:noFill/>
          <a:ln w="25400">
            <a:noFill/>
          </a:ln>
          <a:effectLst>
            <a:outerShdw blurRad="390776" dist="146025" dir="5400000" algn="t" rotWithShape="0">
              <a:schemeClr val="accent1">
                <a:lumMod val="50000"/>
                <a:alpha val="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8730" algn="ctr">
              <a:spcAft>
                <a:spcPts val="150"/>
              </a:spcAft>
            </a:pPr>
            <a:r>
              <a: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Deploy</a:t>
            </a:r>
            <a:endParaRPr lang="en-US" sz="2200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350A12DF-A546-E5F5-A468-1CBF4468E8D0}"/>
              </a:ext>
            </a:extLst>
          </p:cNvPr>
          <p:cNvSpPr>
            <a:spLocks/>
          </p:cNvSpPr>
          <p:nvPr/>
        </p:nvSpPr>
        <p:spPr>
          <a:xfrm>
            <a:off x="8161572" y="3043354"/>
            <a:ext cx="1876124" cy="691482"/>
          </a:xfrm>
          <a:prstGeom prst="roundRect">
            <a:avLst>
              <a:gd name="adj" fmla="val 22472"/>
            </a:avLst>
          </a:prstGeom>
          <a:noFill/>
          <a:ln w="25400">
            <a:noFill/>
          </a:ln>
          <a:effectLst>
            <a:outerShdw blurRad="390776" dist="146025" dir="5400000" algn="t" rotWithShape="0">
              <a:schemeClr val="accent1">
                <a:lumMod val="50000"/>
                <a:alpha val="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8730" algn="ctr">
              <a:spcAft>
                <a:spcPts val="150"/>
              </a:spcAft>
            </a:pPr>
            <a:r>
              <a: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Operate</a:t>
            </a:r>
            <a:endParaRPr lang="en-US" sz="2200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EBEE0747-7B02-50DF-E707-3062CC9FB388}"/>
              </a:ext>
            </a:extLst>
          </p:cNvPr>
          <p:cNvSpPr>
            <a:spLocks/>
          </p:cNvSpPr>
          <p:nvPr/>
        </p:nvSpPr>
        <p:spPr>
          <a:xfrm>
            <a:off x="5157938" y="4336727"/>
            <a:ext cx="1876124" cy="691482"/>
          </a:xfrm>
          <a:prstGeom prst="roundRect">
            <a:avLst>
              <a:gd name="adj" fmla="val 22472"/>
            </a:avLst>
          </a:prstGeom>
          <a:noFill/>
          <a:ln w="25400">
            <a:noFill/>
          </a:ln>
          <a:effectLst>
            <a:outerShdw blurRad="390776" dist="146025" dir="5400000" algn="t" rotWithShape="0">
              <a:schemeClr val="accent1">
                <a:lumMod val="50000"/>
                <a:alpha val="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8730" algn="ctr">
              <a:spcAft>
                <a:spcPts val="150"/>
              </a:spcAft>
            </a:pPr>
            <a:r>
              <a: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Optimize</a:t>
            </a:r>
            <a:endParaRPr lang="en-US" sz="2200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cxnSp>
        <p:nvCxnSpPr>
          <p:cNvPr id="160" name="!!Straight Arrow Connector 40" descr="Microsoft Cloud is the foundation of the Copilot stack.&#10;&#10;Bidirectional arrow along the bottom of the Copilot stack diagram with &quot;Microsoft Cloud&quot; in the middle of the arrow.">
            <a:extLst>
              <a:ext uri="{FF2B5EF4-FFF2-40B4-BE49-F238E27FC236}">
                <a16:creationId xmlns:a16="http://schemas.microsoft.com/office/drawing/2014/main" id="{2AE228FD-BBFD-C715-308F-47EA33A59E2C}"/>
              </a:ext>
            </a:extLst>
          </p:cNvPr>
          <p:cNvCxnSpPr>
            <a:cxnSpLocks/>
          </p:cNvCxnSpPr>
          <p:nvPr/>
        </p:nvCxnSpPr>
        <p:spPr>
          <a:xfrm>
            <a:off x="4292661" y="3389095"/>
            <a:ext cx="602088" cy="0"/>
          </a:xfrm>
          <a:prstGeom prst="straightConnector1">
            <a:avLst/>
          </a:prstGeom>
          <a:ln w="44450" cap="rnd"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headEnd type="none" w="lg" len="sm"/>
            <a:tailEnd type="arrow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!!Straight Arrow Connector 40" descr="Microsoft Cloud is the foundation of the Copilot stack.&#10;&#10;Bidirectional arrow along the bottom of the Copilot stack diagram with &quot;Microsoft Cloud&quot; in the middle of the arrow.">
            <a:extLst>
              <a:ext uri="{FF2B5EF4-FFF2-40B4-BE49-F238E27FC236}">
                <a16:creationId xmlns:a16="http://schemas.microsoft.com/office/drawing/2014/main" id="{6F8F7AEF-3AD3-DADF-D6ED-7270B2712D64}"/>
              </a:ext>
            </a:extLst>
          </p:cNvPr>
          <p:cNvCxnSpPr>
            <a:cxnSpLocks/>
          </p:cNvCxnSpPr>
          <p:nvPr/>
        </p:nvCxnSpPr>
        <p:spPr>
          <a:xfrm>
            <a:off x="7269648" y="3389095"/>
            <a:ext cx="602088" cy="0"/>
          </a:xfrm>
          <a:prstGeom prst="straightConnector1">
            <a:avLst/>
          </a:prstGeom>
          <a:ln w="44450" cap="rnd"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headEnd type="none" w="lg" len="sm"/>
            <a:tailEnd type="arrow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!!Straight Arrow Connector 40" descr="Microsoft Cloud is the foundation of the Copilot stack.&#10;&#10;Bidirectional arrow along the bottom of the Copilot stack diagram with &quot;Microsoft Cloud&quot; in the middle of the arrow.">
            <a:extLst>
              <a:ext uri="{FF2B5EF4-FFF2-40B4-BE49-F238E27FC236}">
                <a16:creationId xmlns:a16="http://schemas.microsoft.com/office/drawing/2014/main" id="{5EE0FF5D-154E-94E3-7EC4-595692D346DE}"/>
              </a:ext>
            </a:extLst>
          </p:cNvPr>
          <p:cNvCxnSpPr>
            <a:cxnSpLocks/>
          </p:cNvCxnSpPr>
          <p:nvPr/>
        </p:nvCxnSpPr>
        <p:spPr>
          <a:xfrm flipH="1">
            <a:off x="7291949" y="4671318"/>
            <a:ext cx="1807685" cy="0"/>
          </a:xfrm>
          <a:prstGeom prst="straightConnector1">
            <a:avLst/>
          </a:prstGeom>
          <a:ln w="44450" cap="rnd"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headEnd type="none" w="lg" len="sm"/>
            <a:tailEnd type="arrow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!!Straight Arrow Connector 40" descr="Microsoft Cloud is the foundation of the Copilot stack.&#10;&#10;Bidirectional arrow along the bottom of the Copilot stack diagram with &quot;Microsoft Cloud&quot; in the middle of the arrow.">
            <a:extLst>
              <a:ext uri="{FF2B5EF4-FFF2-40B4-BE49-F238E27FC236}">
                <a16:creationId xmlns:a16="http://schemas.microsoft.com/office/drawing/2014/main" id="{C7495D6A-9F02-41D5-39F7-BD2D58CF7F01}"/>
              </a:ext>
            </a:extLst>
          </p:cNvPr>
          <p:cNvCxnSpPr>
            <a:cxnSpLocks/>
          </p:cNvCxnSpPr>
          <p:nvPr/>
        </p:nvCxnSpPr>
        <p:spPr>
          <a:xfrm>
            <a:off x="9099634" y="3950332"/>
            <a:ext cx="0" cy="720987"/>
          </a:xfrm>
          <a:prstGeom prst="straightConnector1">
            <a:avLst/>
          </a:prstGeom>
          <a:ln w="44450" cap="rnd">
            <a:solidFill>
              <a:schemeClr val="accent2"/>
            </a:solidFill>
            <a:headEnd type="none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!!Straight Arrow Connector 40" descr="Microsoft Cloud is the foundation of the Copilot stack.&#10;&#10;Bidirectional arrow along the bottom of the Copilot stack diagram with &quot;Microsoft Cloud&quot; in the middle of the arrow.">
            <a:extLst>
              <a:ext uri="{FF2B5EF4-FFF2-40B4-BE49-F238E27FC236}">
                <a16:creationId xmlns:a16="http://schemas.microsoft.com/office/drawing/2014/main" id="{54E08A4B-A7DE-FD25-843F-714EAA96F496}"/>
              </a:ext>
            </a:extLst>
          </p:cNvPr>
          <p:cNvCxnSpPr>
            <a:cxnSpLocks/>
          </p:cNvCxnSpPr>
          <p:nvPr/>
        </p:nvCxnSpPr>
        <p:spPr>
          <a:xfrm flipH="1">
            <a:off x="3087064" y="4671318"/>
            <a:ext cx="1807685" cy="0"/>
          </a:xfrm>
          <a:prstGeom prst="straightConnector1">
            <a:avLst/>
          </a:prstGeom>
          <a:ln w="44450" cap="rnd"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headEnd type="none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!!Straight Arrow Connector 40" descr="Microsoft Cloud is the foundation of the Copilot stack.&#10;&#10;Bidirectional arrow along the bottom of the Copilot stack diagram with &quot;Microsoft Cloud&quot; in the middle of the arrow.">
            <a:extLst>
              <a:ext uri="{FF2B5EF4-FFF2-40B4-BE49-F238E27FC236}">
                <a16:creationId xmlns:a16="http://schemas.microsoft.com/office/drawing/2014/main" id="{90E30D13-A0FF-8299-C168-878D6D7C1FF2}"/>
              </a:ext>
            </a:extLst>
          </p:cNvPr>
          <p:cNvCxnSpPr>
            <a:cxnSpLocks/>
          </p:cNvCxnSpPr>
          <p:nvPr/>
        </p:nvCxnSpPr>
        <p:spPr>
          <a:xfrm>
            <a:off x="3081217" y="3950332"/>
            <a:ext cx="0" cy="720987"/>
          </a:xfrm>
          <a:prstGeom prst="straightConnector1">
            <a:avLst/>
          </a:prstGeom>
          <a:ln w="44450" cap="rnd">
            <a:solidFill>
              <a:schemeClr val="accent3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 Placeholder 3">
            <a:extLst>
              <a:ext uri="{FF2B5EF4-FFF2-40B4-BE49-F238E27FC236}">
                <a16:creationId xmlns:a16="http://schemas.microsoft.com/office/drawing/2014/main" id="{66DA96DC-C9D9-93E7-FA99-A8AF43B1B640}"/>
              </a:ext>
            </a:extLst>
          </p:cNvPr>
          <p:cNvSpPr txBox="1">
            <a:spLocks/>
          </p:cNvSpPr>
          <p:nvPr/>
        </p:nvSpPr>
        <p:spPr>
          <a:xfrm>
            <a:off x="2660808" y="5565069"/>
            <a:ext cx="6870385" cy="6333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6000" b="1" i="0" kern="0" spc="-100" baseline="0">
                <a:solidFill>
                  <a:schemeClr val="tx1"/>
                </a:solidFill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  <a:lvl2pPr marL="45720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4800" b="1" i="0" kern="0" spc="-100" baseline="0">
                <a:solidFill>
                  <a:schemeClr val="tx1"/>
                </a:solidFill>
                <a:latin typeface="Segoe Sans Display Semibold" pitchFamily="2" charset="0"/>
                <a:ea typeface="+mn-ea"/>
                <a:cs typeface="Segoe Sans Display Semibold" pitchFamily="2" charset="0"/>
              </a:defRPr>
            </a:lvl2pPr>
            <a:lvl3pPr marL="91440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3600" b="1" i="0" kern="0" spc="0" baseline="0">
                <a:solidFill>
                  <a:schemeClr val="tx1"/>
                </a:solidFill>
                <a:latin typeface="Segoe Sans Display Semibold" pitchFamily="2" charset="0"/>
                <a:ea typeface="+mn-ea"/>
                <a:cs typeface="Segoe Sans Display Semibold" pitchFamily="2" charset="0"/>
              </a:defRPr>
            </a:lvl3pPr>
            <a:lvl4pPr marL="137160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2400" b="1" i="0" kern="0" spc="0" baseline="0">
                <a:solidFill>
                  <a:schemeClr val="tx1"/>
                </a:solidFill>
                <a:latin typeface="Segoe Sans Display Semibold" pitchFamily="2" charset="0"/>
                <a:ea typeface="+mn-ea"/>
                <a:cs typeface="Segoe Sans Display Semibold" pitchFamily="2" charset="0"/>
              </a:defRPr>
            </a:lvl4pPr>
            <a:lvl5pPr marL="182880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2200" b="1" i="0" kern="0" spc="0" baseline="0">
                <a:solidFill>
                  <a:schemeClr val="tx1"/>
                </a:solidFill>
                <a:latin typeface="Segoe Sans Display Semibold" pitchFamily="2" charset="0"/>
                <a:ea typeface="+mn-ea"/>
                <a:cs typeface="Segoe Sans Display Semibold" pitchFamily="2" charset="0"/>
              </a:defRPr>
            </a:lvl5pPr>
            <a:lvl6pPr marL="228600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2000" kern="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0" spc="-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Enterprise-grade developer platform for building, deploying, operating, and optimizing agentic applications.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8666B-35BF-9191-F69C-D3C805C49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C0164561-5136-2A8B-0773-32AC9FEE5DEA}"/>
              </a:ext>
            </a:extLst>
          </p:cNvPr>
          <p:cNvGrpSpPr/>
          <p:nvPr/>
        </p:nvGrpSpPr>
        <p:grpSpPr>
          <a:xfrm>
            <a:off x="934721" y="1637458"/>
            <a:ext cx="10458825" cy="4511175"/>
            <a:chOff x="541684" y="1501698"/>
            <a:chExt cx="11108632" cy="5275769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E33D0158-9B0A-B796-2825-12CE06EE5560}"/>
                </a:ext>
              </a:extLst>
            </p:cNvPr>
            <p:cNvSpPr/>
            <p:nvPr/>
          </p:nvSpPr>
          <p:spPr>
            <a:xfrm>
              <a:off x="541684" y="6237097"/>
              <a:ext cx="2123028" cy="540370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rgbClr val="1C1C1C">
                    <a:alpha val="90427"/>
                  </a:srgbClr>
                </a:gs>
                <a:gs pos="99000">
                  <a:schemeClr val="tx1">
                    <a:alpha val="85014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tx1">
                      <a:lumMod val="71000"/>
                      <a:lumOff val="29000"/>
                      <a:alpha val="34291"/>
                    </a:schemeClr>
                  </a:gs>
                  <a:gs pos="98000">
                    <a:srgbClr val="7AA7CF">
                      <a:alpha val="35092"/>
                      <a:lumMod val="82318"/>
                      <a:lumOff val="17682"/>
                    </a:srgbClr>
                  </a:gs>
                </a:gsLst>
                <a:lin ang="5400000" scaled="1"/>
              </a:gradFill>
            </a:ln>
            <a:effectLst>
              <a:outerShdw blurRad="318509" dist="136112" dir="2700000" algn="tl" rotWithShape="0">
                <a:schemeClr val="bg1">
                  <a:alpha val="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5712" rIns="0" bIns="0" rtlCol="0" anchor="ctr"/>
            <a:lstStyle/>
            <a:p>
              <a:pPr algn="ctr">
                <a:lnSpc>
                  <a:spcPts val="2829"/>
                </a:lnSpc>
              </a:pPr>
              <a:endPara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35F0113-9CD6-A330-CB87-533CA00F1EA4}"/>
                </a:ext>
              </a:extLst>
            </p:cNvPr>
            <p:cNvSpPr/>
            <p:nvPr/>
          </p:nvSpPr>
          <p:spPr>
            <a:xfrm>
              <a:off x="2783850" y="6237097"/>
              <a:ext cx="2123028" cy="540370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rgbClr val="1C1C1C">
                    <a:alpha val="90427"/>
                  </a:srgbClr>
                </a:gs>
                <a:gs pos="99000">
                  <a:schemeClr val="tx1">
                    <a:alpha val="85014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tx1">
                      <a:lumMod val="71000"/>
                      <a:lumOff val="29000"/>
                      <a:alpha val="34291"/>
                    </a:schemeClr>
                  </a:gs>
                  <a:gs pos="98000">
                    <a:srgbClr val="7AA7CF">
                      <a:alpha val="35092"/>
                      <a:lumMod val="82318"/>
                      <a:lumOff val="17682"/>
                    </a:srgbClr>
                  </a:gs>
                </a:gsLst>
                <a:lin ang="5400000" scaled="1"/>
              </a:gradFill>
            </a:ln>
            <a:effectLst>
              <a:outerShdw blurRad="318509" dist="136112" dir="2700000" algn="tl" rotWithShape="0">
                <a:schemeClr val="bg1">
                  <a:alpha val="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5712" rIns="0" bIns="0" rtlCol="0" anchor="ctr"/>
            <a:lstStyle/>
            <a:p>
              <a:pPr algn="ctr">
                <a:lnSpc>
                  <a:spcPts val="2829"/>
                </a:lnSpc>
              </a:pPr>
              <a:endPara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900B3E39-8DAE-15FA-749A-DBBA4DE4C0AB}"/>
                </a:ext>
              </a:extLst>
            </p:cNvPr>
            <p:cNvSpPr/>
            <p:nvPr/>
          </p:nvSpPr>
          <p:spPr>
            <a:xfrm>
              <a:off x="5026015" y="6237097"/>
              <a:ext cx="2123028" cy="540370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rgbClr val="1C1C1C">
                    <a:alpha val="90427"/>
                  </a:srgbClr>
                </a:gs>
                <a:gs pos="99000">
                  <a:schemeClr val="tx1">
                    <a:alpha val="85014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tx1">
                      <a:lumMod val="71000"/>
                      <a:lumOff val="29000"/>
                      <a:alpha val="34291"/>
                    </a:schemeClr>
                  </a:gs>
                  <a:gs pos="98000">
                    <a:srgbClr val="7AA7CF">
                      <a:alpha val="35092"/>
                      <a:lumMod val="82318"/>
                      <a:lumOff val="17682"/>
                    </a:srgbClr>
                  </a:gs>
                </a:gsLst>
                <a:lin ang="5400000" scaled="1"/>
              </a:gradFill>
            </a:ln>
            <a:effectLst>
              <a:outerShdw blurRad="318509" dist="136112" dir="2700000" algn="tl" rotWithShape="0">
                <a:schemeClr val="bg1">
                  <a:alpha val="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5712" rIns="0" bIns="0" rtlCol="0" anchor="ctr"/>
            <a:lstStyle/>
            <a:p>
              <a:pPr algn="ctr">
                <a:lnSpc>
                  <a:spcPts val="2829"/>
                </a:lnSpc>
              </a:pPr>
              <a:endPara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1067D1BD-CDB7-6A99-3629-2D3EE39D53E4}"/>
                </a:ext>
              </a:extLst>
            </p:cNvPr>
            <p:cNvSpPr/>
            <p:nvPr/>
          </p:nvSpPr>
          <p:spPr>
            <a:xfrm>
              <a:off x="7283300" y="6237097"/>
              <a:ext cx="2120615" cy="540370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rgbClr val="1C1C1C">
                    <a:alpha val="90427"/>
                  </a:srgbClr>
                </a:gs>
                <a:gs pos="99000">
                  <a:schemeClr val="tx1">
                    <a:alpha val="85014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tx1">
                      <a:lumMod val="71000"/>
                      <a:lumOff val="29000"/>
                      <a:alpha val="34291"/>
                    </a:schemeClr>
                  </a:gs>
                  <a:gs pos="98000">
                    <a:srgbClr val="7AA7CF">
                      <a:alpha val="35092"/>
                      <a:lumMod val="82318"/>
                      <a:lumOff val="17682"/>
                    </a:srgbClr>
                  </a:gs>
                </a:gsLst>
                <a:lin ang="5400000" scaled="1"/>
              </a:gradFill>
            </a:ln>
            <a:effectLst>
              <a:outerShdw blurRad="318509" dist="136112" dir="2700000" algn="tl" rotWithShape="0">
                <a:schemeClr val="bg1">
                  <a:alpha val="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5712" rIns="0" bIns="0" rtlCol="0" anchor="ctr"/>
            <a:lstStyle/>
            <a:p>
              <a:pPr algn="ctr">
                <a:lnSpc>
                  <a:spcPts val="2829"/>
                </a:lnSpc>
              </a:pPr>
              <a:endPara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EA65618A-4B80-7F8D-8C31-4CF81824EF47}"/>
                </a:ext>
              </a:extLst>
            </p:cNvPr>
            <p:cNvSpPr/>
            <p:nvPr/>
          </p:nvSpPr>
          <p:spPr>
            <a:xfrm>
              <a:off x="9521230" y="6237097"/>
              <a:ext cx="2120615" cy="540370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rgbClr val="1C1C1C">
                    <a:alpha val="90427"/>
                  </a:srgbClr>
                </a:gs>
                <a:gs pos="99000">
                  <a:schemeClr val="tx1">
                    <a:alpha val="85014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tx1">
                      <a:lumMod val="71000"/>
                      <a:lumOff val="29000"/>
                      <a:alpha val="34291"/>
                    </a:schemeClr>
                  </a:gs>
                  <a:gs pos="98000">
                    <a:srgbClr val="7AA7CF">
                      <a:alpha val="35092"/>
                      <a:lumMod val="82318"/>
                      <a:lumOff val="17682"/>
                    </a:srgbClr>
                  </a:gs>
                </a:gsLst>
                <a:lin ang="5400000" scaled="1"/>
              </a:gradFill>
            </a:ln>
            <a:effectLst>
              <a:outerShdw blurRad="318509" dist="136112" dir="2700000" algn="tl" rotWithShape="0">
                <a:schemeClr val="bg1">
                  <a:alpha val="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5712" rIns="0" bIns="0" rtlCol="0" anchor="ctr"/>
            <a:lstStyle/>
            <a:p>
              <a:pPr algn="ctr">
                <a:lnSpc>
                  <a:spcPts val="2829"/>
                </a:lnSpc>
              </a:pPr>
              <a:endPara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6728799-FB58-71EF-32E8-7BA1EEB6DC9E}"/>
                </a:ext>
              </a:extLst>
            </p:cNvPr>
            <p:cNvSpPr/>
            <p:nvPr/>
          </p:nvSpPr>
          <p:spPr>
            <a:xfrm>
              <a:off x="541684" y="5430385"/>
              <a:ext cx="11108626" cy="66114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C1C1C">
                    <a:alpha val="90427"/>
                  </a:srgbClr>
                </a:gs>
                <a:gs pos="99000">
                  <a:schemeClr val="tx1">
                    <a:alpha val="85014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tx1">
                      <a:lumMod val="71000"/>
                      <a:lumOff val="29000"/>
                      <a:alpha val="34291"/>
                    </a:schemeClr>
                  </a:gs>
                  <a:gs pos="98000">
                    <a:srgbClr val="7AA7CF">
                      <a:alpha val="35092"/>
                      <a:lumMod val="82318"/>
                      <a:lumOff val="17682"/>
                    </a:srgbClr>
                  </a:gs>
                </a:gsLst>
                <a:lin ang="5400000" scaled="1"/>
              </a:gradFill>
            </a:ln>
            <a:effectLst>
              <a:outerShdw blurRad="318509" dist="136112" dir="2700000" algn="tl" rotWithShape="0">
                <a:schemeClr val="bg1">
                  <a:alpha val="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5712" rIns="0" bIns="0" rtlCol="0" anchor="ctr"/>
            <a:lstStyle/>
            <a:p>
              <a:pPr algn="ctr">
                <a:lnSpc>
                  <a:spcPts val="2829"/>
                </a:lnSpc>
              </a:pPr>
              <a:endPara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9B0E5E19-3863-63AB-9012-C5E4472BCE9E}"/>
                </a:ext>
              </a:extLst>
            </p:cNvPr>
            <p:cNvSpPr/>
            <p:nvPr/>
          </p:nvSpPr>
          <p:spPr>
            <a:xfrm>
              <a:off x="541684" y="3318831"/>
              <a:ext cx="2646150" cy="1847761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rgbClr val="1C1C1C">
                    <a:alpha val="90427"/>
                  </a:srgbClr>
                </a:gs>
                <a:gs pos="99000">
                  <a:schemeClr val="tx1">
                    <a:alpha val="85014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tx1">
                      <a:lumMod val="71000"/>
                      <a:lumOff val="29000"/>
                      <a:alpha val="34291"/>
                    </a:schemeClr>
                  </a:gs>
                  <a:gs pos="98000">
                    <a:srgbClr val="7AA7CF">
                      <a:alpha val="35092"/>
                      <a:lumMod val="82318"/>
                      <a:lumOff val="17682"/>
                    </a:srgbClr>
                  </a:gs>
                </a:gsLst>
                <a:lin ang="5400000" scaled="1"/>
              </a:gradFill>
            </a:ln>
            <a:effectLst>
              <a:outerShdw blurRad="318509" dist="136112" dir="2700000" algn="tl" rotWithShape="0">
                <a:schemeClr val="bg1">
                  <a:alpha val="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5712" rIns="0" bIns="0" rtlCol="0" anchor="ctr"/>
            <a:lstStyle/>
            <a:p>
              <a:pPr algn="ctr">
                <a:lnSpc>
                  <a:spcPts val="2829"/>
                </a:lnSpc>
              </a:pPr>
              <a:endPara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55009BC0-DE5F-C772-D491-7F26B2CC7A0D}"/>
                </a:ext>
              </a:extLst>
            </p:cNvPr>
            <p:cNvSpPr/>
            <p:nvPr/>
          </p:nvSpPr>
          <p:spPr>
            <a:xfrm>
              <a:off x="3323405" y="3318831"/>
              <a:ext cx="2763464" cy="1847761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rgbClr val="1C1C1C">
                    <a:alpha val="90427"/>
                  </a:srgbClr>
                </a:gs>
                <a:gs pos="99000">
                  <a:schemeClr val="tx1">
                    <a:alpha val="85014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tx1">
                      <a:lumMod val="71000"/>
                      <a:lumOff val="29000"/>
                      <a:alpha val="34291"/>
                    </a:schemeClr>
                  </a:gs>
                  <a:gs pos="98000">
                    <a:srgbClr val="7AA7CF">
                      <a:alpha val="35092"/>
                      <a:lumMod val="82318"/>
                      <a:lumOff val="17682"/>
                    </a:srgbClr>
                  </a:gs>
                </a:gsLst>
                <a:lin ang="5400000" scaled="1"/>
              </a:gradFill>
            </a:ln>
            <a:effectLst>
              <a:outerShdw blurRad="318509" dist="136112" dir="2700000" algn="tl" rotWithShape="0">
                <a:schemeClr val="bg1">
                  <a:alpha val="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5712" rIns="0" bIns="0" rtlCol="0" anchor="ctr"/>
            <a:lstStyle/>
            <a:p>
              <a:pPr algn="ctr">
                <a:lnSpc>
                  <a:spcPts val="2829"/>
                </a:lnSpc>
              </a:pPr>
              <a:endPara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290DCD6-AA1B-8C7A-D418-292DA3A5A64E}"/>
                </a:ext>
              </a:extLst>
            </p:cNvPr>
            <p:cNvSpPr/>
            <p:nvPr/>
          </p:nvSpPr>
          <p:spPr>
            <a:xfrm>
              <a:off x="6222442" y="3318831"/>
              <a:ext cx="2646150" cy="1847761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rgbClr val="1C1C1C">
                    <a:alpha val="90427"/>
                  </a:srgbClr>
                </a:gs>
                <a:gs pos="99000">
                  <a:schemeClr val="tx1">
                    <a:alpha val="85014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tx1">
                      <a:lumMod val="71000"/>
                      <a:lumOff val="29000"/>
                      <a:alpha val="34291"/>
                    </a:schemeClr>
                  </a:gs>
                  <a:gs pos="98000">
                    <a:srgbClr val="7AA7CF">
                      <a:alpha val="35092"/>
                      <a:lumMod val="82318"/>
                      <a:lumOff val="17682"/>
                    </a:srgbClr>
                  </a:gs>
                </a:gsLst>
                <a:lin ang="5400000" scaled="1"/>
              </a:gradFill>
            </a:ln>
            <a:effectLst>
              <a:outerShdw blurRad="318509" dist="136112" dir="2700000" algn="tl" rotWithShape="0">
                <a:schemeClr val="bg1">
                  <a:alpha val="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5712" rIns="0" bIns="0" rtlCol="0" anchor="ctr"/>
            <a:lstStyle/>
            <a:p>
              <a:pPr algn="ctr">
                <a:lnSpc>
                  <a:spcPts val="2829"/>
                </a:lnSpc>
              </a:pPr>
              <a:endPara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D28145D7-F5CD-BC30-93B5-018C1DBA6934}"/>
                </a:ext>
              </a:extLst>
            </p:cNvPr>
            <p:cNvSpPr/>
            <p:nvPr/>
          </p:nvSpPr>
          <p:spPr>
            <a:xfrm>
              <a:off x="9004159" y="3318831"/>
              <a:ext cx="2646150" cy="1847761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rgbClr val="1C1C1C">
                    <a:alpha val="90427"/>
                  </a:srgbClr>
                </a:gs>
                <a:gs pos="99000">
                  <a:schemeClr val="tx1">
                    <a:alpha val="85014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tx1">
                      <a:lumMod val="71000"/>
                      <a:lumOff val="29000"/>
                      <a:alpha val="34291"/>
                    </a:schemeClr>
                  </a:gs>
                  <a:gs pos="98000">
                    <a:srgbClr val="7AA7CF">
                      <a:alpha val="35092"/>
                      <a:lumMod val="82318"/>
                      <a:lumOff val="17682"/>
                    </a:srgbClr>
                  </a:gs>
                </a:gsLst>
                <a:lin ang="5400000" scaled="1"/>
              </a:gradFill>
            </a:ln>
            <a:effectLst>
              <a:outerShdw blurRad="318509" dist="136112" dir="2700000" algn="tl" rotWithShape="0">
                <a:schemeClr val="bg1">
                  <a:alpha val="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5712" rIns="0" bIns="0" rtlCol="0" anchor="ctr"/>
            <a:lstStyle/>
            <a:p>
              <a:pPr algn="ctr">
                <a:lnSpc>
                  <a:spcPts val="2829"/>
                </a:lnSpc>
              </a:pPr>
              <a:endPara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75B30B57-7B32-9D2A-0E2E-A11A6A72FC68}"/>
                </a:ext>
              </a:extLst>
            </p:cNvPr>
            <p:cNvSpPr/>
            <p:nvPr/>
          </p:nvSpPr>
          <p:spPr>
            <a:xfrm>
              <a:off x="541684" y="2404550"/>
              <a:ext cx="11108626" cy="66114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C1C1C">
                    <a:alpha val="90427"/>
                  </a:srgbClr>
                </a:gs>
                <a:gs pos="99000">
                  <a:schemeClr val="tx1">
                    <a:alpha val="85014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tx1">
                      <a:lumMod val="71000"/>
                      <a:lumOff val="29000"/>
                      <a:alpha val="34291"/>
                    </a:schemeClr>
                  </a:gs>
                  <a:gs pos="98000">
                    <a:srgbClr val="7AA7CF">
                      <a:alpha val="35092"/>
                      <a:lumMod val="82318"/>
                      <a:lumOff val="17682"/>
                    </a:srgbClr>
                  </a:gs>
                </a:gsLst>
                <a:lin ang="5400000" scaled="1"/>
              </a:gradFill>
            </a:ln>
            <a:effectLst>
              <a:outerShdw blurRad="318509" dist="136112" dir="2700000" algn="tl" rotWithShape="0">
                <a:schemeClr val="bg1">
                  <a:alpha val="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5712" rIns="0" bIns="0" rtlCol="0" anchor="ctr"/>
            <a:lstStyle/>
            <a:p>
              <a:pPr algn="ctr">
                <a:lnSpc>
                  <a:spcPts val="2829"/>
                </a:lnSpc>
              </a:pPr>
              <a:endPara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AD5BB6BE-01DC-9D6F-4DFE-4B974322EAA9}"/>
                </a:ext>
              </a:extLst>
            </p:cNvPr>
            <p:cNvSpPr/>
            <p:nvPr/>
          </p:nvSpPr>
          <p:spPr>
            <a:xfrm>
              <a:off x="5799813" y="1501698"/>
              <a:ext cx="2362822" cy="5462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C1C1C">
                    <a:alpha val="90427"/>
                  </a:srgbClr>
                </a:gs>
                <a:gs pos="99000">
                  <a:schemeClr val="tx1">
                    <a:alpha val="85014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tx1">
                      <a:lumMod val="71000"/>
                      <a:lumOff val="29000"/>
                      <a:alpha val="34291"/>
                    </a:schemeClr>
                  </a:gs>
                  <a:gs pos="98000">
                    <a:srgbClr val="7AA7CF">
                      <a:alpha val="35092"/>
                      <a:lumMod val="82318"/>
                      <a:lumOff val="17682"/>
                    </a:srgbClr>
                  </a:gs>
                </a:gsLst>
                <a:lin ang="5400000" scaled="1"/>
              </a:gradFill>
            </a:ln>
            <a:effectLst>
              <a:outerShdw blurRad="318509" dist="136112" dir="2700000" algn="tl" rotWithShape="0">
                <a:schemeClr val="bg1">
                  <a:alpha val="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5712" rIns="0" bIns="0" rtlCol="0" anchor="ctr"/>
            <a:lstStyle/>
            <a:p>
              <a:pPr algn="ctr">
                <a:lnSpc>
                  <a:spcPts val="2829"/>
                </a:lnSpc>
              </a:pPr>
              <a:endPara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70483912-0EFA-3D40-A7E2-AA70C65C1D58}"/>
                </a:ext>
              </a:extLst>
            </p:cNvPr>
            <p:cNvSpPr/>
            <p:nvPr/>
          </p:nvSpPr>
          <p:spPr>
            <a:xfrm>
              <a:off x="4028394" y="1501698"/>
              <a:ext cx="1184798" cy="5462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C1C1C">
                    <a:alpha val="90427"/>
                  </a:srgbClr>
                </a:gs>
                <a:gs pos="99000">
                  <a:schemeClr val="tx1">
                    <a:alpha val="85014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tx1">
                      <a:lumMod val="71000"/>
                      <a:lumOff val="29000"/>
                      <a:alpha val="34291"/>
                    </a:schemeClr>
                  </a:gs>
                  <a:gs pos="98000">
                    <a:srgbClr val="7AA7CF">
                      <a:alpha val="35092"/>
                      <a:lumMod val="82318"/>
                      <a:lumOff val="17682"/>
                    </a:srgbClr>
                  </a:gs>
                </a:gsLst>
                <a:lin ang="5400000" scaled="1"/>
              </a:gradFill>
            </a:ln>
            <a:effectLst>
              <a:outerShdw blurRad="318509" dist="136112" dir="2700000" algn="tl" rotWithShape="0">
                <a:schemeClr val="bg1">
                  <a:alpha val="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5712" rIns="0" bIns="0" rtlCol="0" anchor="ctr"/>
            <a:lstStyle/>
            <a:p>
              <a:pPr algn="ctr">
                <a:lnSpc>
                  <a:spcPts val="2829"/>
                </a:lnSpc>
              </a:pPr>
              <a:endParaRPr lang="en-US" sz="2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B9DD48C1-DC9D-F126-2F7D-5D5ADE2F46DC}"/>
                </a:ext>
              </a:extLst>
            </p:cNvPr>
            <p:cNvSpPr>
              <a:spLocks/>
            </p:cNvSpPr>
            <p:nvPr/>
          </p:nvSpPr>
          <p:spPr>
            <a:xfrm>
              <a:off x="541684" y="3339920"/>
              <a:ext cx="2646150" cy="1829794"/>
            </a:xfrm>
            <a:prstGeom prst="roundRect">
              <a:avLst>
                <a:gd name="adj" fmla="val 15693"/>
              </a:avLst>
            </a:prstGeom>
            <a:noFill/>
            <a:ln w="25400">
              <a:noFill/>
            </a:ln>
            <a:effectLst>
              <a:outerShdw blurRad="254000" dist="76827" dir="5400000" algn="t" rotWithShape="0">
                <a:schemeClr val="accent1">
                  <a:lumMod val="50000"/>
                  <a:alpha val="1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42" tIns="137142" bIns="91428" rtlCol="0" anchor="t" anchorCtr="0"/>
            <a:lstStyle/>
            <a:p>
              <a:pPr>
                <a:lnSpc>
                  <a:spcPts val="1420"/>
                </a:lnSpc>
                <a:spcAft>
                  <a:spcPts val="1200"/>
                </a:spcAft>
              </a:pPr>
              <a:r>
                <a:rPr lang="en-US" sz="1200" b="1" dirty="0">
                  <a:solidFill>
                    <a:schemeClr val="accent3"/>
                  </a:solidFill>
                  <a:latin typeface="Segoe Sans Display Semibold" pitchFamily="2" charset="0"/>
                  <a:cs typeface="Segoe Sans Display Semibold" pitchFamily="2" charset="0"/>
                </a:rPr>
                <a:t>Control Plane</a:t>
              </a:r>
            </a:p>
            <a:p>
              <a:pPr marL="228554" indent="-228554">
                <a:lnSpc>
                  <a:spcPts val="142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Agent version lifecycle</a:t>
              </a:r>
            </a:p>
            <a:p>
              <a:pPr marL="228554" indent="-228554">
                <a:lnSpc>
                  <a:spcPts val="142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Snapshot creation</a:t>
              </a:r>
            </a:p>
            <a:p>
              <a:pPr marL="228554" indent="-228554">
                <a:lnSpc>
                  <a:spcPts val="142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ADC Sandbox </a:t>
              </a:r>
              <a:r>
                <a:rPr lang="en-US" sz="1100" b="1" dirty="0" err="1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mgmt</a:t>
              </a:r>
              <a:endParaRPr lang="en-US" sz="11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FEA1695E-F9ED-CF8A-B02C-8E40956358A5}"/>
                </a:ext>
              </a:extLst>
            </p:cNvPr>
            <p:cNvSpPr>
              <a:spLocks/>
            </p:cNvSpPr>
            <p:nvPr/>
          </p:nvSpPr>
          <p:spPr>
            <a:xfrm>
              <a:off x="3323407" y="3339920"/>
              <a:ext cx="2763465" cy="1829794"/>
            </a:xfrm>
            <a:prstGeom prst="roundRect">
              <a:avLst>
                <a:gd name="adj" fmla="val 15693"/>
              </a:avLst>
            </a:prstGeom>
            <a:noFill/>
            <a:ln w="25400">
              <a:noFill/>
            </a:ln>
            <a:effectLst>
              <a:outerShdw blurRad="254000" dist="76827" dir="5400000" algn="t" rotWithShape="0">
                <a:schemeClr val="accent1">
                  <a:lumMod val="50000"/>
                  <a:alpha val="1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42" tIns="137142" bIns="91428" rtlCol="0" anchor="t" anchorCtr="0"/>
            <a:lstStyle/>
            <a:p>
              <a:pPr>
                <a:lnSpc>
                  <a:spcPts val="1420"/>
                </a:lnSpc>
                <a:spcAft>
                  <a:spcPts val="1200"/>
                </a:spcAft>
              </a:pPr>
              <a:r>
                <a:rPr lang="en-US" sz="1200" b="1" dirty="0">
                  <a:solidFill>
                    <a:srgbClr val="00A881"/>
                  </a:solidFill>
                  <a:latin typeface="Segoe Sans Display Semibold" pitchFamily="2" charset="0"/>
                  <a:cs typeface="Segoe Sans Display Semibold" pitchFamily="2" charset="0"/>
                </a:rPr>
                <a:t>Data Plane (Agents v2)</a:t>
              </a:r>
            </a:p>
            <a:p>
              <a:pPr marL="228554" indent="-228554">
                <a:lnSpc>
                  <a:spcPts val="142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Protocol Layers: Invoke Responses (and MCP, A2A)</a:t>
              </a:r>
            </a:p>
            <a:p>
              <a:pPr marL="228554" indent="-228554">
                <a:lnSpc>
                  <a:spcPts val="142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Session management</a:t>
              </a:r>
            </a:p>
            <a:p>
              <a:pPr marL="228554" indent="-228554">
                <a:lnSpc>
                  <a:spcPts val="142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Request routing </a:t>
              </a:r>
              <a:r>
                <a:rPr lang="en-US" sz="1100" b="1" dirty="0">
                  <a:solidFill>
                    <a:schemeClr val="bg1"/>
                  </a:solidFill>
                  <a:latin typeface="Segoe Sans Display Semibold" pitchFamily="2" charset="0"/>
                  <a:ea typeface="Segoe UI" pitchFamily="34" charset="-122"/>
                  <a:cs typeface="Segoe Sans Display Semibold" pitchFamily="2" charset="0"/>
                </a:rPr>
                <a:t>→ sandboxes</a:t>
              </a:r>
              <a:endParaRPr lang="en-US" sz="11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  <a:p>
              <a:pPr>
                <a:lnSpc>
                  <a:spcPts val="1420"/>
                </a:lnSpc>
                <a:spcAft>
                  <a:spcPts val="600"/>
                </a:spcAft>
              </a:pPr>
              <a:endParaRPr lang="en-US" sz="1200" b="1" dirty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A9CE66FB-5E5C-64B5-FED6-6C2BDF760239}"/>
                </a:ext>
              </a:extLst>
            </p:cNvPr>
            <p:cNvSpPr>
              <a:spLocks/>
            </p:cNvSpPr>
            <p:nvPr/>
          </p:nvSpPr>
          <p:spPr>
            <a:xfrm>
              <a:off x="6222444" y="3339920"/>
              <a:ext cx="2646150" cy="1829794"/>
            </a:xfrm>
            <a:prstGeom prst="roundRect">
              <a:avLst>
                <a:gd name="adj" fmla="val 15693"/>
              </a:avLst>
            </a:prstGeom>
            <a:noFill/>
            <a:ln w="25400">
              <a:noFill/>
            </a:ln>
            <a:effectLst>
              <a:outerShdw blurRad="254000" dist="76827" dir="5400000" algn="t" rotWithShape="0">
                <a:schemeClr val="accent1">
                  <a:lumMod val="50000"/>
                  <a:alpha val="1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42" tIns="137142" bIns="91428" rtlCol="0" anchor="t" anchorCtr="0"/>
            <a:lstStyle/>
            <a:p>
              <a:pPr>
                <a:lnSpc>
                  <a:spcPts val="1420"/>
                </a:lnSpc>
                <a:spcAft>
                  <a:spcPts val="1200"/>
                </a:spcAft>
              </a:pPr>
              <a:r>
                <a:rPr lang="en-US" sz="1200" b="1" dirty="0">
                  <a:solidFill>
                    <a:schemeClr val="accent6">
                      <a:lumMod val="75000"/>
                    </a:schemeClr>
                  </a:solidFill>
                  <a:latin typeface="Segoe Sans Display Semibold" pitchFamily="2" charset="0"/>
                  <a:cs typeface="Segoe Sans Display Semibold" pitchFamily="2" charset="0"/>
                </a:rPr>
                <a:t>Observability &amp; Evals</a:t>
              </a:r>
            </a:p>
            <a:p>
              <a:pPr marL="228554" indent="-228554">
                <a:lnSpc>
                  <a:spcPts val="142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Distributed Tracing</a:t>
              </a:r>
            </a:p>
            <a:p>
              <a:pPr marL="228554" indent="-228554">
                <a:lnSpc>
                  <a:spcPts val="142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Agent Logs &amp; Metrics</a:t>
              </a:r>
            </a:p>
            <a:p>
              <a:pPr marL="228554" indent="-228554">
                <a:lnSpc>
                  <a:spcPts val="142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Evaluation metrics, benchmarking</a:t>
              </a:r>
            </a:p>
            <a:p>
              <a:pPr>
                <a:lnSpc>
                  <a:spcPts val="1420"/>
                </a:lnSpc>
                <a:spcAft>
                  <a:spcPts val="600"/>
                </a:spcAft>
              </a:pPr>
              <a:endParaRPr lang="en-US" sz="1200" b="1" dirty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4D7A2B3F-7675-D5D0-D0C5-0BBA14049E56}"/>
                </a:ext>
              </a:extLst>
            </p:cNvPr>
            <p:cNvSpPr>
              <a:spLocks/>
            </p:cNvSpPr>
            <p:nvPr/>
          </p:nvSpPr>
          <p:spPr>
            <a:xfrm>
              <a:off x="9004166" y="3339920"/>
              <a:ext cx="2646150" cy="1829794"/>
            </a:xfrm>
            <a:prstGeom prst="roundRect">
              <a:avLst>
                <a:gd name="adj" fmla="val 15693"/>
              </a:avLst>
            </a:prstGeom>
            <a:noFill/>
            <a:ln w="25400">
              <a:noFill/>
            </a:ln>
            <a:effectLst>
              <a:outerShdw blurRad="254000" dist="76827" dir="5400000" algn="t" rotWithShape="0">
                <a:schemeClr val="accent1">
                  <a:lumMod val="50000"/>
                  <a:alpha val="1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42" tIns="137142" bIns="91428" rtlCol="0" anchor="t" anchorCtr="0"/>
            <a:lstStyle/>
            <a:p>
              <a:pPr>
                <a:lnSpc>
                  <a:spcPts val="1420"/>
                </a:lnSpc>
                <a:spcAft>
                  <a:spcPts val="1200"/>
                </a:spcAft>
              </a:pPr>
              <a:r>
                <a:rPr lang="en-US" sz="1200" b="1" dirty="0">
                  <a:solidFill>
                    <a:srgbClr val="00B0F0"/>
                  </a:solidFill>
                  <a:latin typeface="Segoe Sans Display Semibold" pitchFamily="2" charset="0"/>
                  <a:cs typeface="Segoe Sans Display Semibold" pitchFamily="2" charset="0"/>
                </a:rPr>
                <a:t>Identity &amp; Tools</a:t>
              </a:r>
            </a:p>
            <a:p>
              <a:pPr marL="228554" indent="-228554">
                <a:lnSpc>
                  <a:spcPts val="142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Agent Identity, OBO for Tools</a:t>
              </a:r>
            </a:p>
            <a:p>
              <a:pPr marL="228554" indent="-228554">
                <a:lnSpc>
                  <a:spcPts val="142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Curated Skills &amp; Tools</a:t>
              </a:r>
            </a:p>
            <a:p>
              <a:pPr marL="228554" indent="-228554">
                <a:lnSpc>
                  <a:spcPts val="142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Tools Catalog</a:t>
              </a:r>
            </a:p>
            <a:p>
              <a:pPr>
                <a:lnSpc>
                  <a:spcPts val="1420"/>
                </a:lnSpc>
                <a:spcAft>
                  <a:spcPts val="600"/>
                </a:spcAft>
              </a:pPr>
              <a:endParaRPr lang="en-US" sz="11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  <a:p>
              <a:pPr>
                <a:lnSpc>
                  <a:spcPts val="1420"/>
                </a:lnSpc>
                <a:spcAft>
                  <a:spcPts val="600"/>
                </a:spcAft>
              </a:pPr>
              <a:endParaRPr lang="en-US" sz="1200" b="1" dirty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328B26DC-8953-0626-D062-961C6FD880E4}"/>
                </a:ext>
              </a:extLst>
            </p:cNvPr>
            <p:cNvSpPr>
              <a:spLocks/>
            </p:cNvSpPr>
            <p:nvPr/>
          </p:nvSpPr>
          <p:spPr>
            <a:xfrm>
              <a:off x="541684" y="5443938"/>
              <a:ext cx="11108632" cy="655610"/>
            </a:xfrm>
            <a:prstGeom prst="roundRect">
              <a:avLst>
                <a:gd name="adj" fmla="val 50000"/>
              </a:avLst>
            </a:prstGeom>
            <a:noFill/>
            <a:ln w="25400">
              <a:noFill/>
            </a:ln>
            <a:effectLst>
              <a:outerShdw blurRad="254000" dist="76827" dir="5400000" algn="t" rotWithShape="0">
                <a:schemeClr val="accent1">
                  <a:lumMod val="50000"/>
                  <a:alpha val="1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Compute Substrate – </a:t>
              </a:r>
              <a:r>
                <a:rPr lang="en-US" sz="1400" b="1" dirty="0" err="1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MicroVM</a:t>
              </a:r>
              <a:endParaRPr lang="en-US" sz="1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0DAA93E9-BD7E-3BCB-DF34-178B42CA8329}"/>
                </a:ext>
              </a:extLst>
            </p:cNvPr>
            <p:cNvSpPr>
              <a:spLocks/>
            </p:cNvSpPr>
            <p:nvPr/>
          </p:nvSpPr>
          <p:spPr>
            <a:xfrm>
              <a:off x="541684" y="2410087"/>
              <a:ext cx="11108632" cy="655610"/>
            </a:xfrm>
            <a:prstGeom prst="roundRect">
              <a:avLst>
                <a:gd name="adj" fmla="val 50000"/>
              </a:avLst>
            </a:prstGeom>
            <a:noFill/>
            <a:ln w="25400">
              <a:noFill/>
            </a:ln>
            <a:effectLst>
              <a:outerShdw blurRad="254000" dist="76827" dir="5400000" algn="t" rotWithShape="0">
                <a:schemeClr val="accent1">
                  <a:lumMod val="50000"/>
                  <a:alpha val="1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Foundry Service Gateway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E497961B-B7B9-AA8F-55B3-A815BD9AF437}"/>
                </a:ext>
              </a:extLst>
            </p:cNvPr>
            <p:cNvSpPr>
              <a:spLocks/>
            </p:cNvSpPr>
            <p:nvPr/>
          </p:nvSpPr>
          <p:spPr>
            <a:xfrm>
              <a:off x="541685" y="6237098"/>
              <a:ext cx="2123028" cy="539221"/>
            </a:xfrm>
            <a:prstGeom prst="roundRect">
              <a:avLst>
                <a:gd name="adj" fmla="val 15693"/>
              </a:avLst>
            </a:prstGeom>
            <a:noFill/>
            <a:ln w="25400">
              <a:noFill/>
            </a:ln>
            <a:effectLst>
              <a:outerShdw blurRad="254000" dist="76827" dir="5400000" algn="t" rotWithShape="0">
                <a:schemeClr val="accent1">
                  <a:lumMod val="50000"/>
                  <a:alpha val="1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200"/>
                </a:spcAft>
              </a:pPr>
              <a:r>
                <a:rPr lang="en-US" sz="12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Session isolation</a:t>
              </a:r>
              <a:endParaRPr lang="en-US" sz="11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C7ABF629-23DF-77FE-04E1-645EC9564968}"/>
                </a:ext>
              </a:extLst>
            </p:cNvPr>
            <p:cNvSpPr>
              <a:spLocks/>
            </p:cNvSpPr>
            <p:nvPr/>
          </p:nvSpPr>
          <p:spPr>
            <a:xfrm>
              <a:off x="9527288" y="6237098"/>
              <a:ext cx="2123028" cy="539221"/>
            </a:xfrm>
            <a:prstGeom prst="roundRect">
              <a:avLst>
                <a:gd name="adj" fmla="val 15693"/>
              </a:avLst>
            </a:prstGeom>
            <a:noFill/>
            <a:ln w="25400">
              <a:noFill/>
            </a:ln>
            <a:effectLst>
              <a:outerShdw blurRad="254000" dist="76827" dir="5400000" algn="t" rotWithShape="0">
                <a:schemeClr val="accent1">
                  <a:lumMod val="50000"/>
                  <a:alpha val="1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200"/>
                </a:spcAft>
              </a:pPr>
              <a:r>
                <a:rPr lang="en-US" sz="12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Egress control</a:t>
              </a:r>
              <a:endParaRPr lang="en-US" sz="11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B7AFBD3A-9D64-405D-FA04-CB7E9E78EF6F}"/>
                </a:ext>
              </a:extLst>
            </p:cNvPr>
            <p:cNvSpPr>
              <a:spLocks/>
            </p:cNvSpPr>
            <p:nvPr/>
          </p:nvSpPr>
          <p:spPr>
            <a:xfrm>
              <a:off x="7280887" y="6237098"/>
              <a:ext cx="2123028" cy="539221"/>
            </a:xfrm>
            <a:prstGeom prst="roundRect">
              <a:avLst>
                <a:gd name="adj" fmla="val 15693"/>
              </a:avLst>
            </a:prstGeom>
            <a:noFill/>
            <a:ln w="25400">
              <a:noFill/>
            </a:ln>
            <a:effectLst>
              <a:outerShdw blurRad="254000" dist="76827" dir="5400000" algn="t" rotWithShape="0">
                <a:schemeClr val="accent1">
                  <a:lumMod val="50000"/>
                  <a:alpha val="1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200"/>
                </a:spcAft>
              </a:pPr>
              <a:r>
                <a:rPr lang="en-US" sz="12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Scale-to-zero</a:t>
              </a:r>
              <a:endParaRPr lang="en-US" sz="11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299E2908-B4A4-E0D1-4F66-B3B67D63867C}"/>
                </a:ext>
              </a:extLst>
            </p:cNvPr>
            <p:cNvSpPr>
              <a:spLocks/>
            </p:cNvSpPr>
            <p:nvPr/>
          </p:nvSpPr>
          <p:spPr>
            <a:xfrm>
              <a:off x="5034486" y="6237098"/>
              <a:ext cx="2123028" cy="539221"/>
            </a:xfrm>
            <a:prstGeom prst="roundRect">
              <a:avLst>
                <a:gd name="adj" fmla="val 15693"/>
              </a:avLst>
            </a:prstGeom>
            <a:noFill/>
            <a:ln w="25400">
              <a:noFill/>
            </a:ln>
            <a:effectLst>
              <a:outerShdw blurRad="254000" dist="76827" dir="5400000" algn="t" rotWithShape="0">
                <a:schemeClr val="accent1">
                  <a:lumMod val="50000"/>
                  <a:alpha val="1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200"/>
                </a:spcAft>
              </a:pPr>
              <a:r>
                <a:rPr lang="en-US" sz="12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Sub-second cold start</a:t>
              </a:r>
              <a:endParaRPr lang="en-US" sz="11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79197A5F-B3BC-D707-8C9D-2D2E6D005C6B}"/>
                </a:ext>
              </a:extLst>
            </p:cNvPr>
            <p:cNvSpPr>
              <a:spLocks/>
            </p:cNvSpPr>
            <p:nvPr/>
          </p:nvSpPr>
          <p:spPr>
            <a:xfrm>
              <a:off x="2788086" y="6237098"/>
              <a:ext cx="2123028" cy="539221"/>
            </a:xfrm>
            <a:prstGeom prst="roundRect">
              <a:avLst>
                <a:gd name="adj" fmla="val 15693"/>
              </a:avLst>
            </a:prstGeom>
            <a:noFill/>
            <a:ln w="25400">
              <a:noFill/>
            </a:ln>
            <a:effectLst>
              <a:outerShdw blurRad="254000" dist="76827" dir="5400000" algn="t" rotWithShape="0">
                <a:schemeClr val="accent1">
                  <a:lumMod val="50000"/>
                  <a:alpha val="1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200"/>
                </a:spcAft>
              </a:pPr>
              <a:r>
                <a:rPr lang="en-US" sz="12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rPr>
                <a:t>Stateful session storage</a:t>
              </a:r>
              <a:endParaRPr lang="en-US" sz="11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DA6387C0-E517-FA2F-BB7F-A987B507A320}"/>
                </a:ext>
              </a:extLst>
            </p:cNvPr>
            <p:cNvGrpSpPr/>
            <p:nvPr/>
          </p:nvGrpSpPr>
          <p:grpSpPr>
            <a:xfrm>
              <a:off x="4028393" y="1511879"/>
              <a:ext cx="1184798" cy="539221"/>
              <a:chOff x="7382202" y="2711826"/>
              <a:chExt cx="2369904" cy="1078583"/>
            </a:xfrm>
          </p:grpSpPr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5712CE5C-2022-A407-4676-C7551FA9778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82202" y="2711826"/>
                <a:ext cx="2369904" cy="1078583"/>
              </a:xfrm>
              <a:prstGeom prst="roundRect">
                <a:avLst>
                  <a:gd name="adj" fmla="val 50000"/>
                </a:avLst>
              </a:prstGeom>
              <a:noFill/>
              <a:ln w="25400">
                <a:noFill/>
              </a:ln>
              <a:effectLst>
                <a:outerShdw blurRad="254000" dist="76827" dir="5400000" algn="t" rotWithShape="0">
                  <a:schemeClr val="accent1">
                    <a:lumMod val="50000"/>
                    <a:alpha val="14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140" tIns="0" rIns="0" bIns="0" rtlCol="0" anchor="ctr" anchorCtr="0"/>
              <a:lstStyle/>
              <a:p>
                <a:pPr>
                  <a:spcAft>
                    <a:spcPts val="1200"/>
                  </a:spcAft>
                </a:pPr>
                <a:r>
                  <a:rPr lang="en-US" sz="1400" b="1" dirty="0">
                    <a:solidFill>
                      <a:schemeClr val="bg1"/>
                    </a:solidFill>
                    <a:latin typeface="Segoe Sans Display Semibold" pitchFamily="2" charset="0"/>
                    <a:cs typeface="Segoe Sans Display Semibold" pitchFamily="2" charset="0"/>
                  </a:rPr>
                  <a:t>User</a:t>
                </a:r>
                <a:endParaRPr lang="en-US" sz="12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endParaRPr>
              </a:p>
            </p:txBody>
          </p:sp>
          <p:pic>
            <p:nvPicPr>
              <p:cNvPr id="72" name="Graphic 71">
                <a:extLst>
                  <a:ext uri="{FF2B5EF4-FFF2-40B4-BE49-F238E27FC236}">
                    <a16:creationId xmlns:a16="http://schemas.microsoft.com/office/drawing/2014/main" id="{C4D25C84-689F-C181-EEEA-9FDD6CD9FF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11351" y="2968559"/>
                <a:ext cx="565116" cy="565116"/>
              </a:xfrm>
              <a:prstGeom prst="rect">
                <a:avLst/>
              </a:prstGeom>
            </p:spPr>
          </p:pic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C18D307-E70C-8370-DE7C-984E1250F54A}"/>
                </a:ext>
              </a:extLst>
            </p:cNvPr>
            <p:cNvGrpSpPr/>
            <p:nvPr/>
          </p:nvGrpSpPr>
          <p:grpSpPr>
            <a:xfrm>
              <a:off x="5800785" y="1511878"/>
              <a:ext cx="2362823" cy="539221"/>
              <a:chOff x="11639153" y="2539379"/>
              <a:chExt cx="4726261" cy="1078583"/>
            </a:xfrm>
          </p:grpSpPr>
          <p:sp>
            <p:nvSpPr>
              <p:cNvPr id="81" name="Rounded Rectangle 80">
                <a:extLst>
                  <a:ext uri="{FF2B5EF4-FFF2-40B4-BE49-F238E27FC236}">
                    <a16:creationId xmlns:a16="http://schemas.microsoft.com/office/drawing/2014/main" id="{B417702F-7251-CE51-55A3-DE8C66A4DC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639153" y="2539379"/>
                <a:ext cx="4726261" cy="1078583"/>
              </a:xfrm>
              <a:prstGeom prst="roundRect">
                <a:avLst>
                  <a:gd name="adj" fmla="val 50000"/>
                </a:avLst>
              </a:prstGeom>
              <a:noFill/>
              <a:ln w="25400">
                <a:noFill/>
              </a:ln>
              <a:effectLst>
                <a:outerShdw blurRad="254000" dist="76827" dir="5400000" algn="t" rotWithShape="0">
                  <a:schemeClr val="accent1">
                    <a:lumMod val="50000"/>
                    <a:alpha val="14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855" tIns="0" rIns="0" bIns="0" rtlCol="0" anchor="ctr" anchorCtr="0"/>
              <a:lstStyle/>
              <a:p>
                <a:pPr>
                  <a:spcAft>
                    <a:spcPts val="1200"/>
                  </a:spcAft>
                </a:pPr>
                <a:r>
                  <a:rPr lang="en-US" sz="1400" b="1" dirty="0">
                    <a:solidFill>
                      <a:schemeClr val="bg1"/>
                    </a:solidFill>
                    <a:latin typeface="Segoe Sans Display Semibold" pitchFamily="2" charset="0"/>
                    <a:cs typeface="Segoe Sans Display Semibold" pitchFamily="2" charset="0"/>
                  </a:rPr>
                  <a:t>Microsoft Teams</a:t>
                </a:r>
                <a:endParaRPr lang="en-US" sz="1200" b="1" dirty="0">
                  <a:solidFill>
                    <a:schemeClr val="bg1"/>
                  </a:solidFill>
                  <a:latin typeface="Segoe Sans Display Semibold" pitchFamily="2" charset="0"/>
                  <a:cs typeface="Segoe Sans Display Semibold" pitchFamily="2" charset="0"/>
                </a:endParaRPr>
              </a:p>
            </p:txBody>
          </p:sp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EFC9C6CB-9DF4-4A4A-4440-158B0B2DA8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68304" y="2796114"/>
                <a:ext cx="535021" cy="565116"/>
              </a:xfrm>
              <a:prstGeom prst="rect">
                <a:avLst/>
              </a:prstGeom>
            </p:spPr>
          </p:pic>
        </p:grpSp>
        <p:cxnSp>
          <p:nvCxnSpPr>
            <p:cNvPr id="87" name="!!Straight Arrow Connector 40" descr="Microsoft Cloud is the foundation of the Copilot stack.&#10;&#10;Bidirectional arrow along the bottom of the Copilot stack diagram with &quot;Microsoft Cloud&quot; in the middle of the arrow.">
              <a:extLst>
                <a:ext uri="{FF2B5EF4-FFF2-40B4-BE49-F238E27FC236}">
                  <a16:creationId xmlns:a16="http://schemas.microsoft.com/office/drawing/2014/main" id="{F9D1A9AE-2593-A0E1-AE75-34827CBB5D90}"/>
                </a:ext>
              </a:extLst>
            </p:cNvPr>
            <p:cNvCxnSpPr>
              <a:cxnSpLocks/>
            </p:cNvCxnSpPr>
            <p:nvPr/>
          </p:nvCxnSpPr>
          <p:spPr>
            <a:xfrm>
              <a:off x="5336889" y="1801120"/>
              <a:ext cx="336342" cy="0"/>
            </a:xfrm>
            <a:prstGeom prst="straightConnector1">
              <a:avLst/>
            </a:prstGeom>
            <a:ln w="44450" cap="rnd"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headEnd type="none" w="lg" len="sm"/>
              <a:tailEnd type="arrow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!!Straight Arrow Connector 40" descr="Microsoft Cloud is the foundation of the Copilot stack.&#10;&#10;Bidirectional arrow along the bottom of the Copilot stack diagram with &quot;Microsoft Cloud&quot; in the middle of the arrow.">
              <a:extLst>
                <a:ext uri="{FF2B5EF4-FFF2-40B4-BE49-F238E27FC236}">
                  <a16:creationId xmlns:a16="http://schemas.microsoft.com/office/drawing/2014/main" id="{77515C3D-6B98-0ECC-71B5-1AD2340C9617}"/>
                </a:ext>
              </a:extLst>
            </p:cNvPr>
            <p:cNvCxnSpPr>
              <a:cxnSpLocks/>
            </p:cNvCxnSpPr>
            <p:nvPr/>
          </p:nvCxnSpPr>
          <p:spPr>
            <a:xfrm>
              <a:off x="4620792" y="2275120"/>
              <a:ext cx="0" cy="3122"/>
            </a:xfrm>
            <a:prstGeom prst="straightConnector1">
              <a:avLst/>
            </a:prstGeom>
            <a:ln w="44450" cap="rnd"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00" scaled="0"/>
              </a:gradFill>
              <a:headEnd type="none" w="lg" len="sm"/>
              <a:tailEnd type="arrow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!!Straight Arrow Connector 40" descr="Microsoft Cloud is the foundation of the Copilot stack.&#10;&#10;Bidirectional arrow along the bottom of the Copilot stack diagram with &quot;Microsoft Cloud&quot; in the middle of the arrow.">
              <a:extLst>
                <a:ext uri="{FF2B5EF4-FFF2-40B4-BE49-F238E27FC236}">
                  <a16:creationId xmlns:a16="http://schemas.microsoft.com/office/drawing/2014/main" id="{9E90A278-57F0-516B-1AF8-63E1533E4ABF}"/>
                </a:ext>
              </a:extLst>
            </p:cNvPr>
            <p:cNvCxnSpPr>
              <a:cxnSpLocks/>
            </p:cNvCxnSpPr>
            <p:nvPr/>
          </p:nvCxnSpPr>
          <p:spPr>
            <a:xfrm>
              <a:off x="6982196" y="2269103"/>
              <a:ext cx="0" cy="3435"/>
            </a:xfrm>
            <a:prstGeom prst="straightConnector1">
              <a:avLst/>
            </a:prstGeom>
            <a:ln w="44450" cap="rnd"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00" scaled="0"/>
              </a:gradFill>
              <a:headEnd type="none" w="lg" len="sm"/>
              <a:tailEnd type="arrow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!!Straight Arrow Connector 40" descr="Microsoft Cloud is the foundation of the Copilot stack.&#10;&#10;Bidirectional arrow along the bottom of the Copilot stack diagram with &quot;Microsoft Cloud&quot; in the middle of the arrow.">
              <a:extLst>
                <a:ext uri="{FF2B5EF4-FFF2-40B4-BE49-F238E27FC236}">
                  <a16:creationId xmlns:a16="http://schemas.microsoft.com/office/drawing/2014/main" id="{80E3CCE5-6BCF-0C08-0600-B59790DEF09E}"/>
                </a:ext>
              </a:extLst>
            </p:cNvPr>
            <p:cNvCxnSpPr>
              <a:cxnSpLocks/>
            </p:cNvCxnSpPr>
            <p:nvPr/>
          </p:nvCxnSpPr>
          <p:spPr>
            <a:xfrm>
              <a:off x="6166329" y="3313262"/>
              <a:ext cx="0" cy="3122"/>
            </a:xfrm>
            <a:prstGeom prst="straightConnector1">
              <a:avLst/>
            </a:prstGeom>
            <a:ln w="44450" cap="rnd"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headEnd type="none" w="lg" len="sm"/>
              <a:tailEnd type="arrow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!!Straight Arrow Connector 40" descr="Microsoft Cloud is the foundation of the Copilot stack.&#10;&#10;Bidirectional arrow along the bottom of the Copilot stack diagram with &quot;Microsoft Cloud&quot; in the middle of the arrow.">
              <a:extLst>
                <a:ext uri="{FF2B5EF4-FFF2-40B4-BE49-F238E27FC236}">
                  <a16:creationId xmlns:a16="http://schemas.microsoft.com/office/drawing/2014/main" id="{F646EE0C-41DE-7DE7-4355-40AE06988006}"/>
                </a:ext>
              </a:extLst>
            </p:cNvPr>
            <p:cNvCxnSpPr>
              <a:cxnSpLocks/>
            </p:cNvCxnSpPr>
            <p:nvPr/>
          </p:nvCxnSpPr>
          <p:spPr>
            <a:xfrm>
              <a:off x="6166329" y="5295033"/>
              <a:ext cx="0" cy="1457"/>
            </a:xfrm>
            <a:prstGeom prst="straightConnector1">
              <a:avLst/>
            </a:prstGeom>
            <a:ln w="44450" cap="rnd"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0"/>
              </a:gradFill>
              <a:headEnd type="none" w="lg" len="sm"/>
              <a:tailEnd type="arrow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 1">
            <a:extLst>
              <a:ext uri="{FF2B5EF4-FFF2-40B4-BE49-F238E27FC236}">
                <a16:creationId xmlns:a16="http://schemas.microsoft.com/office/drawing/2014/main" id="{3B43F625-1B40-EECE-AC7D-C8FA7A64EE0A}"/>
              </a:ext>
            </a:extLst>
          </p:cNvPr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4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Agent</a:t>
            </a:r>
            <a:endParaRPr lang="en-US" sz="2900" dirty="0"/>
          </a:p>
        </p:txBody>
      </p:sp>
      <p:sp>
        <p:nvSpPr>
          <p:cNvPr id="96" name="TextBox 95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37</a:t>
            </a:r>
          </a:p>
        </p:txBody>
      </p:sp>
    </p:spTree>
    <p:extLst>
      <p:ext uri="{BB962C8B-B14F-4D97-AF65-F5344CB8AC3E}">
        <p14:creationId xmlns:p14="http://schemas.microsoft.com/office/powerpoint/2010/main" val="40837658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74B5D-AE57-32D4-7163-D6BA5C708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FB9F2E9-487C-A78D-6A12-5F4EEB676BFF}"/>
              </a:ext>
            </a:extLst>
          </p:cNvPr>
          <p:cNvSpPr/>
          <p:nvPr/>
        </p:nvSpPr>
        <p:spPr>
          <a:xfrm>
            <a:off x="541684" y="2353070"/>
            <a:ext cx="2646150" cy="2840022"/>
          </a:xfrm>
          <a:prstGeom prst="roundRect">
            <a:avLst>
              <a:gd name="adj" fmla="val 4459"/>
            </a:avLst>
          </a:prstGeom>
          <a:gradFill>
            <a:gsLst>
              <a:gs pos="0">
                <a:srgbClr val="1C1C1C">
                  <a:alpha val="90427"/>
                </a:srgbClr>
              </a:gs>
              <a:gs pos="99000">
                <a:schemeClr val="tx1">
                  <a:alpha val="85014"/>
                </a:schemeClr>
              </a:gs>
            </a:gsLst>
            <a:lin ang="5400000" scaled="1"/>
          </a:gradFill>
          <a:ln w="25400">
            <a:gradFill>
              <a:gsLst>
                <a:gs pos="0">
                  <a:schemeClr val="tx1">
                    <a:lumMod val="71000"/>
                    <a:lumOff val="29000"/>
                    <a:alpha val="34291"/>
                  </a:schemeClr>
                </a:gs>
                <a:gs pos="98000">
                  <a:srgbClr val="7AA7CF">
                    <a:alpha val="35092"/>
                    <a:lumMod val="82318"/>
                    <a:lumOff val="17682"/>
                  </a:srgbClr>
                </a:gs>
              </a:gsLst>
              <a:lin ang="5400000" scaled="1"/>
            </a:gradFill>
          </a:ln>
          <a:effectLst>
            <a:outerShdw blurRad="318509" dist="136112" dir="2700000" algn="tl" rotWithShape="0">
              <a:schemeClr val="bg1">
                <a:alpha val="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12" rIns="0" bIns="0" rtlCol="0" anchor="ctr"/>
          <a:lstStyle/>
          <a:p>
            <a:pPr algn="ctr">
              <a:lnSpc>
                <a:spcPts val="2829"/>
              </a:lnSpc>
            </a:pPr>
            <a:endParaRPr lang="en-US" sz="2699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A6AD319-2D45-94A4-3835-2E0C2B7AC672}"/>
              </a:ext>
            </a:extLst>
          </p:cNvPr>
          <p:cNvSpPr/>
          <p:nvPr/>
        </p:nvSpPr>
        <p:spPr>
          <a:xfrm>
            <a:off x="3315424" y="2353070"/>
            <a:ext cx="2780576" cy="2840022"/>
          </a:xfrm>
          <a:prstGeom prst="roundRect">
            <a:avLst>
              <a:gd name="adj" fmla="val 4459"/>
            </a:avLst>
          </a:prstGeom>
          <a:gradFill>
            <a:gsLst>
              <a:gs pos="0">
                <a:srgbClr val="1C1C1C">
                  <a:alpha val="90427"/>
                </a:srgbClr>
              </a:gs>
              <a:gs pos="99000">
                <a:schemeClr val="tx1">
                  <a:alpha val="85014"/>
                </a:schemeClr>
              </a:gs>
            </a:gsLst>
            <a:lin ang="5400000" scaled="1"/>
          </a:gradFill>
          <a:ln w="25400">
            <a:gradFill>
              <a:gsLst>
                <a:gs pos="0">
                  <a:schemeClr val="tx1">
                    <a:lumMod val="71000"/>
                    <a:lumOff val="29000"/>
                    <a:alpha val="34291"/>
                  </a:schemeClr>
                </a:gs>
                <a:gs pos="98000">
                  <a:srgbClr val="7AA7CF">
                    <a:alpha val="35092"/>
                    <a:lumMod val="82318"/>
                    <a:lumOff val="17682"/>
                  </a:srgbClr>
                </a:gs>
              </a:gsLst>
              <a:lin ang="5400000" scaled="1"/>
            </a:gradFill>
          </a:ln>
          <a:effectLst>
            <a:outerShdw blurRad="318509" dist="136112" dir="2700000" algn="tl" rotWithShape="0">
              <a:schemeClr val="bg1">
                <a:alpha val="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12" rIns="0" bIns="0" rtlCol="0" anchor="ctr"/>
          <a:lstStyle/>
          <a:p>
            <a:pPr algn="ctr">
              <a:lnSpc>
                <a:spcPts val="2829"/>
              </a:lnSpc>
            </a:pPr>
            <a:endParaRPr lang="en-US" sz="2699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AE81746-F25E-04E4-1F1D-1CD4CAD8FC7D}"/>
              </a:ext>
            </a:extLst>
          </p:cNvPr>
          <p:cNvSpPr/>
          <p:nvPr/>
        </p:nvSpPr>
        <p:spPr>
          <a:xfrm>
            <a:off x="6210647" y="2353070"/>
            <a:ext cx="2657947" cy="2840022"/>
          </a:xfrm>
          <a:prstGeom prst="roundRect">
            <a:avLst>
              <a:gd name="adj" fmla="val 4459"/>
            </a:avLst>
          </a:prstGeom>
          <a:gradFill>
            <a:gsLst>
              <a:gs pos="0">
                <a:srgbClr val="1C1C1C">
                  <a:alpha val="90427"/>
                </a:srgbClr>
              </a:gs>
              <a:gs pos="99000">
                <a:schemeClr val="tx1">
                  <a:alpha val="85014"/>
                </a:schemeClr>
              </a:gs>
            </a:gsLst>
            <a:lin ang="5400000" scaled="1"/>
          </a:gradFill>
          <a:ln w="25400">
            <a:gradFill>
              <a:gsLst>
                <a:gs pos="0">
                  <a:schemeClr val="tx1">
                    <a:lumMod val="71000"/>
                    <a:lumOff val="29000"/>
                    <a:alpha val="34291"/>
                  </a:schemeClr>
                </a:gs>
                <a:gs pos="98000">
                  <a:srgbClr val="7AA7CF">
                    <a:alpha val="35092"/>
                    <a:lumMod val="82318"/>
                    <a:lumOff val="17682"/>
                  </a:srgbClr>
                </a:gs>
              </a:gsLst>
              <a:lin ang="5400000" scaled="1"/>
            </a:gradFill>
          </a:ln>
          <a:effectLst>
            <a:outerShdw blurRad="318509" dist="136112" dir="2700000" algn="tl" rotWithShape="0">
              <a:schemeClr val="bg1">
                <a:alpha val="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12" rIns="0" bIns="0" rtlCol="0" anchor="ctr"/>
          <a:lstStyle/>
          <a:p>
            <a:pPr algn="ctr">
              <a:lnSpc>
                <a:spcPts val="2829"/>
              </a:lnSpc>
            </a:pPr>
            <a:endParaRPr lang="en-US" sz="2699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D5B29F-31D5-F314-C05C-D85580FBF012}"/>
              </a:ext>
            </a:extLst>
          </p:cNvPr>
          <p:cNvSpPr/>
          <p:nvPr/>
        </p:nvSpPr>
        <p:spPr>
          <a:xfrm>
            <a:off x="8997027" y="2353070"/>
            <a:ext cx="2657947" cy="2840022"/>
          </a:xfrm>
          <a:prstGeom prst="roundRect">
            <a:avLst>
              <a:gd name="adj" fmla="val 4459"/>
            </a:avLst>
          </a:prstGeom>
          <a:gradFill>
            <a:gsLst>
              <a:gs pos="0">
                <a:srgbClr val="1C1C1C">
                  <a:alpha val="90427"/>
                </a:srgbClr>
              </a:gs>
              <a:gs pos="99000">
                <a:schemeClr val="tx1">
                  <a:alpha val="85014"/>
                </a:schemeClr>
              </a:gs>
            </a:gsLst>
            <a:lin ang="5400000" scaled="1"/>
          </a:gradFill>
          <a:ln w="25400">
            <a:gradFill>
              <a:gsLst>
                <a:gs pos="0">
                  <a:schemeClr val="tx1">
                    <a:lumMod val="71000"/>
                    <a:lumOff val="29000"/>
                    <a:alpha val="34291"/>
                  </a:schemeClr>
                </a:gs>
                <a:gs pos="98000">
                  <a:srgbClr val="7AA7CF">
                    <a:alpha val="35092"/>
                    <a:lumMod val="82318"/>
                    <a:lumOff val="17682"/>
                  </a:srgbClr>
                </a:gs>
              </a:gsLst>
              <a:lin ang="5400000" scaled="1"/>
            </a:gradFill>
          </a:ln>
          <a:effectLst>
            <a:outerShdw blurRad="318509" dist="136112" dir="2700000" algn="tl" rotWithShape="0">
              <a:schemeClr val="bg1">
                <a:alpha val="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12" rIns="0" bIns="0" rtlCol="0" anchor="ctr"/>
          <a:lstStyle/>
          <a:p>
            <a:pPr algn="ctr">
              <a:lnSpc>
                <a:spcPts val="2829"/>
              </a:lnSpc>
            </a:pPr>
            <a:endParaRPr lang="en-US" sz="2699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CBF3A3F-96C9-FD2A-DE6D-A7C67747C3E1}"/>
              </a:ext>
            </a:extLst>
          </p:cNvPr>
          <p:cNvSpPr txBox="1">
            <a:spLocks/>
          </p:cNvSpPr>
          <p:nvPr/>
        </p:nvSpPr>
        <p:spPr>
          <a:xfrm>
            <a:off x="731520" y="1234440"/>
            <a:ext cx="9144000" cy="31745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ts val="4400"/>
              </a:lnSpc>
              <a:spcBef>
                <a:spcPts val="67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kern="0" spc="-72" baseline="0" dirty="0" smtClean="0">
                <a:solidFill>
                  <a:srgbClr val="0F0F0F">
                    <a:alpha val="100000"/>
                  </a:srgbClr>
                </a:solidFill>
                <a:latin typeface="Segoe Sans Display Semibold" pitchFamily="2" charset="0"/>
                <a:ea typeface="Segoe Sans Display Semibold" pitchFamily="2" charset="0"/>
                <a:cs typeface="Segoe Sans Display Semibold" pitchFamily="2" charset="0"/>
              </a:defRPr>
            </a:lvl1pPr>
            <a:lvl2pPr marL="45720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4800" b="1" i="0" kern="0" spc="-100" baseline="0">
                <a:solidFill>
                  <a:schemeClr val="tx1"/>
                </a:solidFill>
                <a:latin typeface="Segoe Sans Display Semibold" pitchFamily="2" charset="0"/>
                <a:ea typeface="+mn-ea"/>
                <a:cs typeface="Segoe Sans Display Semibold" pitchFamily="2" charset="0"/>
              </a:defRPr>
            </a:lvl2pPr>
            <a:lvl3pPr marL="91440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3600" b="1" i="0" kern="0" spc="0" baseline="0">
                <a:solidFill>
                  <a:schemeClr val="tx1"/>
                </a:solidFill>
                <a:latin typeface="Segoe Sans Display Semibold" pitchFamily="2" charset="0"/>
                <a:ea typeface="+mn-ea"/>
                <a:cs typeface="Segoe Sans Display Semibold" pitchFamily="2" charset="0"/>
              </a:defRPr>
            </a:lvl3pPr>
            <a:lvl4pPr marL="137160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2400" b="1" i="0" kern="0" spc="0" baseline="0">
                <a:solidFill>
                  <a:schemeClr val="tx1"/>
                </a:solidFill>
                <a:latin typeface="Segoe Sans Display Semibold" pitchFamily="2" charset="0"/>
                <a:ea typeface="+mn-ea"/>
                <a:cs typeface="Segoe Sans Display Semibold" pitchFamily="2" charset="0"/>
              </a:defRPr>
            </a:lvl4pPr>
            <a:lvl5pPr marL="182880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2200" b="1" i="0" kern="0" spc="0" baseline="0">
                <a:solidFill>
                  <a:schemeClr val="tx1"/>
                </a:solidFill>
                <a:latin typeface="Segoe Sans Display Semibold" pitchFamily="2" charset="0"/>
                <a:ea typeface="+mn-ea"/>
                <a:cs typeface="Segoe Sans Display Semibold" pitchFamily="2" charset="0"/>
              </a:defRPr>
            </a:lvl5pPr>
            <a:lvl6pPr marL="228600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2000" kern="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0" spc="-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solidFill>
                  <a:srgbClr val="555565"/>
                </a:solidFill>
              </a:rPr>
              <a:t>The Agent Build Landscape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CDF25F9-3815-22F1-7D73-BBF5B4C94A88}"/>
              </a:ext>
            </a:extLst>
          </p:cNvPr>
          <p:cNvSpPr>
            <a:spLocks/>
          </p:cNvSpPr>
          <p:nvPr/>
        </p:nvSpPr>
        <p:spPr>
          <a:xfrm>
            <a:off x="541684" y="2353070"/>
            <a:ext cx="2646150" cy="2840023"/>
          </a:xfrm>
          <a:prstGeom prst="roundRect">
            <a:avLst>
              <a:gd name="adj" fmla="val 5505"/>
            </a:avLst>
          </a:prstGeom>
          <a:noFill/>
          <a:ln w="25400">
            <a:noFill/>
          </a:ln>
          <a:effectLst>
            <a:outerShdw blurRad="254000" dist="76827" dir="5400000" algn="t" rotWithShape="0">
              <a:schemeClr val="accent1">
                <a:lumMod val="50000"/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42" tIns="137142" bIns="91428" rtlCol="0" anchor="t" anchorCtr="0"/>
          <a:lstStyle/>
          <a:p>
            <a:pPr>
              <a:lnSpc>
                <a:spcPts val="1420"/>
              </a:lnSpc>
              <a:spcAft>
                <a:spcPts val="1200"/>
              </a:spcAft>
            </a:pPr>
            <a:r>
              <a:rPr lang="en-US" sz="1600" b="1" dirty="0">
                <a:solidFill>
                  <a:srgbClr val="00A881"/>
                </a:solidFill>
                <a:latin typeface="Segoe Sans Display Semibold" pitchFamily="2" charset="0"/>
                <a:cs typeface="Segoe Sans Display Semibold" pitchFamily="2" charset="0"/>
              </a:rPr>
              <a:t>Model APIs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OpenAI Responses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Anthropic Messages</a:t>
            </a:r>
          </a:p>
          <a:p>
            <a:pPr>
              <a:lnSpc>
                <a:spcPts val="1420"/>
              </a:lnSpc>
              <a:spcAft>
                <a:spcPts val="600"/>
              </a:spcAft>
            </a:pPr>
            <a:endParaRPr lang="en-US" sz="525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>
              <a:lnSpc>
                <a:spcPts val="1420"/>
              </a:lnSpc>
              <a:spcAft>
                <a:spcPts val="600"/>
              </a:spcAft>
            </a:pPr>
            <a:endParaRPr lang="en-US" sz="525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>
              <a:lnSpc>
                <a:spcPts val="1420"/>
              </a:lnSpc>
              <a:spcAft>
                <a:spcPts val="600"/>
              </a:spcAft>
            </a:pPr>
            <a:endParaRPr lang="en-US" sz="1000" b="1" dirty="0">
              <a:solidFill>
                <a:schemeClr val="tx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>
              <a:lnSpc>
                <a:spcPts val="1420"/>
              </a:lnSpc>
              <a:spcBef>
                <a:spcPts val="1400"/>
              </a:spcBef>
              <a:spcAft>
                <a:spcPts val="600"/>
              </a:spcAft>
            </a:pPr>
            <a:r>
              <a:rPr lang="en-US" sz="1200" b="1" dirty="0">
                <a:solidFill>
                  <a:schemeClr val="bg2"/>
                </a:solidFill>
                <a:latin typeface="Segoe Sans Display Semibold" pitchFamily="2" charset="0"/>
                <a:ea typeface="Segoe UI" pitchFamily="34" charset="-122"/>
                <a:cs typeface="Segoe Sans Display Semibold" pitchFamily="2" charset="0"/>
              </a:rPr>
              <a:t>Agent-loop + tool calling bult in. Great for single-agent scenarios.</a:t>
            </a:r>
            <a:endParaRPr lang="en-US" sz="1200" b="1" dirty="0">
              <a:solidFill>
                <a:schemeClr val="bg2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FE564BD-F47F-F1DC-FB0A-86E60BA4BB63}"/>
              </a:ext>
            </a:extLst>
          </p:cNvPr>
          <p:cNvSpPr>
            <a:spLocks/>
          </p:cNvSpPr>
          <p:nvPr/>
        </p:nvSpPr>
        <p:spPr>
          <a:xfrm>
            <a:off x="3323407" y="2353070"/>
            <a:ext cx="2763465" cy="2840023"/>
          </a:xfrm>
          <a:prstGeom prst="roundRect">
            <a:avLst>
              <a:gd name="adj" fmla="val 5089"/>
            </a:avLst>
          </a:prstGeom>
          <a:noFill/>
          <a:ln w="25400">
            <a:noFill/>
          </a:ln>
          <a:effectLst>
            <a:outerShdw blurRad="254000" dist="76827" dir="5400000" algn="t" rotWithShape="0">
              <a:schemeClr val="accent1">
                <a:lumMod val="50000"/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42" tIns="137142" bIns="91428" rtlCol="0" anchor="t" anchorCtr="0"/>
          <a:lstStyle/>
          <a:p>
            <a:pPr>
              <a:lnSpc>
                <a:spcPts val="1420"/>
              </a:lnSpc>
              <a:spcAft>
                <a:spcPts val="1200"/>
              </a:spcAft>
            </a:pPr>
            <a:r>
              <a:rPr lang="en-US" sz="1600" b="1" dirty="0">
                <a:solidFill>
                  <a:schemeClr val="accent3"/>
                </a:solidFill>
                <a:latin typeface="Segoe Sans Display Semibold" pitchFamily="2" charset="0"/>
                <a:cs typeface="Segoe Sans Display Semibold" pitchFamily="2" charset="0"/>
              </a:rPr>
              <a:t>Agent Frameworks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Microsoft Agent Framework (MAF)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LangGraph</a:t>
            </a:r>
            <a:endParaRPr lang="en-US" sz="1200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CrewAI</a:t>
            </a:r>
            <a:endParaRPr lang="en-US" sz="1200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Autogen</a:t>
            </a:r>
            <a:endParaRPr lang="en-US" sz="1200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tx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>
              <a:lnSpc>
                <a:spcPts val="1420"/>
              </a:lnSpc>
              <a:spcAft>
                <a:spcPts val="600"/>
              </a:spcAft>
            </a:pPr>
            <a:r>
              <a:rPr lang="en-US" sz="1200" b="1" dirty="0">
                <a:solidFill>
                  <a:schemeClr val="bg2"/>
                </a:solidFill>
                <a:latin typeface="Segoe Sans Display Semibold" pitchFamily="2" charset="0"/>
                <a:cs typeface="Segoe Sans Display Semibold" pitchFamily="2" charset="0"/>
              </a:rPr>
              <a:t>Multi-agent orchestration, state machines, checkpointing, HITL, error recovery</a:t>
            </a:r>
          </a:p>
          <a:p>
            <a:pPr>
              <a:lnSpc>
                <a:spcPts val="1420"/>
              </a:lnSpc>
              <a:spcAft>
                <a:spcPts val="600"/>
              </a:spcAft>
            </a:pPr>
            <a:endParaRPr lang="en-US" sz="1400" b="1" dirty="0">
              <a:solidFill>
                <a:schemeClr val="tx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84950C2-F72E-DA7A-0293-00FE1722074B}"/>
              </a:ext>
            </a:extLst>
          </p:cNvPr>
          <p:cNvSpPr>
            <a:spLocks/>
          </p:cNvSpPr>
          <p:nvPr/>
        </p:nvSpPr>
        <p:spPr>
          <a:xfrm>
            <a:off x="6222444" y="2353070"/>
            <a:ext cx="2646150" cy="2840023"/>
          </a:xfrm>
          <a:prstGeom prst="roundRect">
            <a:avLst>
              <a:gd name="adj" fmla="val 5062"/>
            </a:avLst>
          </a:prstGeom>
          <a:noFill/>
          <a:ln w="25400">
            <a:noFill/>
          </a:ln>
          <a:effectLst>
            <a:outerShdw blurRad="254000" dist="76827" dir="5400000" algn="t" rotWithShape="0">
              <a:schemeClr val="accent1">
                <a:lumMod val="50000"/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42" tIns="137142" bIns="91428" rtlCol="0" anchor="t" anchorCtr="0"/>
          <a:lstStyle/>
          <a:p>
            <a:pPr>
              <a:lnSpc>
                <a:spcPts val="1420"/>
              </a:lnSpc>
              <a:spcAft>
                <a:spcPts val="1200"/>
              </a:spcAft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Segoe Sans Display Semibold" pitchFamily="2" charset="0"/>
                <a:cs typeface="Segoe Sans Display Semibold" pitchFamily="2" charset="0"/>
              </a:rPr>
              <a:t>Coding Agents SDK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GitHub Copilot SDK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Claude Agent SDK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Cursor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Windsurf</a:t>
            </a:r>
          </a:p>
          <a:p>
            <a:pPr>
              <a:lnSpc>
                <a:spcPts val="1420"/>
              </a:lnSpc>
              <a:spcAft>
                <a:spcPts val="600"/>
              </a:spcAft>
            </a:pPr>
            <a:br>
              <a:rPr lang="en-US" sz="1200" b="1" dirty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</a:br>
            <a:endParaRPr lang="en-US" sz="1200" b="1" dirty="0">
              <a:solidFill>
                <a:schemeClr val="tx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>
              <a:lnSpc>
                <a:spcPts val="1420"/>
              </a:lnSpc>
              <a:spcAft>
                <a:spcPts val="600"/>
              </a:spcAft>
            </a:pPr>
            <a:r>
              <a:rPr lang="en-US" sz="1200" b="1" dirty="0">
                <a:solidFill>
                  <a:schemeClr val="bg2"/>
                </a:solidFill>
                <a:latin typeface="Segoe Sans Display Semibold" pitchFamily="2" charset="0"/>
                <a:cs typeface="Segoe Sans Display Semibold" pitchFamily="2" charset="0"/>
              </a:rPr>
              <a:t>Full autonomous loop: plan </a:t>
            </a:r>
            <a:r>
              <a:rPr lang="en-US" sz="1200" b="1" dirty="0">
                <a:solidFill>
                  <a:schemeClr val="bg2"/>
                </a:solidFill>
                <a:latin typeface="Segoe Sans Display Semibold" pitchFamily="2" charset="0"/>
                <a:ea typeface="Segoe UI" pitchFamily="34" charset="-122"/>
                <a:cs typeface="Segoe Sans Display Semibold" pitchFamily="2" charset="0"/>
              </a:rPr>
              <a:t>→ act → observe → iterate. Embed in your project.</a:t>
            </a:r>
            <a:endParaRPr lang="en-US" sz="1200" b="1" dirty="0">
              <a:solidFill>
                <a:schemeClr val="bg2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>
              <a:lnSpc>
                <a:spcPts val="1420"/>
              </a:lnSpc>
              <a:spcAft>
                <a:spcPts val="600"/>
              </a:spcAft>
            </a:pPr>
            <a:endParaRPr lang="en-US" sz="1400" b="1" dirty="0">
              <a:solidFill>
                <a:schemeClr val="tx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A89B324A-2DB8-71E9-FDDD-4AA60B3527F4}"/>
              </a:ext>
            </a:extLst>
          </p:cNvPr>
          <p:cNvSpPr>
            <a:spLocks/>
          </p:cNvSpPr>
          <p:nvPr/>
        </p:nvSpPr>
        <p:spPr>
          <a:xfrm>
            <a:off x="9004166" y="2353070"/>
            <a:ext cx="2646150" cy="2840023"/>
          </a:xfrm>
          <a:prstGeom prst="roundRect">
            <a:avLst>
              <a:gd name="adj" fmla="val 5505"/>
            </a:avLst>
          </a:prstGeom>
          <a:noFill/>
          <a:ln w="25400">
            <a:noFill/>
          </a:ln>
          <a:effectLst>
            <a:outerShdw blurRad="254000" dist="76827" dir="5400000" algn="t" rotWithShape="0">
              <a:schemeClr val="accent1">
                <a:lumMod val="50000"/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42" tIns="137142" bIns="91428" rtlCol="0" anchor="t" anchorCtr="0"/>
          <a:lstStyle/>
          <a:p>
            <a:pPr>
              <a:lnSpc>
                <a:spcPts val="1420"/>
              </a:lnSpc>
              <a:spcAft>
                <a:spcPts val="1200"/>
              </a:spcAft>
            </a:pPr>
            <a:r>
              <a:rPr lang="en-US" sz="1600" b="1" dirty="0">
                <a:solidFill>
                  <a:srgbClr val="00B0F0"/>
                </a:solidFill>
                <a:latin typeface="Segoe Sans Display Semibold" pitchFamily="2" charset="0"/>
                <a:cs typeface="Segoe Sans Display Semibold" pitchFamily="2" charset="0"/>
              </a:rPr>
              <a:t>Claws / Personal </a:t>
            </a:r>
            <a:br>
              <a:rPr lang="en-US" sz="1600" b="1" dirty="0">
                <a:solidFill>
                  <a:srgbClr val="00B0F0"/>
                </a:solidFill>
                <a:latin typeface="Segoe Sans Display Semibold" pitchFamily="2" charset="0"/>
                <a:cs typeface="Segoe Sans Display Semibold" pitchFamily="2" charset="0"/>
              </a:rPr>
            </a:br>
            <a:r>
              <a:rPr lang="en-US" sz="1600" b="1" dirty="0">
                <a:solidFill>
                  <a:srgbClr val="00B0F0"/>
                </a:solidFill>
                <a:latin typeface="Segoe Sans Display Semibold" pitchFamily="2" charset="0"/>
                <a:cs typeface="Segoe Sans Display Semibold" pitchFamily="2" charset="0"/>
              </a:rPr>
              <a:t>Agent Platforms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OpenClaw</a:t>
            </a:r>
            <a:endParaRPr lang="en-US" sz="1200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NanoClaw</a:t>
            </a:r>
            <a:endParaRPr lang="en-US" sz="1200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tx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tx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>
              <a:lnSpc>
                <a:spcPts val="1420"/>
              </a:lnSpc>
              <a:spcAft>
                <a:spcPts val="600"/>
              </a:spcAft>
            </a:pPr>
            <a:r>
              <a:rPr lang="en-US" sz="1200" b="1" dirty="0">
                <a:solidFill>
                  <a:schemeClr val="bg2"/>
                </a:solidFill>
                <a:latin typeface="Segoe Sans Display Semibold" pitchFamily="2" charset="0"/>
                <a:ea typeface="Segoe UI" pitchFamily="34" charset="-122"/>
                <a:cs typeface="Segoe Sans Display Semibold" pitchFamily="2" charset="0"/>
              </a:rPr>
              <a:t>Full-stack end-user products: skills marketplace, multi-channel, native apps.</a:t>
            </a:r>
            <a:endParaRPr lang="en-US" sz="1200" b="1" dirty="0">
              <a:solidFill>
                <a:schemeClr val="bg2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>
              <a:lnSpc>
                <a:spcPts val="1420"/>
              </a:lnSpc>
              <a:spcAft>
                <a:spcPts val="600"/>
              </a:spcAft>
            </a:pPr>
            <a:endParaRPr lang="en-US" sz="1400" b="1" dirty="0">
              <a:solidFill>
                <a:schemeClr val="tx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cxnSp>
        <p:nvCxnSpPr>
          <p:cNvPr id="15" name="!!Straight Arrow Connector 40" descr="Microsoft Cloud is the foundation of the Copilot stack.&#10;&#10;Bidirectional arrow along the bottom of the Copilot stack diagram with &quot;Microsoft Cloud&quot; in the middle of the arrow.">
            <a:extLst>
              <a:ext uri="{FF2B5EF4-FFF2-40B4-BE49-F238E27FC236}">
                <a16:creationId xmlns:a16="http://schemas.microsoft.com/office/drawing/2014/main" id="{53638A72-29DC-8A9A-B51A-EA47849F827F}"/>
              </a:ext>
            </a:extLst>
          </p:cNvPr>
          <p:cNvCxnSpPr>
            <a:cxnSpLocks/>
          </p:cNvCxnSpPr>
          <p:nvPr/>
        </p:nvCxnSpPr>
        <p:spPr>
          <a:xfrm>
            <a:off x="697173" y="4184841"/>
            <a:ext cx="2335173" cy="0"/>
          </a:xfrm>
          <a:prstGeom prst="straightConnector1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  <a:headEnd type="none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!!Straight Arrow Connector 40" descr="Microsoft Cloud is the foundation of the Copilot stack.&#10;&#10;Bidirectional arrow along the bottom of the Copilot stack diagram with &quot;Microsoft Cloud&quot; in the middle of the arrow.">
            <a:extLst>
              <a:ext uri="{FF2B5EF4-FFF2-40B4-BE49-F238E27FC236}">
                <a16:creationId xmlns:a16="http://schemas.microsoft.com/office/drawing/2014/main" id="{7D5B9E6F-0CA1-3044-BD03-7CA0B8A350F7}"/>
              </a:ext>
            </a:extLst>
          </p:cNvPr>
          <p:cNvCxnSpPr>
            <a:cxnSpLocks/>
          </p:cNvCxnSpPr>
          <p:nvPr/>
        </p:nvCxnSpPr>
        <p:spPr>
          <a:xfrm>
            <a:off x="3537553" y="4184841"/>
            <a:ext cx="2335173" cy="0"/>
          </a:xfrm>
          <a:prstGeom prst="straightConnector1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  <a:headEnd type="none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!!Straight Arrow Connector 40" descr="Microsoft Cloud is the foundation of the Copilot stack.&#10;&#10;Bidirectional arrow along the bottom of the Copilot stack diagram with &quot;Microsoft Cloud&quot; in the middle of the arrow.">
            <a:extLst>
              <a:ext uri="{FF2B5EF4-FFF2-40B4-BE49-F238E27FC236}">
                <a16:creationId xmlns:a16="http://schemas.microsoft.com/office/drawing/2014/main" id="{295927E0-0E2C-9310-6852-CB7BB604B78E}"/>
              </a:ext>
            </a:extLst>
          </p:cNvPr>
          <p:cNvCxnSpPr>
            <a:cxnSpLocks/>
          </p:cNvCxnSpPr>
          <p:nvPr/>
        </p:nvCxnSpPr>
        <p:spPr>
          <a:xfrm>
            <a:off x="6377932" y="4184841"/>
            <a:ext cx="2335173" cy="0"/>
          </a:xfrm>
          <a:prstGeom prst="straightConnector1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  <a:headEnd type="none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!!Straight Arrow Connector 40" descr="Microsoft Cloud is the foundation of the Copilot stack.&#10;&#10;Bidirectional arrow along the bottom of the Copilot stack diagram with &quot;Microsoft Cloud&quot; in the middle of the arrow.">
            <a:extLst>
              <a:ext uri="{FF2B5EF4-FFF2-40B4-BE49-F238E27FC236}">
                <a16:creationId xmlns:a16="http://schemas.microsoft.com/office/drawing/2014/main" id="{26490898-DFFD-BAD2-29E4-1CADC12C4345}"/>
              </a:ext>
            </a:extLst>
          </p:cNvPr>
          <p:cNvCxnSpPr>
            <a:cxnSpLocks/>
          </p:cNvCxnSpPr>
          <p:nvPr/>
        </p:nvCxnSpPr>
        <p:spPr>
          <a:xfrm>
            <a:off x="9159655" y="4184841"/>
            <a:ext cx="2335173" cy="0"/>
          </a:xfrm>
          <a:prstGeom prst="straightConnector1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  <a:headEnd type="none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1">
            <a:extLst>
              <a:ext uri="{FF2B5EF4-FFF2-40B4-BE49-F238E27FC236}">
                <a16:creationId xmlns:a16="http://schemas.microsoft.com/office/drawing/2014/main" id="{E00AFC46-372A-259C-544C-88922D9F83C6}"/>
              </a:ext>
            </a:extLst>
          </p:cNvPr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4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Framework</a:t>
            </a:r>
            <a:endParaRPr lang="en-US" sz="2900" dirty="0"/>
          </a:p>
        </p:txBody>
      </p:sp>
      <p:sp>
        <p:nvSpPr>
          <p:cNvPr id="53" name="TextBox 52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38</a:t>
            </a:r>
          </a:p>
        </p:txBody>
      </p:sp>
    </p:spTree>
    <p:extLst>
      <p:ext uri="{BB962C8B-B14F-4D97-AF65-F5344CB8AC3E}">
        <p14:creationId xmlns:p14="http://schemas.microsoft.com/office/powerpoint/2010/main" val="32855724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3AB310-71E9-5CD2-AF24-586A69A0E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7102A92-FA95-CBF6-395C-BDC4A939A1CF}"/>
              </a:ext>
            </a:extLst>
          </p:cNvPr>
          <p:cNvSpPr/>
          <p:nvPr/>
        </p:nvSpPr>
        <p:spPr>
          <a:xfrm>
            <a:off x="541683" y="4516533"/>
            <a:ext cx="11107172" cy="65561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C1C1C">
                  <a:alpha val="90427"/>
                </a:srgbClr>
              </a:gs>
              <a:gs pos="99000">
                <a:schemeClr val="tx1">
                  <a:alpha val="85014"/>
                </a:schemeClr>
              </a:gs>
            </a:gsLst>
            <a:lin ang="5400000" scaled="1"/>
          </a:gradFill>
          <a:ln w="25400">
            <a:gradFill>
              <a:gsLst>
                <a:gs pos="0">
                  <a:schemeClr val="tx1">
                    <a:lumMod val="71000"/>
                    <a:lumOff val="29000"/>
                    <a:alpha val="34291"/>
                  </a:schemeClr>
                </a:gs>
                <a:gs pos="98000">
                  <a:srgbClr val="7AA7CF">
                    <a:alpha val="35092"/>
                    <a:lumMod val="82318"/>
                    <a:lumOff val="17682"/>
                  </a:srgbClr>
                </a:gs>
              </a:gsLst>
              <a:lin ang="5400000" scaled="1"/>
            </a:gradFill>
          </a:ln>
          <a:effectLst>
            <a:outerShdw blurRad="318509" dist="136112" dir="2700000" algn="tl" rotWithShape="0">
              <a:schemeClr val="bg1">
                <a:alpha val="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12" rIns="0" bIns="0" rtlCol="0" anchor="ctr"/>
          <a:lstStyle/>
          <a:p>
            <a:pPr algn="ctr">
              <a:lnSpc>
                <a:spcPts val="2829"/>
              </a:lnSpc>
            </a:pPr>
            <a:endParaRPr lang="en-US" sz="2699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3F7248-9B00-805A-29E1-9B3C5D7D1E2D}"/>
              </a:ext>
            </a:extLst>
          </p:cNvPr>
          <p:cNvSpPr/>
          <p:nvPr/>
        </p:nvSpPr>
        <p:spPr>
          <a:xfrm>
            <a:off x="541684" y="2412517"/>
            <a:ext cx="3466395" cy="1829794"/>
          </a:xfrm>
          <a:prstGeom prst="roundRect">
            <a:avLst>
              <a:gd name="adj" fmla="val 15430"/>
            </a:avLst>
          </a:prstGeom>
          <a:gradFill>
            <a:gsLst>
              <a:gs pos="0">
                <a:srgbClr val="1C1C1C">
                  <a:alpha val="90427"/>
                </a:srgbClr>
              </a:gs>
              <a:gs pos="99000">
                <a:schemeClr val="tx1">
                  <a:alpha val="85014"/>
                </a:schemeClr>
              </a:gs>
            </a:gsLst>
            <a:lin ang="5400000" scaled="1"/>
          </a:gradFill>
          <a:ln w="25400">
            <a:gradFill>
              <a:gsLst>
                <a:gs pos="0">
                  <a:schemeClr val="tx1">
                    <a:lumMod val="71000"/>
                    <a:lumOff val="29000"/>
                    <a:alpha val="34291"/>
                  </a:schemeClr>
                </a:gs>
                <a:gs pos="98000">
                  <a:srgbClr val="7AA7CF">
                    <a:alpha val="35092"/>
                    <a:lumMod val="82318"/>
                    <a:lumOff val="17682"/>
                  </a:srgbClr>
                </a:gs>
              </a:gsLst>
              <a:lin ang="5400000" scaled="1"/>
            </a:gradFill>
          </a:ln>
          <a:effectLst>
            <a:outerShdw blurRad="318509" dist="136112" dir="2700000" algn="tl" rotWithShape="0">
              <a:schemeClr val="bg1">
                <a:alpha val="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12" rIns="0" bIns="0" rtlCol="0" anchor="ctr"/>
          <a:lstStyle/>
          <a:p>
            <a:pPr algn="ctr">
              <a:lnSpc>
                <a:spcPts val="2829"/>
              </a:lnSpc>
            </a:pPr>
            <a:endParaRPr lang="en-US" sz="2699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9F01405-4E42-FA59-4E19-13CE0A87A07C}"/>
              </a:ext>
            </a:extLst>
          </p:cNvPr>
          <p:cNvSpPr/>
          <p:nvPr/>
        </p:nvSpPr>
        <p:spPr>
          <a:xfrm>
            <a:off x="4285882" y="2412517"/>
            <a:ext cx="3620075" cy="1829794"/>
          </a:xfrm>
          <a:prstGeom prst="roundRect">
            <a:avLst>
              <a:gd name="adj" fmla="val 15430"/>
            </a:avLst>
          </a:prstGeom>
          <a:gradFill>
            <a:gsLst>
              <a:gs pos="0">
                <a:srgbClr val="1C1C1C">
                  <a:alpha val="90427"/>
                </a:srgbClr>
              </a:gs>
              <a:gs pos="99000">
                <a:schemeClr val="tx1">
                  <a:alpha val="85014"/>
                </a:schemeClr>
              </a:gs>
            </a:gsLst>
            <a:lin ang="5400000" scaled="1"/>
          </a:gradFill>
          <a:ln w="25400">
            <a:gradFill>
              <a:gsLst>
                <a:gs pos="0">
                  <a:schemeClr val="tx1">
                    <a:lumMod val="71000"/>
                    <a:lumOff val="29000"/>
                    <a:alpha val="34291"/>
                  </a:schemeClr>
                </a:gs>
                <a:gs pos="98000">
                  <a:srgbClr val="7AA7CF">
                    <a:alpha val="35092"/>
                    <a:lumMod val="82318"/>
                    <a:lumOff val="17682"/>
                  </a:srgbClr>
                </a:gs>
              </a:gsLst>
              <a:lin ang="5400000" scaled="1"/>
            </a:gradFill>
          </a:ln>
          <a:effectLst>
            <a:outerShdw blurRad="318509" dist="136112" dir="2700000" algn="tl" rotWithShape="0">
              <a:schemeClr val="bg1">
                <a:alpha val="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12" rIns="0" bIns="0" rtlCol="0" anchor="ctr"/>
          <a:lstStyle/>
          <a:p>
            <a:pPr algn="ctr">
              <a:lnSpc>
                <a:spcPts val="2829"/>
              </a:lnSpc>
            </a:pPr>
            <a:endParaRPr lang="en-US" sz="2699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3C4A2AA-BD82-62B3-634C-A774C3DD9974}"/>
              </a:ext>
            </a:extLst>
          </p:cNvPr>
          <p:cNvSpPr/>
          <p:nvPr/>
        </p:nvSpPr>
        <p:spPr>
          <a:xfrm>
            <a:off x="8182460" y="2412517"/>
            <a:ext cx="3466395" cy="1829794"/>
          </a:xfrm>
          <a:prstGeom prst="roundRect">
            <a:avLst>
              <a:gd name="adj" fmla="val 15430"/>
            </a:avLst>
          </a:prstGeom>
          <a:gradFill>
            <a:gsLst>
              <a:gs pos="0">
                <a:srgbClr val="1C1C1C">
                  <a:alpha val="90427"/>
                </a:srgbClr>
              </a:gs>
              <a:gs pos="99000">
                <a:schemeClr val="tx1">
                  <a:alpha val="85014"/>
                </a:schemeClr>
              </a:gs>
            </a:gsLst>
            <a:lin ang="5400000" scaled="1"/>
          </a:gradFill>
          <a:ln w="25400">
            <a:gradFill>
              <a:gsLst>
                <a:gs pos="0">
                  <a:schemeClr val="tx1">
                    <a:lumMod val="71000"/>
                    <a:lumOff val="29000"/>
                    <a:alpha val="34291"/>
                  </a:schemeClr>
                </a:gs>
                <a:gs pos="98000">
                  <a:srgbClr val="7AA7CF">
                    <a:alpha val="35092"/>
                    <a:lumMod val="82318"/>
                    <a:lumOff val="17682"/>
                  </a:srgbClr>
                </a:gs>
              </a:gsLst>
              <a:lin ang="5400000" scaled="1"/>
            </a:gradFill>
          </a:ln>
          <a:effectLst>
            <a:outerShdw blurRad="318509" dist="136112" dir="2700000" algn="tl" rotWithShape="0">
              <a:schemeClr val="bg1">
                <a:alpha val="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12" rIns="0" bIns="0" rtlCol="0" anchor="ctr"/>
          <a:lstStyle/>
          <a:p>
            <a:pPr algn="ctr">
              <a:lnSpc>
                <a:spcPts val="2829"/>
              </a:lnSpc>
            </a:pPr>
            <a:endParaRPr lang="en-US" sz="2699" b="1" dirty="0">
              <a:solidFill>
                <a:schemeClr val="bg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2874D99-8D9E-831C-94EF-AAB010B81EBD}"/>
              </a:ext>
            </a:extLst>
          </p:cNvPr>
          <p:cNvSpPr txBox="1">
            <a:spLocks/>
          </p:cNvSpPr>
          <p:nvPr/>
        </p:nvSpPr>
        <p:spPr>
          <a:xfrm>
            <a:off x="731520" y="1234440"/>
            <a:ext cx="9144000" cy="31745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ts val="4400"/>
              </a:lnSpc>
              <a:spcBef>
                <a:spcPts val="67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kern="0" spc="-72" baseline="0" dirty="0" smtClean="0">
                <a:solidFill>
                  <a:srgbClr val="0F0F0F">
                    <a:alpha val="100000"/>
                  </a:srgbClr>
                </a:solidFill>
                <a:latin typeface="Segoe Sans Display Semibold" pitchFamily="2" charset="0"/>
                <a:ea typeface="Segoe Sans Display Semibold" pitchFamily="2" charset="0"/>
                <a:cs typeface="Segoe Sans Display Semibold" pitchFamily="2" charset="0"/>
              </a:defRPr>
            </a:lvl1pPr>
            <a:lvl2pPr marL="45720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4800" b="1" i="0" kern="0" spc="-100" baseline="0">
                <a:solidFill>
                  <a:schemeClr val="tx1"/>
                </a:solidFill>
                <a:latin typeface="Segoe Sans Display Semibold" pitchFamily="2" charset="0"/>
                <a:ea typeface="+mn-ea"/>
                <a:cs typeface="Segoe Sans Display Semibold" pitchFamily="2" charset="0"/>
              </a:defRPr>
            </a:lvl2pPr>
            <a:lvl3pPr marL="91440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3600" b="1" i="0" kern="0" spc="0" baseline="0">
                <a:solidFill>
                  <a:schemeClr val="tx1"/>
                </a:solidFill>
                <a:latin typeface="Segoe Sans Display Semibold" pitchFamily="2" charset="0"/>
                <a:ea typeface="+mn-ea"/>
                <a:cs typeface="Segoe Sans Display Semibold" pitchFamily="2" charset="0"/>
              </a:defRPr>
            </a:lvl3pPr>
            <a:lvl4pPr marL="137160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2400" b="1" i="0" kern="0" spc="0" baseline="0">
                <a:solidFill>
                  <a:schemeClr val="tx1"/>
                </a:solidFill>
                <a:latin typeface="Segoe Sans Display Semibold" pitchFamily="2" charset="0"/>
                <a:ea typeface="+mn-ea"/>
                <a:cs typeface="Segoe Sans Display Semibold" pitchFamily="2" charset="0"/>
              </a:defRPr>
            </a:lvl4pPr>
            <a:lvl5pPr marL="182880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2200" b="1" i="0" kern="0" spc="0" baseline="0">
                <a:solidFill>
                  <a:schemeClr val="tx1"/>
                </a:solidFill>
                <a:latin typeface="Segoe Sans Display Semibold" pitchFamily="2" charset="0"/>
                <a:ea typeface="+mn-ea"/>
                <a:cs typeface="Segoe Sans Display Semibold" pitchFamily="2" charset="0"/>
              </a:defRPr>
            </a:lvl5pPr>
            <a:lvl6pPr marL="2286000" indent="0" algn="l" defTabSz="914400" rtl="0" eaLnBrk="1" latinLnBrk="0" hangingPunct="1">
              <a:spcBef>
                <a:spcPts val="672"/>
              </a:spcBef>
              <a:buFont typeface="Arial" panose="020B0604020202020204" pitchFamily="34" charset="0"/>
              <a:buNone/>
              <a:defRPr sz="2000" kern="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0" spc="-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solidFill>
                  <a:srgbClr val="555565"/>
                </a:solidFill>
              </a:rPr>
              <a:t>Foundry Toolbox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3E1808-9685-BDF3-F9D2-29E9BF4974F9}"/>
              </a:ext>
            </a:extLst>
          </p:cNvPr>
          <p:cNvSpPr>
            <a:spLocks/>
          </p:cNvSpPr>
          <p:nvPr/>
        </p:nvSpPr>
        <p:spPr>
          <a:xfrm>
            <a:off x="541684" y="2412516"/>
            <a:ext cx="3466395" cy="1829794"/>
          </a:xfrm>
          <a:prstGeom prst="roundRect">
            <a:avLst>
              <a:gd name="adj" fmla="val 15693"/>
            </a:avLst>
          </a:prstGeom>
          <a:noFill/>
          <a:ln w="25400">
            <a:noFill/>
          </a:ln>
          <a:effectLst>
            <a:outerShdw blurRad="254000" dist="76827" dir="5400000" algn="t" rotWithShape="0">
              <a:schemeClr val="accent1">
                <a:lumMod val="50000"/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42" tIns="137142" bIns="91428" rtlCol="0" anchor="t" anchorCtr="0"/>
          <a:lstStyle/>
          <a:p>
            <a:pPr>
              <a:lnSpc>
                <a:spcPts val="1420"/>
              </a:lnSpc>
              <a:spcAft>
                <a:spcPts val="1200"/>
              </a:spcAft>
            </a:pPr>
            <a:r>
              <a:rPr lang="en-US" sz="1600" b="1" dirty="0">
                <a:solidFill>
                  <a:schemeClr val="accent3"/>
                </a:solidFill>
                <a:latin typeface="Segoe Sans Display Semibold" pitchFamily="2" charset="0"/>
                <a:cs typeface="Segoe Sans Display Semibold" pitchFamily="2" charset="0"/>
              </a:rPr>
              <a:t>Curate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Browse tool catalog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Bundle into a toolbox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Configure auth + steering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Reuse across agents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DD6D51-EBD2-9A58-E81D-1EC717C2F3CE}"/>
              </a:ext>
            </a:extLst>
          </p:cNvPr>
          <p:cNvSpPr>
            <a:spLocks/>
          </p:cNvSpPr>
          <p:nvPr/>
        </p:nvSpPr>
        <p:spPr>
          <a:xfrm>
            <a:off x="4285962" y="2412516"/>
            <a:ext cx="3620075" cy="1829794"/>
          </a:xfrm>
          <a:prstGeom prst="roundRect">
            <a:avLst>
              <a:gd name="adj" fmla="val 15693"/>
            </a:avLst>
          </a:prstGeom>
          <a:noFill/>
          <a:ln w="25400">
            <a:noFill/>
          </a:ln>
          <a:effectLst>
            <a:outerShdw blurRad="254000" dist="76827" dir="5400000" algn="t" rotWithShape="0">
              <a:schemeClr val="accent1">
                <a:lumMod val="50000"/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42" tIns="137142" bIns="91428" rtlCol="0" anchor="t" anchorCtr="0"/>
          <a:lstStyle/>
          <a:p>
            <a:pPr>
              <a:lnSpc>
                <a:spcPts val="1420"/>
              </a:lnSpc>
              <a:spcAft>
                <a:spcPts val="1200"/>
              </a:spcAft>
            </a:pPr>
            <a:r>
              <a:rPr lang="en-US" sz="1600" b="1" dirty="0">
                <a:solidFill>
                  <a:srgbClr val="00A881"/>
                </a:solidFill>
                <a:latin typeface="Segoe Sans Display Semibold" pitchFamily="2" charset="0"/>
                <a:cs typeface="Segoe Sans Display Semibold" pitchFamily="2" charset="0"/>
              </a:rPr>
              <a:t>Search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Tool Search tool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Dynamically finds best tool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Context-aware selection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Solves context-window explosion</a:t>
            </a:r>
          </a:p>
          <a:p>
            <a:pPr>
              <a:lnSpc>
                <a:spcPts val="1420"/>
              </a:lnSpc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4A7BCA3-16CB-F37E-B9BE-9701FF8CEACC}"/>
              </a:ext>
            </a:extLst>
          </p:cNvPr>
          <p:cNvSpPr>
            <a:spLocks/>
          </p:cNvSpPr>
          <p:nvPr/>
        </p:nvSpPr>
        <p:spPr>
          <a:xfrm>
            <a:off x="8183921" y="2412516"/>
            <a:ext cx="3466395" cy="1829794"/>
          </a:xfrm>
          <a:prstGeom prst="roundRect">
            <a:avLst>
              <a:gd name="adj" fmla="val 15693"/>
            </a:avLst>
          </a:prstGeom>
          <a:noFill/>
          <a:ln w="25400">
            <a:noFill/>
          </a:ln>
          <a:effectLst>
            <a:outerShdw blurRad="254000" dist="76827" dir="5400000" algn="t" rotWithShape="0">
              <a:schemeClr val="accent1">
                <a:lumMod val="50000"/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42" tIns="137142" bIns="91428" rtlCol="0" anchor="t" anchorCtr="0"/>
          <a:lstStyle/>
          <a:p>
            <a:pPr>
              <a:lnSpc>
                <a:spcPts val="1420"/>
              </a:lnSpc>
              <a:spcAft>
                <a:spcPts val="1200"/>
              </a:spcAft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Segoe Sans Display Semibold" pitchFamily="2" charset="0"/>
                <a:cs typeface="Segoe Sans Display Semibold" pitchFamily="2" charset="0"/>
              </a:rPr>
              <a:t>Govern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Private tool catalog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Org-level permissions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DLP / RAI / rate limits</a:t>
            </a:r>
          </a:p>
          <a:p>
            <a:pPr marL="228554" indent="-228554">
              <a:lnSpc>
                <a:spcPts val="14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Full observability + audit</a:t>
            </a:r>
          </a:p>
          <a:p>
            <a:pPr>
              <a:lnSpc>
                <a:spcPts val="1420"/>
              </a:lnSpc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40A348-D740-E213-C6D6-885EBEB3504B}"/>
              </a:ext>
            </a:extLst>
          </p:cNvPr>
          <p:cNvSpPr>
            <a:spLocks/>
          </p:cNvSpPr>
          <p:nvPr/>
        </p:nvSpPr>
        <p:spPr>
          <a:xfrm>
            <a:off x="541684" y="4516534"/>
            <a:ext cx="11108632" cy="655610"/>
          </a:xfrm>
          <a:prstGeom prst="roundRect">
            <a:avLst>
              <a:gd name="adj" fmla="val 50000"/>
            </a:avLst>
          </a:prstGeom>
          <a:noFill/>
          <a:ln w="25400">
            <a:noFill/>
          </a:ln>
          <a:effectLst>
            <a:outerShdw blurRad="254000" dist="76827" dir="5400000" algn="t" rotWithShape="0">
              <a:schemeClr val="accent1">
                <a:lumMod val="50000"/>
                <a:alpha val="1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rPr>
              <a:t>API Key  ––  OAuth  ––  User Impersonation (OBO)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C53905E-A0D2-CC85-AE95-2F11F732E5FE}"/>
              </a:ext>
            </a:extLst>
          </p:cNvPr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4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Knowledge</a:t>
            </a:r>
            <a:endParaRPr lang="en-US" sz="2900" dirty="0"/>
          </a:p>
        </p:txBody>
      </p:sp>
      <p:sp>
        <p:nvSpPr>
          <p:cNvPr id="15" name="TextBox 14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555565"/>
                </a:solidFill>
                <a:latin typeface="Arial"/>
              </a:rPr>
              <a:t>Cypher 2026  ·  39</a:t>
            </a:r>
          </a:p>
        </p:txBody>
      </p:sp>
    </p:spTree>
    <p:extLst>
      <p:ext uri="{BB962C8B-B14F-4D97-AF65-F5344CB8AC3E}">
        <p14:creationId xmlns:p14="http://schemas.microsoft.com/office/powerpoint/2010/main" val="10983078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04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/>
          </a:p>
        </p:txBody>
      </p:sp>
      <p:sp>
        <p:nvSpPr>
          <p:cNvPr id="4" name="Text 1"/>
          <p:cNvSpPr/>
          <p:nvPr/>
        </p:nvSpPr>
        <p:spPr>
          <a:xfrm>
            <a:off x="868680" y="2286000"/>
            <a:ext cx="7040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Build.</a:t>
            </a:r>
            <a:endParaRPr lang="en-US" sz="3400"/>
          </a:p>
        </p:txBody>
      </p:sp>
      <p:sp>
        <p:nvSpPr>
          <p:cNvPr id="6" name="Text 3"/>
          <p:cNvSpPr/>
          <p:nvPr/>
        </p:nvSpPr>
        <p:spPr>
          <a:xfrm>
            <a:off x="914400" y="4937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gives you the managed engine — bring your harness and ship enterprise-grade agents.</a:t>
            </a:r>
            <a:endParaRPr lang="en-US" sz="1500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706328" y="2836846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</a:t>
            </a:r>
            <a:r>
              <a:rPr lang="en-US" sz="6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6400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0"/>
            <a:ext cx="11183112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Cypher 2026  ·  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4296</Words>
  <Application>Microsoft Macintosh PowerPoint</Application>
  <PresentationFormat>Widescreen</PresentationFormat>
  <Paragraphs>696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Consolas</vt:lpstr>
      <vt:lpstr>Georgia</vt:lpstr>
      <vt:lpstr>Segoe Sans Display Semibold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Cypher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Harness for Enterprise: Engineering the Runtime for Reliable AI Agents</dc:title>
  <dc:subject>Agent Harness for Enterprise: Engineering the Runtime for Reliable AI Agents</dc:subject>
  <dc:creator>Manoranjan Rajguru</dc:creator>
  <cp:lastModifiedBy>Manoranjan Rajguru</cp:lastModifiedBy>
  <cp:revision>48</cp:revision>
  <dcterms:created xsi:type="dcterms:W3CDTF">2026-06-04T10:00:53Z</dcterms:created>
  <dcterms:modified xsi:type="dcterms:W3CDTF">2026-07-31T06:03:59Z</dcterms:modified>
  <cp:keywords>Cypher 2026, Agent Harness, Microsoft Agent Framework</cp:keywords>
  <dc:description/>
  <cp:category>Cypher 2026 Workshop</cp:category>
</cp:coreProperties>
</file>