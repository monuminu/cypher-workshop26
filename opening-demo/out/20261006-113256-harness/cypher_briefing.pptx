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B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01168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ECEAF7"/>
                </a:solidFill>
              </a:rPr>
              <a:t>Priya's Cypher 2026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2918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9198BF"/>
                </a:solidFill>
              </a:rPr>
              <a:t>7–9 October 2026, KTPO Convention Centre, Bengaluru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11480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ECEAF7"/>
                </a:solidFill>
              </a:rPr>
              <a:t>Priya’s Cypher 2026 plan is optimized for production GenAI engineering: agent runtime reliability, safe production autonomy, governance, explainability for regulated contexts, token and model economics, and agentic systems at enterprise scale. It avoids her prior SDLC/vibe-coding, RAG, and voice-AI topics, respects all commitments and hall-transition buffers, includes lunch each day, includes two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B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ECEAF7"/>
                </a:solidFill>
              </a:rPr>
              <a:t>Day 1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1097280" cy="50000"/>
          </a:xfrm>
          <a:prstGeom prst="rect">
            <a:avLst/>
          </a:prstGeom>
          <a:solidFill>
            <a:srgbClr val="3FD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325880"/>
          <a:ext cx="1106424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822960"/>
                <a:gridCol w="5852160"/>
                <a:gridCol w="2926080"/>
              </a:tblGrid>
              <a:tr h="45720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9198BF"/>
                          </a:solidFill>
                        </a:rPr>
                        <a:t>Time</a:t>
                      </a:r>
                    </a:p>
                  </a:txBody>
                  <a:tcPr>
                    <a:solidFill>
                      <a:srgbClr val="1F254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9198BF"/>
                          </a:solidFill>
                        </a:rPr>
                        <a:t>Hall</a:t>
                      </a:r>
                    </a:p>
                  </a:txBody>
                  <a:tcPr>
                    <a:solidFill>
                      <a:srgbClr val="1F254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9198BF"/>
                          </a:solidFill>
                        </a:rPr>
                        <a:t>Session</a:t>
                      </a:r>
                    </a:p>
                  </a:txBody>
                  <a:tcPr>
                    <a:solidFill>
                      <a:srgbClr val="1F254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9198BF"/>
                          </a:solidFill>
                        </a:rPr>
                        <a:t>Speakers</a:t>
                      </a:r>
                    </a:p>
                  </a:txBody>
                  <a:tcPr>
                    <a:solidFill>
                      <a:srgbClr val="1F254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ECEAF7"/>
                          </a:solidFill>
                        </a:rPr>
                        <a:t>11:00–11:25</a:t>
                      </a:r>
                    </a:p>
                  </a:txBody>
                  <a:tcPr>
                    <a:solidFill>
                      <a:srgbClr val="161B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ECEAF7"/>
                          </a:solidFill>
                        </a:rPr>
                        <a:t>Hall 3</a:t>
                      </a:r>
                    </a:p>
                  </a:txBody>
                  <a:tcPr>
                    <a:solidFill>
                      <a:srgbClr val="161B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ECEAF7"/>
                          </a:solidFill>
                        </a:rPr>
                        <a:t>Your Agent Stack Is Broken at the Bottom</a:t>
                      </a:r>
                    </a:p>
                  </a:txBody>
                  <a:tcPr>
                    <a:solidFill>
                      <a:srgbClr val="161B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ECEAF7"/>
                          </a:solidFill>
                        </a:rPr>
                        <a:t>Rakesh Puttaswamy</a:t>
                      </a:r>
                    </a:p>
                  </a:txBody>
                  <a:tcPr>
                    <a:solidFill>
                      <a:srgbClr val="161B3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ECEAF7"/>
                          </a:solidFill>
                        </a:rPr>
                        <a:t>11:30–11:55</a:t>
                      </a:r>
                    </a:p>
                  </a:txBody>
                  <a:tcPr>
                    <a:solidFill>
                      <a:srgbClr val="1F254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ECEAF7"/>
                          </a:solidFill>
                        </a:rPr>
                        <a:t>Hall 3</a:t>
                      </a:r>
                    </a:p>
                  </a:txBody>
                  <a:tcPr>
                    <a:solidFill>
                      <a:srgbClr val="1F254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ECEAF7"/>
                          </a:solidFill>
                        </a:rPr>
                        <a:t>How to Govern AI even If It's Hard to Predict</a:t>
                      </a:r>
                    </a:p>
                  </a:txBody>
                  <a:tcPr>
                    <a:solidFill>
                      <a:srgbClr val="1F254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ECEAF7"/>
                          </a:solidFill>
                        </a:rPr>
                        <a:t>Kunal Das</a:t>
                      </a:r>
                    </a:p>
                  </a:txBody>
                  <a:tcPr>
                    <a:solidFill>
                      <a:srgbClr val="1F254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ECEAF7"/>
                          </a:solidFill>
                        </a:rPr>
                        <a:t>12:00–12:25</a:t>
                      </a:r>
                    </a:p>
                  </a:txBody>
                  <a:tcPr>
                    <a:solidFill>
                      <a:srgbClr val="161B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ECEAF7"/>
                          </a:solidFill>
                        </a:rPr>
                        <a:t>Hall 2</a:t>
                      </a:r>
                    </a:p>
                  </a:txBody>
                  <a:tcPr>
                    <a:solidFill>
                      <a:srgbClr val="161B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ECEAF7"/>
                          </a:solidFill>
                        </a:rPr>
                        <a:t>Running AI Agents Safely on Production Systems</a:t>
                      </a:r>
                    </a:p>
                  </a:txBody>
                  <a:tcPr>
                    <a:solidFill>
                      <a:srgbClr val="161B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ECEAF7"/>
                          </a:solidFill>
                        </a:rPr>
                        <a:t>Sombuddha Choudhury, Sairam Reddy Kanikireddy</a:t>
                      </a:r>
                    </a:p>
                  </a:txBody>
                  <a:tcPr>
                    <a:solidFill>
                      <a:srgbClr val="161B3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ECEAF7"/>
                          </a:solidFill>
                        </a:rPr>
                        <a:t>12:30–13:30</a:t>
                      </a:r>
                    </a:p>
                  </a:txBody>
                  <a:tcPr>
                    <a:solidFill>
                      <a:srgbClr val="1F254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ECEAF7"/>
                          </a:solidFill>
                        </a:rPr>
                        <a:t>Hall 3</a:t>
                      </a:r>
                    </a:p>
                  </a:txBody>
                  <a:tcPr>
                    <a:solidFill>
                      <a:srgbClr val="1F254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ECEAF7"/>
                          </a:solidFill>
                        </a:rPr>
                        <a:t>Lunch</a:t>
                      </a:r>
                    </a:p>
                  </a:txBody>
                  <a:tcPr>
                    <a:solidFill>
                      <a:srgbClr val="1F2547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1F254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ECEAF7"/>
                          </a:solidFill>
                        </a:rPr>
                        <a:t>16:00–16:20</a:t>
                      </a:r>
                    </a:p>
                  </a:txBody>
                  <a:tcPr>
                    <a:solidFill>
                      <a:srgbClr val="161B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ECEAF7"/>
                          </a:solidFill>
                        </a:rPr>
                        <a:t>Hall 2</a:t>
                      </a:r>
                    </a:p>
                  </a:txBody>
                  <a:tcPr>
                    <a:solidFill>
                      <a:srgbClr val="161B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ECEAF7"/>
                          </a:solidFill>
                        </a:rPr>
                        <a:t>Explainability is an infrastructure problem, not a model problem</a:t>
                      </a:r>
                    </a:p>
                  </a:txBody>
                  <a:tcPr>
                    <a:solidFill>
                      <a:srgbClr val="161B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ECEAF7"/>
                          </a:solidFill>
                        </a:rPr>
                        <a:t>Tushar Haldar</a:t>
                      </a:r>
                    </a:p>
                  </a:txBody>
                  <a:tcPr>
                    <a:solidFill>
                      <a:srgbClr val="161B3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ECEAF7"/>
                          </a:solidFill>
                        </a:rPr>
                        <a:t>16:45–17:05</a:t>
                      </a:r>
                    </a:p>
                  </a:txBody>
                  <a:tcPr>
                    <a:solidFill>
                      <a:srgbClr val="1F254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ECEAF7"/>
                          </a:solidFill>
                        </a:rPr>
                        <a:t>Hall 1</a:t>
                      </a:r>
                    </a:p>
                  </a:txBody>
                  <a:tcPr>
                    <a:solidFill>
                      <a:srgbClr val="1F254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ECEAF7"/>
                          </a:solidFill>
                        </a:rPr>
                        <a:t>Stop counting tokens. Start measuring outcomes.</a:t>
                      </a:r>
                    </a:p>
                  </a:txBody>
                  <a:tcPr>
                    <a:solidFill>
                      <a:srgbClr val="1F254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ECEAF7"/>
                          </a:solidFill>
                        </a:rPr>
                        <a:t>Ritesh Dhoot</a:t>
                      </a:r>
                    </a:p>
                  </a:txBody>
                  <a:tcPr>
                    <a:solidFill>
                      <a:srgbClr val="1F254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ECEAF7"/>
                          </a:solidFill>
                        </a:rPr>
                        <a:t>19:30–21:00</a:t>
                      </a:r>
                    </a:p>
                  </a:txBody>
                  <a:tcPr>
                    <a:solidFill>
                      <a:srgbClr val="161B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ECEAF7"/>
                          </a:solidFill>
                        </a:rPr>
                        <a:t>Hall 3</a:t>
                      </a:r>
                    </a:p>
                  </a:txBody>
                  <a:tcPr>
                    <a:solidFill>
                      <a:srgbClr val="161B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ECEAF7"/>
                          </a:solidFill>
                        </a:rPr>
                        <a:t>Agent Harness for Enterprise: Engineering the Runtime for Reliable AI Agents</a:t>
                      </a:r>
                    </a:p>
                  </a:txBody>
                  <a:tcPr>
                    <a:solidFill>
                      <a:srgbClr val="161B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ECEAF7"/>
                          </a:solidFill>
                        </a:rPr>
                        <a:t>Manoranjan Rajguru</a:t>
                      </a:r>
                    </a:p>
                  </a:txBody>
                  <a:tcPr>
                    <a:solidFill>
                      <a:srgbClr val="161B3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B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ECEAF7"/>
                </a:solidFill>
              </a:rPr>
              <a:t>Day 2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1097280" cy="50000"/>
          </a:xfrm>
          <a:prstGeom prst="rect">
            <a:avLst/>
          </a:prstGeom>
          <a:solidFill>
            <a:srgbClr val="3FD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325880"/>
          <a:ext cx="1106424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822960"/>
                <a:gridCol w="5852160"/>
                <a:gridCol w="2926080"/>
              </a:tblGrid>
              <a:tr h="45720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9198BF"/>
                          </a:solidFill>
                        </a:rPr>
                        <a:t>Time</a:t>
                      </a:r>
                    </a:p>
                  </a:txBody>
                  <a:tcPr>
                    <a:solidFill>
                      <a:srgbClr val="1F254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9198BF"/>
                          </a:solidFill>
                        </a:rPr>
                        <a:t>Hall</a:t>
                      </a:r>
                    </a:p>
                  </a:txBody>
                  <a:tcPr>
                    <a:solidFill>
                      <a:srgbClr val="1F254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9198BF"/>
                          </a:solidFill>
                        </a:rPr>
                        <a:t>Session</a:t>
                      </a:r>
                    </a:p>
                  </a:txBody>
                  <a:tcPr>
                    <a:solidFill>
                      <a:srgbClr val="1F254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9198BF"/>
                          </a:solidFill>
                        </a:rPr>
                        <a:t>Speakers</a:t>
                      </a:r>
                    </a:p>
                  </a:txBody>
                  <a:tcPr>
                    <a:solidFill>
                      <a:srgbClr val="1F254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ECEAF7"/>
                          </a:solidFill>
                        </a:rPr>
                        <a:t>10:00–10:30</a:t>
                      </a:r>
                    </a:p>
                  </a:txBody>
                  <a:tcPr>
                    <a:solidFill>
                      <a:srgbClr val="161B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ECEAF7"/>
                          </a:solidFill>
                        </a:rPr>
                        <a:t>Hall 1</a:t>
                      </a:r>
                    </a:p>
                  </a:txBody>
                  <a:tcPr>
                    <a:solidFill>
                      <a:srgbClr val="161B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ECEAF7"/>
                          </a:solidFill>
                        </a:rPr>
                        <a:t>The Agentic Platform: Powering Operations for Real Business Outcomes</a:t>
                      </a:r>
                    </a:p>
                  </a:txBody>
                  <a:tcPr>
                    <a:solidFill>
                      <a:srgbClr val="161B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ECEAF7"/>
                          </a:solidFill>
                        </a:rPr>
                        <a:t>Rakesh Shinde</a:t>
                      </a:r>
                    </a:p>
                  </a:txBody>
                  <a:tcPr>
                    <a:solidFill>
                      <a:srgbClr val="161B3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ECEAF7"/>
                          </a:solidFill>
                        </a:rPr>
                        <a:t>13:05–14:05</a:t>
                      </a:r>
                    </a:p>
                  </a:txBody>
                  <a:tcPr>
                    <a:solidFill>
                      <a:srgbClr val="1F254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ECEAF7"/>
                          </a:solidFill>
                        </a:rPr>
                        <a:t>Hall 2</a:t>
                      </a:r>
                    </a:p>
                  </a:txBody>
                  <a:tcPr>
                    <a:solidFill>
                      <a:srgbClr val="1F254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ECEAF7"/>
                          </a:solidFill>
                        </a:rPr>
                        <a:t>Lunch</a:t>
                      </a:r>
                    </a:p>
                  </a:txBody>
                  <a:tcPr>
                    <a:solidFill>
                      <a:srgbClr val="1F2547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1F254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ECEAF7"/>
                          </a:solidFill>
                        </a:rPr>
                        <a:t>14:30–14:55</a:t>
                      </a:r>
                    </a:p>
                  </a:txBody>
                  <a:tcPr>
                    <a:solidFill>
                      <a:srgbClr val="161B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ECEAF7"/>
                          </a:solidFill>
                        </a:rPr>
                        <a:t>Hall 2</a:t>
                      </a:r>
                    </a:p>
                  </a:txBody>
                  <a:tcPr>
                    <a:solidFill>
                      <a:srgbClr val="161B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ECEAF7"/>
                          </a:solidFill>
                        </a:rPr>
                        <a:t>Beyond Agents: Building Systems of Enterprise Intelligence</a:t>
                      </a:r>
                    </a:p>
                  </a:txBody>
                  <a:tcPr>
                    <a:solidFill>
                      <a:srgbClr val="161B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ECEAF7"/>
                          </a:solidFill>
                        </a:rPr>
                        <a:t>Yeshwant Nayak, TP Vincent</a:t>
                      </a:r>
                    </a:p>
                  </a:txBody>
                  <a:tcPr>
                    <a:solidFill>
                      <a:srgbClr val="161B3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ECEAF7"/>
                          </a:solidFill>
                        </a:rPr>
                        <a:t>15:25–16:05</a:t>
                      </a:r>
                    </a:p>
                  </a:txBody>
                  <a:tcPr>
                    <a:solidFill>
                      <a:srgbClr val="1F254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ECEAF7"/>
                          </a:solidFill>
                        </a:rPr>
                        <a:t>Hall 1</a:t>
                      </a:r>
                    </a:p>
                  </a:txBody>
                  <a:tcPr>
                    <a:solidFill>
                      <a:srgbClr val="1F254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ECEAF7"/>
                          </a:solidFill>
                        </a:rPr>
                        <a:t>This House Believes AI Will Give India Its Biggest Economic Opportunity in a Generation</a:t>
                      </a:r>
                    </a:p>
                  </a:txBody>
                  <a:tcPr>
                    <a:solidFill>
                      <a:srgbClr val="1F254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ECEAF7"/>
                          </a:solidFill>
                        </a:rPr>
                        <a:t>Rajesh Ramanathan, Hari Varrier, Abhishek Ojha, Vikas Mathur</a:t>
                      </a:r>
                    </a:p>
                  </a:txBody>
                  <a:tcPr>
                    <a:solidFill>
                      <a:srgbClr val="1F254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ECEAF7"/>
                          </a:solidFill>
                        </a:rPr>
                        <a:t>16:10–16:30</a:t>
                      </a:r>
                    </a:p>
                  </a:txBody>
                  <a:tcPr>
                    <a:solidFill>
                      <a:srgbClr val="161B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ECEAF7"/>
                          </a:solidFill>
                        </a:rPr>
                        <a:t>Hall 1</a:t>
                      </a:r>
                    </a:p>
                  </a:txBody>
                  <a:tcPr>
                    <a:solidFill>
                      <a:srgbClr val="161B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ECEAF7"/>
                          </a:solidFill>
                        </a:rPr>
                        <a:t>Operations + AI: Beyond Automation: Reimagining Supply Chains, Manufacturing and Operations with AI</a:t>
                      </a:r>
                    </a:p>
                  </a:txBody>
                  <a:tcPr>
                    <a:solidFill>
                      <a:srgbClr val="161B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ECEAF7"/>
                          </a:solidFill>
                        </a:rPr>
                        <a:t>Shashi Mohan Singh</a:t>
                      </a:r>
                    </a:p>
                  </a:txBody>
                  <a:tcPr>
                    <a:solidFill>
                      <a:srgbClr val="161B3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ECEAF7"/>
                          </a:solidFill>
                        </a:rPr>
                        <a:t>18:00–19:30</a:t>
                      </a:r>
                    </a:p>
                  </a:txBody>
                  <a:tcPr>
                    <a:solidFill>
                      <a:srgbClr val="1F254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ECEAF7"/>
                          </a:solidFill>
                        </a:rPr>
                        <a:t>Hall 3</a:t>
                      </a:r>
                    </a:p>
                  </a:txBody>
                  <a:tcPr>
                    <a:solidFill>
                      <a:srgbClr val="1F254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ECEAF7"/>
                          </a:solidFill>
                        </a:rPr>
                        <a:t>Agentic Data Cloud: From building the analytics data foundation with Knowledge Catalog, federating it with transactional data to generating advanced insights using Agentic Intelligence.</a:t>
                      </a:r>
                    </a:p>
                  </a:txBody>
                  <a:tcPr>
                    <a:solidFill>
                      <a:srgbClr val="1F254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ECEAF7"/>
                          </a:solidFill>
                        </a:rPr>
                        <a:t>Abirami Sukumaran</a:t>
                      </a:r>
                    </a:p>
                  </a:txBody>
                  <a:tcPr>
                    <a:solidFill>
                      <a:srgbClr val="1F254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B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ECEAF7"/>
                </a:solidFill>
              </a:rPr>
              <a:t>Day 3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1097280" cy="50000"/>
          </a:xfrm>
          <a:prstGeom prst="rect">
            <a:avLst/>
          </a:prstGeom>
          <a:solidFill>
            <a:srgbClr val="3FD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325880"/>
          <a:ext cx="1106424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822960"/>
                <a:gridCol w="5852160"/>
                <a:gridCol w="2926080"/>
              </a:tblGrid>
              <a:tr h="45720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9198BF"/>
                          </a:solidFill>
                        </a:rPr>
                        <a:t>Time</a:t>
                      </a:r>
                    </a:p>
                  </a:txBody>
                  <a:tcPr>
                    <a:solidFill>
                      <a:srgbClr val="1F254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9198BF"/>
                          </a:solidFill>
                        </a:rPr>
                        <a:t>Hall</a:t>
                      </a:r>
                    </a:p>
                  </a:txBody>
                  <a:tcPr>
                    <a:solidFill>
                      <a:srgbClr val="1F254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9198BF"/>
                          </a:solidFill>
                        </a:rPr>
                        <a:t>Session</a:t>
                      </a:r>
                    </a:p>
                  </a:txBody>
                  <a:tcPr>
                    <a:solidFill>
                      <a:srgbClr val="1F254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9198BF"/>
                          </a:solidFill>
                        </a:rPr>
                        <a:t>Speakers</a:t>
                      </a:r>
                    </a:p>
                  </a:txBody>
                  <a:tcPr>
                    <a:solidFill>
                      <a:srgbClr val="1F254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ECEAF7"/>
                          </a:solidFill>
                        </a:rPr>
                        <a:t>10:30–10:55</a:t>
                      </a:r>
                    </a:p>
                  </a:txBody>
                  <a:tcPr>
                    <a:solidFill>
                      <a:srgbClr val="161B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ECEAF7"/>
                          </a:solidFill>
                        </a:rPr>
                        <a:t>Hall 3</a:t>
                      </a:r>
                    </a:p>
                  </a:txBody>
                  <a:tcPr>
                    <a:solidFill>
                      <a:srgbClr val="161B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ECEAF7"/>
                          </a:solidFill>
                        </a:rPr>
                        <a:t>Token Tax Saver Schemes: 7 Design Choice Hacks</a:t>
                      </a:r>
                    </a:p>
                  </a:txBody>
                  <a:tcPr>
                    <a:solidFill>
                      <a:srgbClr val="161B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ECEAF7"/>
                          </a:solidFill>
                        </a:rPr>
                        <a:t>Moumita Sarker</a:t>
                      </a:r>
                    </a:p>
                  </a:txBody>
                  <a:tcPr>
                    <a:solidFill>
                      <a:srgbClr val="161B3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ECEAF7"/>
                          </a:solidFill>
                        </a:rPr>
                        <a:t>11:25–11:45</a:t>
                      </a:r>
                    </a:p>
                  </a:txBody>
                  <a:tcPr>
                    <a:solidFill>
                      <a:srgbClr val="1F254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ECEAF7"/>
                          </a:solidFill>
                        </a:rPr>
                        <a:t>Hall 1</a:t>
                      </a:r>
                    </a:p>
                  </a:txBody>
                  <a:tcPr>
                    <a:solidFill>
                      <a:srgbClr val="1F254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ECEAF7"/>
                          </a:solidFill>
                        </a:rPr>
                        <a:t>The Best Model Is Not the Biggest Model: Engineering the Economics of Enterprise AI</a:t>
                      </a:r>
                    </a:p>
                  </a:txBody>
                  <a:tcPr>
                    <a:solidFill>
                      <a:srgbClr val="1F254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ECEAF7"/>
                          </a:solidFill>
                        </a:rPr>
                        <a:t>Sindhu Bhaskaran, Prakash Selvakumar, Prateek Giria</a:t>
                      </a:r>
                    </a:p>
                  </a:txBody>
                  <a:tcPr>
                    <a:solidFill>
                      <a:srgbClr val="1F254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ECEAF7"/>
                          </a:solidFill>
                        </a:rPr>
                        <a:t>12:00–12:25</a:t>
                      </a:r>
                    </a:p>
                  </a:txBody>
                  <a:tcPr>
                    <a:solidFill>
                      <a:srgbClr val="161B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ECEAF7"/>
                          </a:solidFill>
                        </a:rPr>
                        <a:t>Hall 3</a:t>
                      </a:r>
                    </a:p>
                  </a:txBody>
                  <a:tcPr>
                    <a:solidFill>
                      <a:srgbClr val="161B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ECEAF7"/>
                          </a:solidFill>
                        </a:rPr>
                        <a:t>Crash. Resume. Repeat: Building Agents That Don't Die</a:t>
                      </a:r>
                    </a:p>
                  </a:txBody>
                  <a:tcPr>
                    <a:solidFill>
                      <a:srgbClr val="161B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ECEAF7"/>
                          </a:solidFill>
                        </a:rPr>
                        <a:t>Shubham Londhe</a:t>
                      </a:r>
                    </a:p>
                  </a:txBody>
                  <a:tcPr>
                    <a:solidFill>
                      <a:srgbClr val="161B3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ECEAF7"/>
                          </a:solidFill>
                        </a:rPr>
                        <a:t>13:05–13:45</a:t>
                      </a:r>
                    </a:p>
                  </a:txBody>
                  <a:tcPr>
                    <a:solidFill>
                      <a:srgbClr val="1F254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ECEAF7"/>
                          </a:solidFill>
                        </a:rPr>
                        <a:t>Hall 1</a:t>
                      </a:r>
                    </a:p>
                  </a:txBody>
                  <a:tcPr>
                    <a:solidFill>
                      <a:srgbClr val="1F254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ECEAF7"/>
                          </a:solidFill>
                        </a:rPr>
                        <a:t>The Agent Economy: Who owns the customer when the agent is the interface?</a:t>
                      </a:r>
                    </a:p>
                  </a:txBody>
                  <a:tcPr>
                    <a:solidFill>
                      <a:srgbClr val="1F254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ECEAF7"/>
                          </a:solidFill>
                        </a:rPr>
                        <a:t>Sateesh Gottumukkala, Ketan Lodaya, Manish Mittal, Faye D'Souza, Vikram Singh</a:t>
                      </a:r>
                    </a:p>
                  </a:txBody>
                  <a:tcPr>
                    <a:solidFill>
                      <a:srgbClr val="1F254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ECEAF7"/>
                          </a:solidFill>
                        </a:rPr>
                        <a:t>13:45–14:45</a:t>
                      </a:r>
                    </a:p>
                  </a:txBody>
                  <a:tcPr>
                    <a:solidFill>
                      <a:srgbClr val="161B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ECEAF7"/>
                          </a:solidFill>
                        </a:rPr>
                        <a:t>Hall 1</a:t>
                      </a:r>
                    </a:p>
                  </a:txBody>
                  <a:tcPr>
                    <a:solidFill>
                      <a:srgbClr val="161B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ECEAF7"/>
                          </a:solidFill>
                        </a:rPr>
                        <a:t>Lunch</a:t>
                      </a:r>
                    </a:p>
                  </a:txBody>
                  <a:tcPr>
                    <a:solidFill>
                      <a:srgbClr val="161B36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161B3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ECEAF7"/>
                          </a:solidFill>
                        </a:rPr>
                        <a:t>15:30–15:50</a:t>
                      </a:r>
                    </a:p>
                  </a:txBody>
                  <a:tcPr>
                    <a:solidFill>
                      <a:srgbClr val="1F254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ECEAF7"/>
                          </a:solidFill>
                        </a:rPr>
                        <a:t>Hall 1</a:t>
                      </a:r>
                    </a:p>
                  </a:txBody>
                  <a:tcPr>
                    <a:solidFill>
                      <a:srgbClr val="1F254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ECEAF7"/>
                          </a:solidFill>
                        </a:rPr>
                        <a:t>The Trust Deficit: Building Responsible AI in a Regulated, Risk-Heavy Business</a:t>
                      </a:r>
                    </a:p>
                  </a:txBody>
                  <a:tcPr>
                    <a:solidFill>
                      <a:srgbClr val="1F254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ECEAF7"/>
                          </a:solidFill>
                        </a:rPr>
                        <a:t>Ramesh Aithal</a:t>
                      </a:r>
                    </a:p>
                  </a:txBody>
                  <a:tcPr>
                    <a:solidFill>
                      <a:srgbClr val="1F254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ECEAF7"/>
                          </a:solidFill>
                        </a:rPr>
                        <a:t>16:05–16:25</a:t>
                      </a:r>
                    </a:p>
                  </a:txBody>
                  <a:tcPr>
                    <a:solidFill>
                      <a:srgbClr val="161B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ECEAF7"/>
                          </a:solidFill>
                        </a:rPr>
                        <a:t>Hall 2</a:t>
                      </a:r>
                    </a:p>
                  </a:txBody>
                  <a:tcPr>
                    <a:solidFill>
                      <a:srgbClr val="161B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ECEAF7"/>
                          </a:solidFill>
                        </a:rPr>
                        <a:t>The Scaling Loop: The Secret Relationship Between Small and Big Models</a:t>
                      </a:r>
                    </a:p>
                  </a:txBody>
                  <a:tcPr>
                    <a:solidFill>
                      <a:srgbClr val="161B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ECEAF7"/>
                          </a:solidFill>
                        </a:rPr>
                        <a:t>Ganesh Ramakrishnan</a:t>
                      </a:r>
                    </a:p>
                  </a:txBody>
                  <a:tcPr>
                    <a:solidFill>
                      <a:srgbClr val="161B3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B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ECEAF7"/>
                </a:solidFill>
              </a:rPr>
              <a:t>Speaker spotlight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1097280" cy="50000"/>
          </a:xfrm>
          <a:prstGeom prst="rect">
            <a:avLst/>
          </a:prstGeom>
          <a:solidFill>
            <a:srgbClr val="F2B1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1371600"/>
            <a:ext cx="3566160" cy="2468880"/>
          </a:xfrm>
          <a:prstGeom prst="rect">
            <a:avLst/>
          </a:prstGeom>
          <a:solidFill>
            <a:srgbClr val="1F2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46304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ECEAF7"/>
                </a:solidFill>
              </a:rPr>
              <a:t>Manoranjan Rajguru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874519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FD0C0"/>
                </a:solidFill>
              </a:rPr>
              <a:t>Microsoft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240280"/>
            <a:ext cx="3291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CEAF7"/>
                </a:solidFill>
              </a:rPr>
              <a:t>Manoranjan Rajguru is an AI Architect at Microsoft, specializing in Generative AI and Large Language Models.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06324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198BF"/>
                </a:solidFill>
              </a:rPr>
              <a:t>Priya should meet him to discuss enterprise runtime engineering for reliable AI agents.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7679" y="1371600"/>
            <a:ext cx="3566160" cy="2468880"/>
          </a:xfrm>
          <a:prstGeom prst="rect">
            <a:avLst/>
          </a:prstGeom>
          <a:solidFill>
            <a:srgbClr val="1F2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34840" y="146304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ECEAF7"/>
                </a:solidFill>
              </a:rPr>
              <a:t>Sairam Reddy Kanikireddy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34840" y="1874519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FD0C0"/>
                </a:solidFill>
              </a:rPr>
              <a:t>D. E. Shaw India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4840" y="2240280"/>
            <a:ext cx="3291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CEAF7"/>
                </a:solidFill>
              </a:rPr>
              <a:t>His work spans secure software development, application and SDLC security tooling, security reviews, and the design of security controls for AI-assisted development and agentic systems.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34840" y="306324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198BF"/>
                </a:solidFill>
              </a:rPr>
              <a:t>Priya should meet him to discuss production AI-agent security controls and emerging AI security risks.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46719" y="1371600"/>
            <a:ext cx="3566160" cy="2468880"/>
          </a:xfrm>
          <a:prstGeom prst="rect">
            <a:avLst/>
          </a:prstGeom>
          <a:solidFill>
            <a:srgbClr val="1F2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83879" y="146304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ECEAF7"/>
                </a:solidFill>
              </a:rPr>
              <a:t>Shubham Londhe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83879" y="1874519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FD0C0"/>
                </a:solidFill>
              </a:rPr>
              <a:t>Temporal Technologies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83879" y="2240280"/>
            <a:ext cx="3291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CEAF7"/>
                </a:solidFill>
              </a:rPr>
              <a:t>Shubham Londhe is a Senior Developer Advocate at Temporal and a Google Developer Expert, passionate about developing and deploying production-ready applications.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83879" y="306324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198BF"/>
                </a:solidFill>
              </a:rPr>
              <a:t>Priya should meet him to discuss building resilient agents that can crash, resume, and keep running in production.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4023360"/>
            <a:ext cx="3566160" cy="2468880"/>
          </a:xfrm>
          <a:prstGeom prst="rect">
            <a:avLst/>
          </a:prstGeom>
          <a:solidFill>
            <a:srgbClr val="1F2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411480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ECEAF7"/>
                </a:solidFill>
              </a:rPr>
              <a:t>Ritesh Dhoot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452628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FD0C0"/>
                </a:solidFill>
              </a:rPr>
              <a:t>Neysa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4892040"/>
            <a:ext cx="3291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CEAF7"/>
                </a:solidFill>
              </a:rPr>
              <a:t>A specialist in distributed systems, Generative AI, and big data, Ritesh excels at aligning product, platform, and people to accelerate growth.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571500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198BF"/>
                </a:solidFill>
              </a:rPr>
              <a:t>Priya should meet him to discuss measuring AI outcomes and sovereign AI infrastructure.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97679" y="4023360"/>
            <a:ext cx="3566160" cy="2468880"/>
          </a:xfrm>
          <a:prstGeom prst="rect">
            <a:avLst/>
          </a:prstGeom>
          <a:solidFill>
            <a:srgbClr val="1F2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434840" y="411480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ECEAF7"/>
                </a:solidFill>
              </a:rPr>
              <a:t>Ramesh Aithal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34840" y="452628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FD0C0"/>
                </a:solidFill>
              </a:rPr>
              <a:t>L&amp;T Finance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34840" y="4892040"/>
            <a:ext cx="3291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CEAF7"/>
                </a:solidFill>
              </a:rPr>
              <a:t>Ramesh Aithal is the Chief Digital Officer at L&amp;T Finance, where he leads the company's digital transformation, AI, and technology strategy.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34840" y="571500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198BF"/>
                </a:solidFill>
              </a:rPr>
              <a:t>Priya should meet him to discuss responsible AI in regulated, risk-heavy financial services.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046719" y="4023360"/>
            <a:ext cx="3566160" cy="2468880"/>
          </a:xfrm>
          <a:prstGeom prst="rect">
            <a:avLst/>
          </a:prstGeom>
          <a:solidFill>
            <a:srgbClr val="1F2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183879" y="411480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ECEAF7"/>
                </a:solidFill>
              </a:rPr>
              <a:t>Ganesh Ramakrishnan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83879" y="452628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FD0C0"/>
                </a:solidFill>
              </a:rPr>
              <a:t>BharatGen | IIT Bombay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83879" y="4892040"/>
            <a:ext cx="3291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CEAF7"/>
                </a:solidFill>
              </a:rPr>
              <a:t>Founding Director of BharatGen, India's first government-backed, open-source, multilingual foundation model initiative spanning text, speech, and document vision models across 22+ Indic languages.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83879" y="571500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198BF"/>
                </a:solidFill>
              </a:rPr>
              <a:t>Priya should meet him to discuss how small, carefully curated datasets can make high-quality large language models viable in low-resource settings.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B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ECEAF7"/>
                </a:solidFill>
              </a:rPr>
              <a:t>Questions to ask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1097280" cy="50000"/>
          </a:xfrm>
          <a:prstGeom prst="rect">
            <a:avLst/>
          </a:prstGeom>
          <a:solidFill>
            <a:srgbClr val="3FD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110642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CEAF7"/>
                </a:solidFill>
              </a:rPr>
              <a:t>Day 1, Your Agent Stack Is Broken at the Bottom: When agent workloads shift from human-speed queries to machine-speed concurrency, which data-layer SLOs do you recommend teams monitor first to catch reliability regressions before users do?</a:t>
            </a:r>
          </a:p>
          <a:p>
            <a:pPr algn="l"/>
            <a:r>
              <a:rPr sz="1300" b="0">
                <a:solidFill>
                  <a:srgbClr val="ECEAF7"/>
                </a:solidFill>
              </a:rPr>
              <a:t>Day 1, How to Govern AI even If It's Hard to Predict: In Kimchi’s five-role multi-model routing architecture, how do you test that routing policies continue to enforce governance goals when model capabilities or prices change underneath the system?</a:t>
            </a:r>
          </a:p>
          <a:p>
            <a:pPr algn="l"/>
            <a:r>
              <a:rPr sz="1300" b="0">
                <a:solidFill>
                  <a:srgbClr val="ECEAF7"/>
                </a:solidFill>
              </a:rPr>
              <a:t>Day 1, Running AI Agents Safely on Production System: What is the most useful boundary between autonomy and control that you have found for agents acting on live systems: permission scopes, sandboxing, human approval gates, or post-action rollback?</a:t>
            </a:r>
          </a:p>
          <a:p>
            <a:pPr algn="l"/>
            <a:r>
              <a:rPr sz="1300" b="0">
                <a:solidFill>
                  <a:srgbClr val="ECEAF7"/>
                </a:solidFill>
              </a:rPr>
              <a:t>Day 1, Explainability is an infrastructure problem, : For regulated credit or fraud decisions, what minimum evidence should be captured at inference time so that a single decision remains explainable six weeks later after features and models have changed?</a:t>
            </a:r>
          </a:p>
          <a:p>
            <a:pPr algn="l"/>
            <a:r>
              <a:rPr sz="1300" b="0">
                <a:solidFill>
                  <a:srgbClr val="ECEAF7"/>
                </a:solidFill>
              </a:rPr>
              <a:t>Day 1, Stop counting tokens. Start measuring outcome: In the insurance-renewal example, which hidden cost component most often changes the architecture choice once you measure cost per successful outcome rather than cost per token?</a:t>
            </a:r>
          </a:p>
          <a:p>
            <a:pPr algn="l"/>
            <a:r>
              <a:rPr sz="1300" b="0">
                <a:solidFill>
                  <a:srgbClr val="ECEAF7"/>
                </a:solidFill>
              </a:rPr>
              <a:t>Day 1, Agent Harness for Enterprise: Engineering the: When designing an Agent Harness, which verification loop gives the best reliability lift per unit of latency: tool-result validation, plan review, execution checkpoints, or post-task audit?</a:t>
            </a:r>
          </a:p>
          <a:p>
            <a:pPr algn="l"/>
            <a:r>
              <a:rPr sz="1300" b="0">
                <a:solidFill>
                  <a:srgbClr val="ECEAF7"/>
                </a:solidFill>
              </a:rPr>
              <a:t>Day 2, The Agentic Platform: Powering Operations for: What platform capability should teams standardize first when moving from isolated agent pilots to responsible, reusable agentic operations: context management, governance, integrations, or observability?</a:t>
            </a:r>
          </a:p>
          <a:p>
            <a:pPr algn="l"/>
            <a:r>
              <a:rPr sz="1300" b="0">
                <a:solidFill>
                  <a:srgbClr val="ECEAF7"/>
                </a:solidFill>
              </a:rPr>
              <a:t>Day 2, Beyond Agents: Building Systems of Enterprise: How do you quantify the Coordination Tax of fragmented agents in a way engineering and business teams can both act on?</a:t>
            </a:r>
          </a:p>
          <a:p>
            <a:pPr algn="l"/>
            <a:r>
              <a:rPr sz="1300" b="0">
                <a:solidFill>
                  <a:srgbClr val="ECEAF7"/>
                </a:solidFill>
              </a:rPr>
              <a:t>Day 2, This House Believes AI Will Give India Its Bi: For India’s AI opportunity to become broad-based rather than skill-biased, what technical or policy lever would most directly reduce the gap between AI producers and AI users?</a:t>
            </a:r>
          </a:p>
          <a:p>
            <a:pPr algn="l"/>
            <a:r>
              <a:rPr sz="1300" b="0">
                <a:solidFill>
                  <a:srgbClr val="ECEAF7"/>
                </a:solidFill>
              </a:rPr>
              <a:t>Day 2, Operations + AI: Beyond Automation: Reimagini: When moving from isolated AI use cases to an integrated operating model, which bottleneck usually blocks scale first: data foundations, process redesign, team adoption, or outcome measurement?</a:t>
            </a:r>
          </a:p>
          <a:p>
            <a:pPr algn="l"/>
            <a:r>
              <a:rPr sz="1300" b="0">
                <a:solidFill>
                  <a:srgbClr val="ECEAF7"/>
                </a:solidFill>
              </a:rPr>
              <a:t>Day 2, Agentic Data Cloud: From building the analyti: In a federated data-agent setup, how do you prevent the agent from producing confident insights when catalog metadata is incomplete, stale, or inconsistent across transactional systems?</a:t>
            </a:r>
          </a:p>
          <a:p>
            <a:pPr algn="l"/>
            <a:r>
              <a:rPr sz="1300" b="0">
                <a:solidFill>
                  <a:srgbClr val="ECEAF7"/>
                </a:solidFill>
              </a:rPr>
              <a:t>Day 3, Token Tax Saver Schemes: 7 Design Choice Hack: Of the seven design hacks, which one typically reduces token spend without increasing operational complexity or harming task-success rate?</a:t>
            </a:r>
          </a:p>
          <a:p>
            <a:pPr algn="l"/>
            <a:r>
              <a:rPr sz="1300" b="0">
                <a:solidFill>
                  <a:srgbClr val="ECEAF7"/>
                </a:solidFill>
              </a:rPr>
              <a:t>Day 3, The Best Model Is Not the Biggest Model: Engi: What evaluation threshold should trigger routing from a small model to a larger model: confidence, task class, expected business risk, or measured failure cost?</a:t>
            </a:r>
          </a:p>
          <a:p>
            <a:pPr algn="l"/>
            <a:r>
              <a:rPr sz="1300" b="0">
                <a:solidFill>
                  <a:srgbClr val="ECEAF7"/>
                </a:solidFill>
              </a:rPr>
              <a:t>Day 3, Crash. Resume. Repeat: Building Agents That D: How do you design idempotency and checkpoint granularity so a resumed agent neither repeats side effects nor skips necessary recovery work?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